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bf41904dfb4753" /><Relationship Type="http://schemas.openxmlformats.org/officeDocument/2006/relationships/extended-properties" Target="/docProps/app.xml" Id="Rb5845fa35cc5496c" /><Relationship Type="http://schemas.openxmlformats.org/officeDocument/2006/relationships/officeDocument" Target="/ppt/presentation.xml" Id="R77753f0806bf40cc" /></Relationships>
</file>

<file path=ppt/presentation.xml><?xml version="1.0" encoding="utf-8"?>
<p:presentation xmlns:p="http://schemas.openxmlformats.org/presentationml/2006/main">
  <p:sldMasterIdLst>
    <p:sldMasterId xmlns:r="http://schemas.openxmlformats.org/officeDocument/2006/relationships" id="2147483648" r:id="R38ecd86ba6e04146"/>
  </p:sldMasterIdLst>
  <p:notesMasterIdLst>
    <p:notesMasterId xmlns:r="http://schemas.openxmlformats.org/officeDocument/2006/relationships" r:id="Rb6acd23166a047b3"/>
  </p:notesMasterIdLst>
  <p:sldIdLst>
    <p:sldId xmlns:r="http://schemas.openxmlformats.org/officeDocument/2006/relationships" id="256" r:id="Rf49a0e9a58684a63"/>
    <p:sldId xmlns:r="http://schemas.openxmlformats.org/officeDocument/2006/relationships" id="257" r:id="Rfccd1d089801478b"/>
    <p:sldId xmlns:r="http://schemas.openxmlformats.org/officeDocument/2006/relationships" id="258" r:id="Rf0233344401344e3"/>
    <p:sldId xmlns:r="http://schemas.openxmlformats.org/officeDocument/2006/relationships" id="259" r:id="R712388d762b6478d"/>
    <p:sldId xmlns:r="http://schemas.openxmlformats.org/officeDocument/2006/relationships" id="260" r:id="Rb778f1c6fc334ed8"/>
    <p:sldId xmlns:r="http://schemas.openxmlformats.org/officeDocument/2006/relationships" id="261" r:id="R75f24ab4c83b4d35"/>
    <p:sldId xmlns:r="http://schemas.openxmlformats.org/officeDocument/2006/relationships" id="262" r:id="R07a17fe953954860"/>
    <p:sldId xmlns:r="http://schemas.openxmlformats.org/officeDocument/2006/relationships" id="263" r:id="R128d3ca34ebf4a5e"/>
    <p:sldId xmlns:r="http://schemas.openxmlformats.org/officeDocument/2006/relationships" id="264" r:id="R96a2cbd5951247e9"/>
    <p:sldId xmlns:r="http://schemas.openxmlformats.org/officeDocument/2006/relationships" id="265" r:id="Rf1f8bbb4a8bd4541"/>
    <p:sldId xmlns:r="http://schemas.openxmlformats.org/officeDocument/2006/relationships" id="266" r:id="Reb9ff0e9fb2c4bcc"/>
    <p:sldId xmlns:r="http://schemas.openxmlformats.org/officeDocument/2006/relationships" id="267" r:id="Ra2c311c5c5d7474f"/>
    <p:sldId xmlns:r="http://schemas.openxmlformats.org/officeDocument/2006/relationships" id="268" r:id="R63d36e02200840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0076c5d6d64853" /><Relationship Type="http://schemas.openxmlformats.org/officeDocument/2006/relationships/slideMaster" Target="/ppt/slideMasters/slideMaster1.xml" Id="R38ecd86ba6e04146" /><Relationship Type="http://schemas.openxmlformats.org/officeDocument/2006/relationships/notesMaster" Target="/ppt/notesMasters/notesMaster1.xml" Id="Rb6acd23166a047b3" /><Relationship Type="http://schemas.openxmlformats.org/officeDocument/2006/relationships/presProps" Target="/ppt/presProps.xml" Id="Refb30c7686654fd7" /><Relationship Type="http://schemas.openxmlformats.org/officeDocument/2006/relationships/tableStyles" Target="/ppt/tableStyles.xml" Id="Rffeb1f17c6854b63" /><Relationship Type="http://schemas.openxmlformats.org/officeDocument/2006/relationships/slide" Target="/ppt/slides/slide1.xml" Id="Rf49a0e9a58684a63" /><Relationship Type="http://schemas.openxmlformats.org/officeDocument/2006/relationships/slide" Target="/ppt/slides/slide2.xml" Id="Rfccd1d089801478b" /><Relationship Type="http://schemas.openxmlformats.org/officeDocument/2006/relationships/slide" Target="/ppt/slides/slide3.xml" Id="Rf0233344401344e3" /><Relationship Type="http://schemas.openxmlformats.org/officeDocument/2006/relationships/slide" Target="/ppt/slides/slide4.xml" Id="R712388d762b6478d" /><Relationship Type="http://schemas.openxmlformats.org/officeDocument/2006/relationships/slide" Target="/ppt/slides/slide5.xml" Id="Rb778f1c6fc334ed8" /><Relationship Type="http://schemas.openxmlformats.org/officeDocument/2006/relationships/slide" Target="/ppt/slides/slide6.xml" Id="R75f24ab4c83b4d35" /><Relationship Type="http://schemas.openxmlformats.org/officeDocument/2006/relationships/slide" Target="/ppt/slides/slide7.xml" Id="R07a17fe953954860" /><Relationship Type="http://schemas.openxmlformats.org/officeDocument/2006/relationships/slide" Target="/ppt/slides/slide8.xml" Id="R128d3ca34ebf4a5e" /><Relationship Type="http://schemas.openxmlformats.org/officeDocument/2006/relationships/slide" Target="/ppt/slides/slide9.xml" Id="R96a2cbd5951247e9" /><Relationship Type="http://schemas.openxmlformats.org/officeDocument/2006/relationships/slide" Target="/ppt/slides/slide10.xml" Id="Rf1f8bbb4a8bd4541" /><Relationship Type="http://schemas.openxmlformats.org/officeDocument/2006/relationships/slide" Target="/ppt/slides/slide11.xml" Id="Reb9ff0e9fb2c4bcc" /><Relationship Type="http://schemas.openxmlformats.org/officeDocument/2006/relationships/slide" Target="/ppt/slides/slide12.xml" Id="Ra2c311c5c5d7474f" /><Relationship Type="http://schemas.openxmlformats.org/officeDocument/2006/relationships/slide" Target="/ppt/slides/slide13.xml" Id="R63d36e02200840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ef6ac952bc40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33a52874f5470f" /><Relationship Type="http://schemas.openxmlformats.org/officeDocument/2006/relationships/notesMaster" Target="/ppt/notesMasters/notesMaster1.xml" Id="R9425a48de78243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05004bd4d5413d" /><Relationship Type="http://schemas.openxmlformats.org/officeDocument/2006/relationships/notesMaster" Target="/ppt/notesMasters/notesMaster1.xml" Id="R3556438c8b144d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19008a2b694c97" /><Relationship Type="http://schemas.openxmlformats.org/officeDocument/2006/relationships/notesMaster" Target="/ppt/notesMasters/notesMaster1.xml" Id="R9d5cd75d856e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8fd1c6292943ed" /><Relationship Type="http://schemas.openxmlformats.org/officeDocument/2006/relationships/notesMaster" Target="/ppt/notesMasters/notesMaster1.xml" Id="R1c918c47af2149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bce94ee3cb427e" /><Relationship Type="http://schemas.openxmlformats.org/officeDocument/2006/relationships/notesMaster" Target="/ppt/notesMasters/notesMaster1.xml" Id="R5d5b7d7199e340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21458c2aea4f01" /><Relationship Type="http://schemas.openxmlformats.org/officeDocument/2006/relationships/notesMaster" Target="/ppt/notesMasters/notesMaster1.xml" Id="R62ea5c8b1e714d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b0797ca85b494f" /><Relationship Type="http://schemas.openxmlformats.org/officeDocument/2006/relationships/notesMaster" Target="/ppt/notesMasters/notesMaster1.xml" Id="R7b9519a150a04d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c4742a78aa4298" /><Relationship Type="http://schemas.openxmlformats.org/officeDocument/2006/relationships/notesMaster" Target="/ppt/notesMasters/notesMaster1.xml" Id="Rd485617ebaaa47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490e347322496a" /><Relationship Type="http://schemas.openxmlformats.org/officeDocument/2006/relationships/notesMaster" Target="/ppt/notesMasters/notesMaster1.xml" Id="R102cbba91f7148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eed16d236a4e11" /><Relationship Type="http://schemas.openxmlformats.org/officeDocument/2006/relationships/notesMaster" Target="/ppt/notesMasters/notesMaster1.xml" Id="R2de833e3003345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e70c9f1c024c5e" /><Relationship Type="http://schemas.openxmlformats.org/officeDocument/2006/relationships/notesMaster" Target="/ppt/notesMasters/notesMaster1.xml" Id="R3b1b12f8159443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9f1f80b6a043b7" /><Relationship Type="http://schemas.openxmlformats.org/officeDocument/2006/relationships/notesMaster" Target="/ppt/notesMasters/notesMaster1.xml" Id="R461e83fa51a64a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9ac270fef74a7c" /><Relationship Type="http://schemas.openxmlformats.org/officeDocument/2006/relationships/notesMaster" Target="/ppt/notesMasters/notesMaster1.xml" Id="R65fd0c02d3834b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project overview, September 30, 2026. Synthetic data only. The pre-visit worklist is planned, not implemented. Five-hour goal means conceptual overview, not complete production competence.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https://healthit.gov/data/data-briefs/interoperable-exchange-patient-health-information-among-us-hospitals-2023/ ONC Data Brief 71, published May 2024, 2023 AHA IT Supplement. These are percentages of hospitals reporting availability and clinician use, not percentages of individual clinicians or patients. The 29 percentage-point difference does not isolate a cause. Duplicate records are a distinct barrier supported by https://pmc.ncbi.nlm.nih.gov/articles/PMC11710899/. Exact current frequency of broken FHIR references or document URLs is not quantified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https://www.healthaffairs.org/doi/10.1377/hlthaff.2024.00398 Holmgren, Adler-Milstein and Apathy, November 2024. Abstract uses appointment no-shows as an exogenous shock to documentation time. Estimate is a 7.1 percent reduction in proportion of patients whose outside records were viewed per additional hour, not 7.1 percentage points. We verified the abstract, not full access-restricted methods. Source: https://pmc.ncbi.nlm.nih.gov/articles/PMC11710899/ Sahin et al., online September 2024 / January 2025 issue. Authors report 2.9% of 1,185,752 analyzed patients had duplicates, single-institution Allscripts cohort. Duplicate consequences and our workflow benefits are not measured by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https://www.healthaffairs.org/doi/10.1377/hlthaff.2024.00398 and https://pmc.ncbi.nlm.nih.gov/articles/PMC11710899/. Categories are project role interpretations, not severity scores derived from papers. For primary care clinicians, study estimates 7.1% lower share of patients with outside records viewed per extra documentation hour. For patients, 2.9% is duplication prevalence in a single-system analyzed cohort, not injury prevalence. Among patients with duplicates, 87.8% had a duplicate record without ICD-10-CM diagnosis; intersystem origin is an author hypothesis, not proven cause. Staff workload and engineering effort are not quantified by these sources. We do not reuse vendor death, malpractice or broad duplication-rate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hypothesis, not an intervention evaluated in the papers. Pre-visit preparation may reduce in-visit search burden but can shift work to staff, which must be measured. Non-clinical staff can investigate availability and route cases; only appropriate clinical roles make clinical decisions. Ranked by permitted action and appointment proximity under a labeled demo policy, not medical urgency. Records are ready against configured data requirements, not clinical clearance. No automatic merge, test ordering or Cortex Search in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FHIR_Engineer_Skills_vs_Deck.xlsx, Skills vs Deck sheet rows 5–13 inspected. The workbook flags Postgres compatibility, full-record API gap, SMART/viewer/HIPAA implied, AWS/docs/images partial. It does not recommend SQL Server itself. User supplied senior clarification: decide platform first and use a server-neutral requirement. SQL Server is the accepted project choice after that clarification. Firely latest documentation lists SQL Server/MongoDB/SQLite. https://docs.fire.ly/projects/Firely-Server/en/latest/setting_up_firely_server/appsettings_reference.html . Local backend remains SQLite. AWS instance exists but connectivity and migration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Dates are learning-session groupings: yesterday/earlier foundation September 30 and today October 1 local time. Some checks occurred across the midnight UTC boundary. No claim that every action in the left column occurred on one exact calendar date. Meera source/ID work is included, but its server upload is not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JSON is a data representation; FHIR defines healthcare semantics. ADT conversion covers selected Patient fields. ORU converter only handles DEMO/SYN002 Ravi, one final numeric OBX, LN and UCUM, fixed training source identity for original plus UUID5 for other orders. API calls remain separate from conversion. Appointment is constructed directly in FHIR, not SIU conversion. Demo rule seven-day window before Oct6 appointment, one-day negative test. No clinical guideline, readiness or efficacy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Milestone 4: screenshot shows firely-learning-db, SQL Server Express, db.t3.micro, us-east-2b, status Creating, Internet access gateway Disabled and IAM Authentication Disabled. No VPC, publicly-accessible or firewall verification; no cloud connectivity, Firely migration or restore. SQLite remains current backing database. User-reported bulk export license entitlement True, plugin/export operation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Existing milestone numbers retained, no claim of complete clinical records. Phase5 SIU scheduling conversion, multiple OBX and broader patient mapping, documents and images remain. Phase6 _include Observation:subject reported working with two labs and one patient, not full longitudinal record API or unpaged chart guarantee. SMART OAuth2/OpenID Connect unimplemented. Phase7 only CLI/read-only synthetic availability check, no persistence/ranking/role assignment/history. Phase8 no Firely AWS deployment, export, S3 or Snowflake ingestion. No measured performance or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https://www.hhs.gov/hipaa/for-professionals/security/laws-regulations/index.html . HIPAA requires organizational administrative, physical and technical safeguards. Synthetic learning tests do not establish compliance. The lookup result means no matching record in the server/window, not no test ever or recommendation to order it. No PHI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Bounded next outcome: ten synthetic patients, one defined record view and a pre-visit worklist validated against hand-labeled fixtures, with no clinical efficacy claim. Synthetic fixture definitions make detection scores circular and cannot establish clinical generalization. Keep later 1000-patient load separate. Review source-expected records versus server counts and rejects. Documents: synthetic PDF and PNG links, not full DICOM/PACS. Safe IDs prevent overwriting unrelated results; same-name patients need separate labeled fixture. HIPAA learning includes positive and negative role access plus audit and recovery, without 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user-provided terminal outputs and explicit confirmations in this conversation through October 1, 2026, America/New_York. Pasted outputs inspected: Ravi Patient GET, Observation demo-glucose-002 GET with version a2b30a10-632b-4363-b5c8-ec66e96aecee and 95 mg/dL; saved converter JSON; unknown-patient rejection True and no file True; script update and backup; second lab conversion ID lab-760b9ffe-19ca-5dbb-b2ef-8bb12d2cf2d4, 102 mg/dL and PUT201. User confirmations only: read both results, patient search, _include patient and two results, appointment upload/read, seven-day found and one-day no-match. This distinction is preserved in status labels and notes. AWS stopping reference https://docs.aws.amazon.com/AmazonRDS/latest/UserGuide/USER_StopInstance.html : Actions Stop temporarily, confirm status stopped. Stopped instances retain data/config; instance-hour charges stop but storage/backup/public IPv4 can continue; automatic restart after7days. Overnight stop not user-verified. SQLServer MultiAZ has restrictions but Express instance is not assumed MultiAZ. If stop unavailable ask state rather than delete. User data current on localSQLite; no cloudmigration. Tomorrow October2local after sessionOct1.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3b60b610f049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5d9b436d3e4799" /><Relationship Type="http://schemas.openxmlformats.org/officeDocument/2006/relationships/slideLayout" Target="/ppt/slideLayouts/slideLayout1.xml" Id="R419789f0658a45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9789f0658a45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520cd2c2ce4642" /><Relationship Type="http://schemas.openxmlformats.org/officeDocument/2006/relationships/notesSlide" Target="/ppt/notesSlides/notesSlide1.xml" Id="Rc21464b5120f41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7e52e75be6421e" /><Relationship Type="http://schemas.openxmlformats.org/officeDocument/2006/relationships/chart" Target="/ppt/slides/charts/chart1.xml" Id="R3628b055c6ae477c" /><Relationship Type="http://schemas.openxmlformats.org/officeDocument/2006/relationships/notesSlide" Target="/ppt/notesSlides/notesSlide2.xml" Id="R576f1511753a46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cc2ca67bed41fa" /><Relationship Type="http://schemas.openxmlformats.org/officeDocument/2006/relationships/notesSlide" Target="/ppt/notesSlides/notesSlide3.xml" Id="R3a5b974fa70140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82c4d316c34053" /><Relationship Type="http://schemas.openxmlformats.org/officeDocument/2006/relationships/notesSlide" Target="/ppt/notesSlides/notesSlide4.xml" Id="Rcb601a53f2b743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58f7e0715f4867" /><Relationship Type="http://schemas.openxmlformats.org/officeDocument/2006/relationships/notesSlide" Target="/ppt/notesSlides/notesSlide5.xml" Id="Re05f30b2761b4b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7fc6f46dde4c30" /><Relationship Type="http://schemas.openxmlformats.org/officeDocument/2006/relationships/notesSlide" Target="/ppt/notesSlides/notesSlide6.xml" Id="Ra3851010a75041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69567740da4633" /><Relationship Type="http://schemas.openxmlformats.org/officeDocument/2006/relationships/notesSlide" Target="/ppt/notesSlides/notesSlide7.xml" Id="R4beb65424ca046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9a01daa3bf44e1" /><Relationship Type="http://schemas.openxmlformats.org/officeDocument/2006/relationships/notesSlide" Target="/ppt/notesSlides/notesSlide8.xml" Id="R185422dcbfeb41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105f2017d4b9d" /><Relationship Type="http://schemas.openxmlformats.org/officeDocument/2006/relationships/notesSlide" Target="/ppt/notesSlides/notesSlide9.xml" Id="Rb5347e0d3f4949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ca101d852644e0" /><Relationship Type="http://schemas.openxmlformats.org/officeDocument/2006/relationships/notesSlide" Target="/ppt/notesSlides/notesSlide10.xml" Id="R081cedd31f1248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3edd40a22d42fd" /><Relationship Type="http://schemas.openxmlformats.org/officeDocument/2006/relationships/notesSlide" Target="/ppt/notesSlides/notesSlide11.xml" Id="R994344df772740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0effc8c0fa496b" /><Relationship Type="http://schemas.openxmlformats.org/officeDocument/2006/relationships/notesSlide" Target="/ppt/notesSlides/notesSlide12.xml" Id="Ra817e4a7156642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326642d82c341e8" /><Relationship Type="http://schemas.openxmlformats.org/officeDocument/2006/relationships/notesSlide" Target="/ppt/notesSlides/notesSlide13.xml" Id="R937673648be440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Hospitals reporting (%)</c:v>
          </c:tx>
          <c:spPr>
            <a:solidFill xmlns:a="http://schemas.openxmlformats.org/drawingml/2006/main">
              <a:srgbClr val="1456A0"/>
            </a:solidFill>
          </c:spPr>
          <c:cat>
            <c:strRef>
              <c:f>'Chart Data'!$A$2:$A$3</c:f>
              <c:strCache>
                <c:ptCount val="2"/>
                <c:pt idx="0">
                  <c:v>Information available</c:v>
                </c:pt>
                <c:pt idx="1">
                  <c:v>Clinicians often use it</c:v>
                </c:pt>
              </c:strCache>
            </c:strRef>
          </c:cat>
          <c:val>
            <c:numRef>
              <c:f>'Chart Data'!$B$2:$B$3</c:f>
              <c:numCache>
                <c:formatCode>General</c:formatCode>
                <c:ptCount val="2"/>
                <c:pt idx="0">
                  <c:v>71</c:v>
                </c:pt>
                <c:pt idx="1">
                  <c:v>42</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56A0"/>
                </a:solidFill>
                <a:latin typeface="Bitstream Charter"/>
                <a:ea typeface="Bitstream Charter"/>
                <a:cs typeface="Bitstream Char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56A0"/>
                </a:solidFill>
                <a:latin typeface="Bitstream Charter"/>
                <a:ea typeface="Bitstream Charter"/>
                <a:cs typeface="Bitstream Charter"/>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4B8FE7-1277-43BD-A575-A86F250A71C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Clinical Data Reliability</a:t>
            </a:r>
          </a:p>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and Visit Readiness</a:t>
            </a:r>
          </a:p>
        </p:txBody>
      </p:sp>
      <p:sp>
        <p:nvSpPr>
          <p:cNvPr id="2" name="">
            <a:extLst xmlns:a="http://schemas.openxmlformats.org/drawingml/2006/main">
              <a:ext uri="{FF2B5EF4-FFF2-40B4-BE49-F238E27FC236}">
                <a16:creationId xmlns:a16="http://schemas.microsoft.com/office/drawing/2014/main" id="{2A7FA3BB-F313-4CA3-898B-C45DD9FB5DB5}"/>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01</a:t>
            </a:r>
          </a:p>
        </p:txBody>
      </p:sp>
      <p:sp>
        <p:nvSpPr>
          <p:cNvPr id="3" name="">
            <a:extLst xmlns:a="http://schemas.openxmlformats.org/drawingml/2006/main">
              <a:ext uri="{FF2B5EF4-FFF2-40B4-BE49-F238E27FC236}">
                <a16:creationId xmlns:a16="http://schemas.microsoft.com/office/drawing/2014/main" id="{284C71CD-A657-4AD7-A5AD-08E3D4604B23}"/>
              </a:ext>
            </a:extLst>
          </p:cNvPr>
          <p:cNvSpPr>
            <a:spLocks xmlns:a="http://schemas.openxmlformats.org/drawingml/2006/main" noGrp="1"/>
          </p:cNvSpPr>
          <p:nvPr/>
        </p:nvSpPr>
        <p:spPr>
          <a:xfrm xmlns:a="http://schemas.openxmlformats.org/drawingml/2006/main">
            <a:off x="609600" y="2381250"/>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1456A0"/>
                </a:solidFill>
                <a:latin typeface="Bitstream Charter"/>
                <a:ea typeface="Bitstream Charter"/>
                <a:cs typeface="Bitstream Charter"/>
              </a:defRPr>
            </a:pPr>
            <a:r>
              <a:rPr sz="2700" b="0">
                <a:solidFill>
                  <a:srgbClr val="1456A0"/>
                </a:solidFill>
                <a:latin typeface="Bitstream Charter"/>
                <a:ea typeface="Bitstream Charter"/>
                <a:cs typeface="Bitstream Charter"/>
              </a:rPr>
              <a:t>A learning project that prepares an actionable information worklist before a patient visit.</a:t>
            </a:r>
          </a:p>
        </p:txBody>
      </p:sp>
      <p:sp>
        <p:nvSpPr>
          <p:cNvPr id="4" name="">
            <a:extLst xmlns:a="http://schemas.openxmlformats.org/drawingml/2006/main">
              <a:ext uri="{FF2B5EF4-FFF2-40B4-BE49-F238E27FC236}">
                <a16:creationId xmlns:a16="http://schemas.microsoft.com/office/drawing/2014/main" id="{219C4B62-C713-4F8B-B054-FA7EC2F95359}"/>
              </a:ext>
            </a:extLst>
          </p:cNvPr>
          <p:cNvSpPr>
            <a:spLocks xmlns:a="http://schemas.openxmlformats.org/drawingml/2006/main" noGrp="1"/>
          </p:cNvSpPr>
          <p:nvPr/>
        </p:nvSpPr>
        <p:spPr>
          <a:xfrm xmlns:a="http://schemas.openxmlformats.org/drawingml/2006/main">
            <a:off x="609600" y="43053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Local progress: patient translation, two lab results and a first visit information check</a:t>
            </a:r>
          </a:p>
        </p:txBody>
      </p:sp>
      <p:sp>
        <p:nvSpPr>
          <p:cNvPr id="5" name="">
            <a:extLst xmlns:a="http://schemas.openxmlformats.org/drawingml/2006/main">
              <a:ext uri="{FF2B5EF4-FFF2-40B4-BE49-F238E27FC236}">
                <a16:creationId xmlns:a16="http://schemas.microsoft.com/office/drawing/2014/main" id="{024BFAF4-4D88-4D4C-9B32-C6BCF6135E72}"/>
              </a:ext>
            </a:extLst>
          </p:cNvPr>
          <p:cNvSpPr>
            <a:spLocks xmlns:a="http://schemas.openxmlformats.org/drawingml/2006/main" noGrp="1"/>
          </p:cNvSpPr>
          <p:nvPr/>
        </p:nvSpPr>
        <p:spPr>
          <a:xfrm xmlns:a="http://schemas.openxmlformats.org/drawingml/2006/main">
            <a:off x="609600" y="5715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56A0"/>
                </a:solidFill>
                <a:latin typeface="Bitstream Charter"/>
                <a:ea typeface="Bitstream Charter"/>
                <a:cs typeface="Bitstream Charter"/>
              </a:defRPr>
            </a:pPr>
            <a:r>
              <a:rPr sz="1725" b="0">
                <a:solidFill>
                  <a:srgbClr val="1456A0"/>
                </a:solidFill>
                <a:latin typeface="Bitstream Charter"/>
                <a:ea typeface="Bitstream Charter"/>
                <a:cs typeface="Bitstream Charter"/>
              </a:rPr>
              <a:t>Fictional data only. Five hours for an overview. Implementation continues in stages.</a:t>
            </a:r>
          </a:p>
        </p:txBody>
      </p:sp>
    </p:spTree>
    <p:extLst>
      <p:ext uri="{BB962C8B-B14F-4D97-AF65-F5344CB8AC3E}">
        <p14:creationId xmlns:p14="http://schemas.microsoft.com/office/powerpoint/2010/main" val="14346513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F0F7FE-DA58-412C-93A1-D7BF602E0C2F}"/>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The problem: information ready for a visit</a:t>
            </a:r>
          </a:p>
        </p:txBody>
      </p:sp>
      <p:sp>
        <p:nvSpPr>
          <p:cNvPr id="2" name="">
            <a:extLst xmlns:a="http://schemas.openxmlformats.org/drawingml/2006/main">
              <a:ext uri="{FF2B5EF4-FFF2-40B4-BE49-F238E27FC236}">
                <a16:creationId xmlns:a16="http://schemas.microsoft.com/office/drawing/2014/main" id="{A1DA061F-49AA-4CAB-AA03-A816EF3ADB30}"/>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E45E2566-CFC2-41C4-8338-ECCE7E18481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Who faces it: clinicians reviewing outside records and staff preparing patient information.</a:t>
            </a:r>
          </a:p>
        </p:txBody>
      </p:sp>
      <p:graphicFrame>
        <p:nvGraphicFramePr>
          <p:cNvPr id="15" name="Chart"/>
          <p:cNvGraphicFramePr/>
          <p:nvPr/>
        </p:nvGraphicFramePr>
        <p:xfrm>
          <a:off xmlns:a="http://schemas.openxmlformats.org/drawingml/2006/main" x="609600" y="2476500"/>
          <a:ext xmlns:a="http://schemas.openxmlformats.org/drawingml/2006/main" cx="5238750" cy="2667000"/>
        </p:xfrm>
        <a:graphic xmlns:a="http://schemas.openxmlformats.org/drawingml/2006/main">
          <a:graphicData uri="http://schemas.openxmlformats.org/drawingml/2006/chart">
            <c:chart xmlns:r="http://schemas.openxmlformats.org/officeDocument/2006/relationships" xmlns:c="http://schemas.openxmlformats.org/drawingml/2006/chart" r:id="R3628b055c6ae477c"/>
          </a:graphicData>
        </a:graphic>
      </p:graphicFrame>
      <p:sp>
        <p:nvSpPr>
          <p:cNvPr id="5" name="">
            <a:extLst xmlns:a="http://schemas.openxmlformats.org/drawingml/2006/main">
              <a:ext uri="{FF2B5EF4-FFF2-40B4-BE49-F238E27FC236}">
                <a16:creationId xmlns:a16="http://schemas.microsoft.com/office/drawing/2014/main" id="{6D89BA44-5D4C-4B18-8393-EB5F67E7E917}"/>
              </a:ext>
            </a:extLst>
          </p:cNvPr>
          <p:cNvSpPr>
            <a:spLocks xmlns:a="http://schemas.openxmlformats.org/drawingml/2006/main" noGrp="1"/>
          </p:cNvSpPr>
          <p:nvPr/>
        </p:nvSpPr>
        <p:spPr>
          <a:xfrm xmlns:a="http://schemas.openxmlformats.org/drawingml/2006/main">
            <a:off x="609600" y="21431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US hospital reports, 2023 (%)</a:t>
            </a:r>
          </a:p>
        </p:txBody>
      </p:sp>
      <p:sp>
        <p:nvSpPr>
          <p:cNvPr id="6" name="">
            <a:extLst xmlns:a="http://schemas.openxmlformats.org/drawingml/2006/main">
              <a:ext uri="{FF2B5EF4-FFF2-40B4-BE49-F238E27FC236}">
                <a16:creationId xmlns:a16="http://schemas.microsoft.com/office/drawing/2014/main" id="{34AB31E1-8103-4B2D-B2C3-ED06E0C0C3AC}"/>
              </a:ext>
            </a:extLst>
          </p:cNvPr>
          <p:cNvSpPr>
            <a:spLocks xmlns:a="http://schemas.openxmlformats.org/drawingml/2006/main" noGrp="1"/>
          </p:cNvSpPr>
          <p:nvPr/>
        </p:nvSpPr>
        <p:spPr>
          <a:xfrm xmlns:a="http://schemas.openxmlformats.org/drawingml/2006/main">
            <a:off x="6667500" y="23336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56A0"/>
                </a:solidFill>
                <a:latin typeface="Bitstream Charter"/>
                <a:ea typeface="Bitstream Charter"/>
                <a:cs typeface="Bitstream Charter"/>
              </a:defRPr>
            </a:pPr>
            <a:r>
              <a:rPr sz="2250" b="1">
                <a:solidFill>
                  <a:srgbClr val="1456A0"/>
                </a:solidFill>
                <a:latin typeface="Bitstream Charter"/>
                <a:ea typeface="Bitstream Charter"/>
                <a:cs typeface="Bitstream Charter"/>
              </a:rPr>
              <a:t>Exact issue</a:t>
            </a:r>
          </a:p>
        </p:txBody>
      </p:sp>
      <p:sp>
        <p:nvSpPr>
          <p:cNvPr id="7" name="">
            <a:extLst xmlns:a="http://schemas.openxmlformats.org/drawingml/2006/main">
              <a:ext uri="{FF2B5EF4-FFF2-40B4-BE49-F238E27FC236}">
                <a16:creationId xmlns:a16="http://schemas.microsoft.com/office/drawing/2014/main" id="{67048DF0-DC88-48EC-B838-687A9F0190F2}"/>
              </a:ext>
            </a:extLst>
          </p:cNvPr>
          <p:cNvSpPr>
            <a:spLocks xmlns:a="http://schemas.openxmlformats.org/drawingml/2006/main" noGrp="1"/>
          </p:cNvSpPr>
          <p:nvPr/>
        </p:nvSpPr>
        <p:spPr>
          <a:xfrm xmlns:a="http://schemas.openxmlformats.org/drawingml/2006/main">
            <a:off x="6667500" y="2905125"/>
            <a:ext cx="4619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56A0"/>
                </a:solidFill>
                <a:latin typeface="Bitstream Charter"/>
                <a:ea typeface="Bitstream Charter"/>
                <a:cs typeface="Bitstream Charter"/>
              </a:defRPr>
            </a:pPr>
            <a:r>
              <a:rPr sz="2250" b="0">
                <a:solidFill>
                  <a:srgbClr val="1456A0"/>
                </a:solidFill>
                <a:latin typeface="Bitstream Charter"/>
                <a:ea typeface="Bitstream Charter"/>
                <a:cs typeface="Bitstream Charter"/>
              </a:rPr>
              <a:t>Expected outside information may be unavailable, hard to review in time, or split across patient records.</a:t>
            </a:r>
          </a:p>
        </p:txBody>
      </p:sp>
      <p:sp>
        <p:nvSpPr>
          <p:cNvPr id="8" name="">
            <a:extLst xmlns:a="http://schemas.openxmlformats.org/drawingml/2006/main">
              <a:ext uri="{FF2B5EF4-FFF2-40B4-BE49-F238E27FC236}">
                <a16:creationId xmlns:a16="http://schemas.microsoft.com/office/drawing/2014/main" id="{9FBC6E9B-3561-454F-BC09-A7944E698B95}"/>
              </a:ext>
            </a:extLst>
          </p:cNvPr>
          <p:cNvSpPr>
            <a:spLocks xmlns:a="http://schemas.openxmlformats.org/drawingml/2006/main" noGrp="1"/>
          </p:cNvSpPr>
          <p:nvPr/>
        </p:nvSpPr>
        <p:spPr>
          <a:xfrm xmlns:a="http://schemas.openxmlformats.org/drawingml/2006/main">
            <a:off x="609600" y="5638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56A0"/>
                </a:solidFill>
                <a:latin typeface="Bitstream Charter"/>
                <a:ea typeface="Bitstream Charter"/>
                <a:cs typeface="Bitstream Charter"/>
              </a:defRPr>
            </a:pPr>
            <a:r>
              <a:rPr sz="1650" b="0">
                <a:solidFill>
                  <a:srgbClr val="1456A0"/>
                </a:solidFill>
                <a:latin typeface="Bitstream Charter"/>
                <a:ea typeface="Bitstream Charter"/>
                <a:cs typeface="Bitstream Charter"/>
              </a:rPr>
              <a:t>The 71% and 42% figures describe hospital survey responses, not individual clinician counts.</a:t>
            </a:r>
          </a:p>
        </p:txBody>
      </p:sp>
      <p:sp>
        <p:nvSpPr>
          <p:cNvPr id="9" name="">
            <a:extLst xmlns:a="http://schemas.openxmlformats.org/drawingml/2006/main">
              <a:ext uri="{FF2B5EF4-FFF2-40B4-BE49-F238E27FC236}">
                <a16:creationId xmlns:a16="http://schemas.microsoft.com/office/drawing/2014/main" id="{D385B8AF-A1BD-42D2-B791-8A5D799B41B8}"/>
              </a:ext>
            </a:extLst>
          </p:cNvPr>
          <p:cNvSpPr>
            <a:spLocks xmlns:a="http://schemas.openxmlformats.org/drawingml/2006/main" noGrp="1"/>
          </p:cNvSpPr>
          <p:nvPr/>
        </p:nvSpPr>
        <p:spPr>
          <a:xfrm xmlns:a="http://schemas.openxmlformats.org/drawingml/2006/main">
            <a:off x="609600" y="61341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Source: ONC, 2024 report of 2023 survey data</a:t>
            </a:r>
          </a:p>
        </p:txBody>
      </p:sp>
    </p:spTree>
    <p:extLst>
      <p:ext uri="{BB962C8B-B14F-4D97-AF65-F5344CB8AC3E}">
        <p14:creationId xmlns:p14="http://schemas.microsoft.com/office/powerpoint/2010/main" val="17355545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p:cNvCxnSpPr>
            <a:stCxn xmlns:a="http://schemas.openxmlformats.org/drawingml/2006/main" id="9" idx="3"/>
            <a:endCxn xmlns:a="http://schemas.openxmlformats.org/drawingml/2006/main" id="11" idx="1"/>
          </p:cNvCxnSpPr>
          <p:nvPr/>
        </p:nvCxnSpPr>
        <p:spPr>
          <a:xfrm xmlns:a="http://schemas.openxmlformats.org/drawingml/2006/main">
            <a:off x="3562350" y="4857750"/>
            <a:ext cx="723900" cy="0"/>
          </a:xfrm>
          <a:prstGeom xmlns:a="http://schemas.openxmlformats.org/drawingml/2006/main" prst="straightConnector1">
            <a:avLst/>
          </a:prstGeom>
          <a:ln xmlns:a="http://schemas.openxmlformats.org/drawingml/2006/main" w="19050">
            <a:solidFill>
              <a:srgbClr val="1456A0"/>
            </a:solidFill>
            <a:tailEnd type="triangle" w="med" len="med"/>
          </a:ln>
        </p:spPr>
      </p:cxnSp>
      <p:cxnSp>
        <p:nvCxnSpPr>
          <p:cNvPr id="22" name=""/>
          <p:cNvCxnSpPr>
            <a:stCxn xmlns:a="http://schemas.openxmlformats.org/drawingml/2006/main" id="3" idx="3"/>
            <a:endCxn xmlns:a="http://schemas.openxmlformats.org/drawingml/2006/main" id="5" idx="1"/>
          </p:cNvCxnSpPr>
          <p:nvPr/>
        </p:nvCxnSpPr>
        <p:spPr>
          <a:xfrm xmlns:a="http://schemas.openxmlformats.org/drawingml/2006/main">
            <a:off x="3562350" y="2238375"/>
            <a:ext cx="723900" cy="0"/>
          </a:xfrm>
          <a:prstGeom xmlns:a="http://schemas.openxmlformats.org/drawingml/2006/main" prst="straightConnector1">
            <a:avLst/>
          </a:prstGeom>
          <a:ln xmlns:a="http://schemas.openxmlformats.org/drawingml/2006/main" w="19050">
            <a:solidFill>
              <a:srgbClr val="1456A0"/>
            </a:solidFill>
            <a:tailEnd type="triangle" w="med" len="med"/>
          </a:ln>
        </p:spPr>
      </p:cxnSp>
      <p:sp>
        <p:nvSpPr>
          <p:cNvPr id="18" name="">
            <a:extLst xmlns:a="http://schemas.openxmlformats.org/drawingml/2006/main">
              <a:ext uri="{FF2B5EF4-FFF2-40B4-BE49-F238E27FC236}">
                <a16:creationId xmlns:a16="http://schemas.microsoft.com/office/drawing/2014/main" id="{AC4B4C96-5506-4FC7-B511-0FAB81BDC2B6}"/>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Consequences: less review and fragmented records</a:t>
            </a:r>
          </a:p>
        </p:txBody>
      </p:sp>
      <p:sp>
        <p:nvSpPr>
          <p:cNvPr id="2" name="">
            <a:extLst xmlns:a="http://schemas.openxmlformats.org/drawingml/2006/main">
              <a:ext uri="{FF2B5EF4-FFF2-40B4-BE49-F238E27FC236}">
                <a16:creationId xmlns:a16="http://schemas.microsoft.com/office/drawing/2014/main" id="{B25CDC4B-CCCB-4CD7-86EF-81B6EAFE9482}"/>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89D91BEE-194B-468B-B241-2D4D254C18E2}"/>
              </a:ext>
            </a:extLst>
          </p:cNvPr>
          <p:cNvSpPr>
            <a:spLocks xmlns:a="http://schemas.openxmlformats.org/drawingml/2006/main" noGrp="1"/>
          </p:cNvSpPr>
          <p:nvPr/>
        </p:nvSpPr>
        <p:spPr>
          <a:xfrm xmlns:a="http://schemas.openxmlformats.org/drawingml/2006/main">
            <a:off x="609600" y="1714500"/>
            <a:ext cx="2952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4" name="">
            <a:extLst xmlns:a="http://schemas.openxmlformats.org/drawingml/2006/main">
              <a:ext uri="{FF2B5EF4-FFF2-40B4-BE49-F238E27FC236}">
                <a16:creationId xmlns:a16="http://schemas.microsoft.com/office/drawing/2014/main" id="{39F97631-9853-4EE3-A5D1-0A19AE779F11}"/>
              </a:ext>
            </a:extLst>
          </p:cNvPr>
          <p:cNvSpPr>
            <a:spLocks xmlns:a="http://schemas.openxmlformats.org/drawingml/2006/main" noGrp="1"/>
          </p:cNvSpPr>
          <p:nvPr/>
        </p:nvSpPr>
        <p:spPr>
          <a:xfrm xmlns:a="http://schemas.openxmlformats.org/drawingml/2006/main">
            <a:off x="762000" y="1857375"/>
            <a:ext cx="2647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Documentation</a:t>
            </a:r>
          </a:p>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time increases</a:t>
            </a:r>
          </a:p>
        </p:txBody>
      </p:sp>
      <p:sp>
        <p:nvSpPr>
          <p:cNvPr id="5" name="">
            <a:extLst xmlns:a="http://schemas.openxmlformats.org/drawingml/2006/main">
              <a:ext uri="{FF2B5EF4-FFF2-40B4-BE49-F238E27FC236}">
                <a16:creationId xmlns:a16="http://schemas.microsoft.com/office/drawing/2014/main" id="{9F3DCE5A-A111-4594-A6B2-81471A3CF1BE}"/>
              </a:ext>
            </a:extLst>
          </p:cNvPr>
          <p:cNvSpPr>
            <a:spLocks xmlns:a="http://schemas.openxmlformats.org/drawingml/2006/main" noGrp="1"/>
          </p:cNvSpPr>
          <p:nvPr/>
        </p:nvSpPr>
        <p:spPr>
          <a:xfrm xmlns:a="http://schemas.openxmlformats.org/drawingml/2006/main">
            <a:off x="4286250" y="1714500"/>
            <a:ext cx="3714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6" name="">
            <a:extLst xmlns:a="http://schemas.openxmlformats.org/drawingml/2006/main">
              <a:ext uri="{FF2B5EF4-FFF2-40B4-BE49-F238E27FC236}">
                <a16:creationId xmlns:a16="http://schemas.microsoft.com/office/drawing/2014/main" id="{79FEA4EF-4874-4EB5-8103-4A0BF40CF273}"/>
              </a:ext>
            </a:extLst>
          </p:cNvPr>
          <p:cNvSpPr>
            <a:spLocks xmlns:a="http://schemas.openxmlformats.org/drawingml/2006/main" noGrp="1"/>
          </p:cNvSpPr>
          <p:nvPr/>
        </p:nvSpPr>
        <p:spPr>
          <a:xfrm xmlns:a="http://schemas.openxmlformats.org/drawingml/2006/main">
            <a:off x="4438650" y="1857375"/>
            <a:ext cx="3409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Less outside-record</a:t>
            </a:r>
          </a:p>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viewing</a:t>
            </a:r>
          </a:p>
        </p:txBody>
      </p:sp>
      <p:sp>
        <p:nvSpPr>
          <p:cNvPr id="8" name="">
            <a:extLst xmlns:a="http://schemas.openxmlformats.org/drawingml/2006/main">
              <a:ext uri="{FF2B5EF4-FFF2-40B4-BE49-F238E27FC236}">
                <a16:creationId xmlns:a16="http://schemas.microsoft.com/office/drawing/2014/main" id="{E917BDD7-7E58-4CB4-9232-59E591527A30}"/>
              </a:ext>
            </a:extLst>
          </p:cNvPr>
          <p:cNvSpPr>
            <a:spLocks xmlns:a="http://schemas.openxmlformats.org/drawingml/2006/main" noGrp="1"/>
          </p:cNvSpPr>
          <p:nvPr/>
        </p:nvSpPr>
        <p:spPr>
          <a:xfrm xmlns:a="http://schemas.openxmlformats.org/drawingml/2006/main">
            <a:off x="609600" y="3095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56A0"/>
                </a:solidFill>
                <a:latin typeface="Bitstream Charter"/>
                <a:ea typeface="Bitstream Charter"/>
                <a:cs typeface="Bitstream Charter"/>
              </a:defRPr>
            </a:pPr>
            <a:r>
              <a:rPr sz="2175" b="1">
                <a:solidFill>
                  <a:srgbClr val="1456A0"/>
                </a:solidFill>
                <a:latin typeface="Bitstream Charter"/>
                <a:ea typeface="Bitstream Charter"/>
                <a:cs typeface="Bitstream Charter"/>
              </a:rPr>
              <a:t>Measured finding: 7.1% reduction in the share of patients with outside records viewed per extra documentation hour.</a:t>
            </a:r>
          </a:p>
        </p:txBody>
      </p:sp>
      <p:sp>
        <p:nvSpPr>
          <p:cNvPr id="9" name="">
            <a:extLst xmlns:a="http://schemas.openxmlformats.org/drawingml/2006/main">
              <a:ext uri="{FF2B5EF4-FFF2-40B4-BE49-F238E27FC236}">
                <a16:creationId xmlns:a16="http://schemas.microsoft.com/office/drawing/2014/main" id="{52EA79EE-0EF5-476C-A195-4C6903EB11A0}"/>
              </a:ext>
            </a:extLst>
          </p:cNvPr>
          <p:cNvSpPr>
            <a:spLocks xmlns:a="http://schemas.openxmlformats.org/drawingml/2006/main" noGrp="1"/>
          </p:cNvSpPr>
          <p:nvPr/>
        </p:nvSpPr>
        <p:spPr>
          <a:xfrm xmlns:a="http://schemas.openxmlformats.org/drawingml/2006/main">
            <a:off x="609600" y="4333875"/>
            <a:ext cx="2952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10" name="">
            <a:extLst xmlns:a="http://schemas.openxmlformats.org/drawingml/2006/main">
              <a:ext uri="{FF2B5EF4-FFF2-40B4-BE49-F238E27FC236}">
                <a16:creationId xmlns:a16="http://schemas.microsoft.com/office/drawing/2014/main" id="{6AEAFED0-BC94-4702-AE93-072F9B83D0D2}"/>
              </a:ext>
            </a:extLst>
          </p:cNvPr>
          <p:cNvSpPr>
            <a:spLocks xmlns:a="http://schemas.openxmlformats.org/drawingml/2006/main" noGrp="1"/>
          </p:cNvSpPr>
          <p:nvPr/>
        </p:nvSpPr>
        <p:spPr>
          <a:xfrm xmlns:a="http://schemas.openxmlformats.org/drawingml/2006/main">
            <a:off x="762000" y="4476750"/>
            <a:ext cx="2647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Duplicate patient</a:t>
            </a:r>
          </a:p>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records</a:t>
            </a:r>
          </a:p>
        </p:txBody>
      </p:sp>
      <p:sp>
        <p:nvSpPr>
          <p:cNvPr id="11" name="">
            <a:extLst xmlns:a="http://schemas.openxmlformats.org/drawingml/2006/main">
              <a:ext uri="{FF2B5EF4-FFF2-40B4-BE49-F238E27FC236}">
                <a16:creationId xmlns:a16="http://schemas.microsoft.com/office/drawing/2014/main" id="{F29BC70E-703F-4177-9F08-4351F1A4DC94}"/>
              </a:ext>
            </a:extLst>
          </p:cNvPr>
          <p:cNvSpPr>
            <a:spLocks xmlns:a="http://schemas.openxmlformats.org/drawingml/2006/main" noGrp="1"/>
          </p:cNvSpPr>
          <p:nvPr/>
        </p:nvSpPr>
        <p:spPr>
          <a:xfrm xmlns:a="http://schemas.openxmlformats.org/drawingml/2006/main">
            <a:off x="4286250" y="4333875"/>
            <a:ext cx="371475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12" name="">
            <a:extLst xmlns:a="http://schemas.openxmlformats.org/drawingml/2006/main">
              <a:ext uri="{FF2B5EF4-FFF2-40B4-BE49-F238E27FC236}">
                <a16:creationId xmlns:a16="http://schemas.microsoft.com/office/drawing/2014/main" id="{BA878A26-D27C-44C1-8F98-4FCEA2864968}"/>
              </a:ext>
            </a:extLst>
          </p:cNvPr>
          <p:cNvSpPr>
            <a:spLocks xmlns:a="http://schemas.openxmlformats.org/drawingml/2006/main" noGrp="1"/>
          </p:cNvSpPr>
          <p:nvPr/>
        </p:nvSpPr>
        <p:spPr>
          <a:xfrm xmlns:a="http://schemas.openxmlformats.org/drawingml/2006/main">
            <a:off x="4438650" y="4476750"/>
            <a:ext cx="3409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Information spread</a:t>
            </a:r>
          </a:p>
          <a:p xmlns:a="http://schemas.openxmlformats.org/drawingml/2006/main">
            <a:pPr>
              <a:buNone/>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across separate records</a:t>
            </a:r>
          </a:p>
        </p:txBody>
      </p:sp>
      <p:sp>
        <p:nvSpPr>
          <p:cNvPr id="14" name="">
            <a:extLst xmlns:a="http://schemas.openxmlformats.org/drawingml/2006/main">
              <a:ext uri="{FF2B5EF4-FFF2-40B4-BE49-F238E27FC236}">
                <a16:creationId xmlns:a16="http://schemas.microsoft.com/office/drawing/2014/main" id="{A3A6E80A-EA68-4F51-89F7-F319720C15E2}"/>
              </a:ext>
            </a:extLst>
          </p:cNvPr>
          <p:cNvSpPr>
            <a:spLocks xmlns:a="http://schemas.openxmlformats.org/drawingml/2006/main" noGrp="1"/>
          </p:cNvSpPr>
          <p:nvPr/>
        </p:nvSpPr>
        <p:spPr>
          <a:xfrm xmlns:a="http://schemas.openxmlformats.org/drawingml/2006/main">
            <a:off x="8477250" y="42862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Possible consequences:</a:t>
            </a:r>
          </a:p>
          <a:p xmlns:a="http://schemas.openxmlformats.org/drawingml/2006/main">
            <a:pPr>
              <a:buNone/>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extra searching, incomplete review and delayed follow-up.</a:t>
            </a:r>
          </a:p>
        </p:txBody>
      </p:sp>
      <p:sp>
        <p:nvSpPr>
          <p:cNvPr id="15" name="">
            <a:extLst xmlns:a="http://schemas.openxmlformats.org/drawingml/2006/main">
              <a:ext uri="{FF2B5EF4-FFF2-40B4-BE49-F238E27FC236}">
                <a16:creationId xmlns:a16="http://schemas.microsoft.com/office/drawing/2014/main" id="{2B0A11C1-F7E5-4864-B69B-525EC1140C87}"/>
              </a:ext>
            </a:extLst>
          </p:cNvPr>
          <p:cNvSpPr>
            <a:spLocks xmlns:a="http://schemas.openxmlformats.org/drawingml/2006/main" noGrp="1"/>
          </p:cNvSpPr>
          <p:nvPr/>
        </p:nvSpPr>
        <p:spPr>
          <a:xfrm xmlns:a="http://schemas.openxmlformats.org/drawingml/2006/main">
            <a:off x="609600" y="59531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456A0"/>
                </a:solidFill>
                <a:latin typeface="Bitstream Charter"/>
                <a:ea typeface="Bitstream Charter"/>
                <a:cs typeface="Bitstream Charter"/>
              </a:defRPr>
            </a:pPr>
            <a:r>
              <a:rPr sz="1425" b="0">
                <a:solidFill>
                  <a:srgbClr val="1456A0"/>
                </a:solidFill>
                <a:latin typeface="Bitstream Charter"/>
                <a:ea typeface="Bitstream Charter"/>
                <a:cs typeface="Bitstream Charter"/>
              </a:rPr>
              <a:t>Sources: Health Affairs, Nov 2024; Applied Clinical Informatics, 2025. Our demo has measured no clinical outcomes.</a:t>
            </a:r>
          </a:p>
        </p:txBody>
      </p:sp>
    </p:spTree>
    <p:extLst>
      <p:ext uri="{BB962C8B-B14F-4D97-AF65-F5344CB8AC3E}">
        <p14:creationId xmlns:p14="http://schemas.microsoft.com/office/powerpoint/2010/main" val="17071992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1BDFFA-A597-45D0-B0E0-402EF623B9A1}"/>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Stakeholders: what we can quantify</a:t>
            </a:r>
          </a:p>
        </p:txBody>
      </p:sp>
      <p:sp>
        <p:nvSpPr>
          <p:cNvPr id="2" name="">
            <a:extLst xmlns:a="http://schemas.openxmlformats.org/drawingml/2006/main">
              <a:ext uri="{FF2B5EF4-FFF2-40B4-BE49-F238E27FC236}">
                <a16:creationId xmlns:a16="http://schemas.microsoft.com/office/drawing/2014/main" id="{7FB619E7-1CDF-4334-91DF-8641DBBDB951}"/>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04</a:t>
            </a:r>
          </a:p>
        </p:txBody>
      </p:sp>
      <p:graphicFrame>
        <p:nvGraphicFramePr>
          <p:cNvPr id="9" name=""/>
          <p:cNvGraphicFramePr/>
          <p:nvPr/>
        </p:nvGraphicFramePr>
        <p:xfrm>
          <a:off xmlns:a="http://schemas.openxmlformats.org/drawingml/2006/main" x="609600" y="1619250"/>
          <a:ext xmlns:a="http://schemas.openxmlformats.org/drawingml/2006/main" cx="10972800" cy="3714750"/>
        </p:xfrm>
        <a:graphic xmlns:a="http://schemas.openxmlformats.org/drawingml/2006/main">
          <a:graphicData uri="http://schemas.openxmlformats.org/drawingml/2006/table">
            <a:tbl>
              <a:tblPr/>
              <a:tblGrid>
                <a:gridCol w="2571750"/>
                <a:gridCol w="4000500"/>
                <a:gridCol w="4400550"/>
              </a:tblGrid>
              <a:tr h="742950">
                <a:tc>
                  <a:txBody>
                    <a:bodyPr/>
                    <a:lstStyle/>
                    <a:p>
                      <a:r>
                        <a:rPr sz="1875" b="1">
                          <a:solidFill>
                            <a:srgbClr val="1456A0"/>
                          </a:solidFill>
                          <a:latin typeface="Bitstream Charter"/>
                          <a:ea typeface="Bitstream Charter"/>
                          <a:cs typeface="Bitstream Charter"/>
                        </a:rPr>
                        <a:t>Stakeholder</a:t>
                      </a:r>
                    </a:p>
                  </a:txBody>
                  <a:tcPr marL="91440" marR="91440" marT="45720" marB="45720">
                    <a:solidFill>
                      <a:srgbClr val="EAF2FC"/>
                    </a:solidFill>
                  </a:tcPr>
                </a:tc>
                <a:tc>
                  <a:txBody>
                    <a:bodyPr/>
                    <a:lstStyle/>
                    <a:p>
                      <a:r>
                        <a:rPr sz="1875" b="1">
                          <a:solidFill>
                            <a:srgbClr val="1456A0"/>
                          </a:solidFill>
                          <a:latin typeface="Bitstream Charter"/>
                          <a:ea typeface="Bitstream Charter"/>
                          <a:cs typeface="Bitstream Charter"/>
                        </a:rPr>
                        <a:t>How the issue affects them</a:t>
                      </a:r>
                    </a:p>
                  </a:txBody>
                  <a:tcPr marL="91440" marR="91440" marT="45720" marB="45720">
                    <a:solidFill>
                      <a:srgbClr val="EAF2FC"/>
                    </a:solidFill>
                  </a:tcPr>
                </a:tc>
                <a:tc>
                  <a:txBody>
                    <a:bodyPr/>
                    <a:lstStyle/>
                    <a:p>
                      <a:r>
                        <a:rPr sz="1875" b="1">
                          <a:solidFill>
                            <a:srgbClr val="1456A0"/>
                          </a:solidFill>
                          <a:latin typeface="Bitstream Charter"/>
                          <a:ea typeface="Bitstream Charter"/>
                          <a:cs typeface="Bitstream Charter"/>
                        </a:rPr>
                        <a:t>Degree supported by evidence</a:t>
                      </a:r>
                    </a:p>
                  </a:txBody>
                  <a:tcPr marL="91440" marR="91440" marT="45720" marB="45720">
                    <a:solidFill>
                      <a:srgbClr val="EAF2FC"/>
                    </a:solidFill>
                  </a:tcPr>
                </a:tc>
              </a:tr>
              <a:tr h="742950">
                <a:tc>
                  <a:txBody>
                    <a:bodyPr/>
                    <a:lstStyle/>
                    <a:p>
                      <a:r>
                        <a:rPr sz="1875" b="0">
                          <a:solidFill>
                            <a:srgbClr val="1456A0"/>
                          </a:solidFill>
                          <a:latin typeface="Bitstream Charter"/>
                          <a:ea typeface="Bitstream Charter"/>
                          <a:cs typeface="Bitstream Charter"/>
                        </a:rPr>
                        <a:t>Primary care clinicians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Less time to review outside information</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7.1% lower viewing share per extra documentation hour</a:t>
                      </a:r>
                    </a:p>
                  </a:txBody>
                  <a:tcPr marL="91440" marR="91440" marT="45720" marB="45720">
                    <a:solidFill>
                      <a:srgbClr val="FFFFFF"/>
                    </a:solidFill>
                  </a:tcPr>
                </a:tc>
              </a:tr>
              <a:tr h="742950">
                <a:tc>
                  <a:txBody>
                    <a:bodyPr/>
                    <a:lstStyle/>
                    <a:p>
                      <a:r>
                        <a:rPr sz="1875" b="0">
                          <a:solidFill>
                            <a:srgbClr val="1456A0"/>
                          </a:solidFill>
                          <a:latin typeface="Bitstream Charter"/>
                          <a:ea typeface="Bitstream Charter"/>
                          <a:cs typeface="Bitstream Charter"/>
                        </a:rPr>
                        <a:t>Patients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Their history may be split across records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2.9% had duplicates in one analyzed cohort of 1.19M patients</a:t>
                      </a:r>
                    </a:p>
                  </a:txBody>
                  <a:tcPr marL="91440" marR="91440" marT="45720" marB="45720">
                    <a:solidFill>
                      <a:srgbClr val="FFFFFF"/>
                    </a:solidFill>
                  </a:tcPr>
                </a:tc>
              </a:tr>
              <a:tr h="742950">
                <a:tc>
                  <a:txBody>
                    <a:bodyPr/>
                    <a:lstStyle/>
                    <a:p>
                      <a:r>
                        <a:rPr sz="1875" b="0">
                          <a:solidFill>
                            <a:srgbClr val="1456A0"/>
                          </a:solidFill>
                          <a:latin typeface="Bitstream Charter"/>
                          <a:ea typeface="Bitstream Charter"/>
                          <a:cs typeface="Bitstream Charter"/>
                        </a:rPr>
                        <a:t>Care coordinators / records staff</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Investigate unavailable records and route issues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Workload not quantified by these studies</a:t>
                      </a:r>
                    </a:p>
                  </a:txBody>
                  <a:tcPr marL="91440" marR="91440" marT="45720" marB="45720">
                    <a:solidFill>
                      <a:srgbClr val="FFFFFF"/>
                    </a:solidFill>
                  </a:tcPr>
                </a:tc>
              </a:tr>
              <a:tr h="742950">
                <a:tc>
                  <a:txBody>
                    <a:bodyPr/>
                    <a:lstStyle/>
                    <a:p>
                      <a:r>
                        <a:rPr sz="1875" b="0">
                          <a:solidFill>
                            <a:srgbClr val="1456A0"/>
                          </a:solidFill>
                          <a:latin typeface="Bitstream Charter"/>
                          <a:ea typeface="Bitstream Charter"/>
                          <a:cs typeface="Bitstream Charter"/>
                        </a:rPr>
                        <a:t>Integration / data teams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Maintain mappings, identifiers and reliable delivery</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Effort not quantified by these studies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F5E9603-EFD3-41F5-9B2E-D9B097A8ACAC}"/>
              </a:ext>
            </a:extLst>
          </p:cNvPr>
          <p:cNvSpPr>
            <a:spLocks xmlns:a="http://schemas.openxmlformats.org/drawingml/2006/main" noGrp="1"/>
          </p:cNvSpPr>
          <p:nvPr/>
        </p:nvSpPr>
        <p:spPr>
          <a:xfrm xmlns:a="http://schemas.openxmlformats.org/drawingml/2006/main">
            <a:off x="609600" y="5619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56A0"/>
                </a:solidFill>
                <a:latin typeface="Bitstream Charter"/>
                <a:ea typeface="Bitstream Charter"/>
                <a:cs typeface="Bitstream Charter"/>
              </a:defRPr>
            </a:pPr>
            <a:r>
              <a:rPr sz="1725" b="0">
                <a:solidFill>
                  <a:srgbClr val="1456A0"/>
                </a:solidFill>
                <a:latin typeface="Bitstream Charter"/>
                <a:ea typeface="Bitstream Charter"/>
                <a:cs typeface="Bitstream Charter"/>
              </a:rPr>
              <a:t>87.8% of patients with duplicates had a duplicate without a diagnosis code.</a:t>
            </a:r>
          </a:p>
          <a:p xmlns:a="http://schemas.openxmlformats.org/drawingml/2006/main">
            <a:pPr>
              <a:buNone/>
              <a:defRPr sz="1725" b="0">
                <a:solidFill>
                  <a:srgbClr val="1456A0"/>
                </a:solidFill>
                <a:latin typeface="Bitstream Charter"/>
                <a:ea typeface="Bitstream Charter"/>
                <a:cs typeface="Bitstream Charter"/>
              </a:defRPr>
            </a:pPr>
            <a:r>
              <a:rPr sz="1725" b="0">
                <a:solidFill>
                  <a:srgbClr val="1456A0"/>
                </a:solidFill>
                <a:latin typeface="Bitstream Charter"/>
                <a:ea typeface="Bitstream Charter"/>
                <a:cs typeface="Bitstream Charter"/>
              </a:rPr>
              <a:t>The authors suggest an exchange-related cause; they did not establish it.</a:t>
            </a:r>
          </a:p>
        </p:txBody>
      </p:sp>
    </p:spTree>
    <p:extLst>
      <p:ext uri="{BB962C8B-B14F-4D97-AF65-F5344CB8AC3E}">
        <p14:creationId xmlns:p14="http://schemas.microsoft.com/office/powerpoint/2010/main" val="8539830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p:cNvCxnSpPr>
            <a:stCxn xmlns:a="http://schemas.openxmlformats.org/drawingml/2006/main" id="6" idx="3"/>
            <a:endCxn xmlns:a="http://schemas.openxmlformats.org/drawingml/2006/main" id="8" idx="1"/>
          </p:cNvCxnSpPr>
          <p:nvPr/>
        </p:nvCxnSpPr>
        <p:spPr>
          <a:xfrm xmlns:a="http://schemas.openxmlformats.org/drawingml/2006/main">
            <a:off x="7572375" y="3381375"/>
            <a:ext cx="771525" cy="0"/>
          </a:xfrm>
          <a:prstGeom xmlns:a="http://schemas.openxmlformats.org/drawingml/2006/main" prst="straightConnector1">
            <a:avLst/>
          </a:prstGeom>
          <a:ln xmlns:a="http://schemas.openxmlformats.org/drawingml/2006/main" w="19050">
            <a:solidFill>
              <a:srgbClr val="1456A0"/>
            </a:solidFill>
            <a:tailEnd type="triangle" w="med" len="med"/>
          </a:ln>
        </p:spPr>
      </p:cxn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3705225" y="3381375"/>
            <a:ext cx="771525" cy="0"/>
          </a:xfrm>
          <a:prstGeom xmlns:a="http://schemas.openxmlformats.org/drawingml/2006/main" prst="straightConnector1">
            <a:avLst/>
          </a:prstGeom>
          <a:ln xmlns:a="http://schemas.openxmlformats.org/drawingml/2006/main" w="19050">
            <a:solidFill>
              <a:srgbClr val="1456A0"/>
            </a:solidFill>
            <a:tailEnd type="triangle" w="med" len="med"/>
          </a:ln>
        </p:spPr>
      </p:cxnSp>
      <p:sp>
        <p:nvSpPr>
          <p:cNvPr id="16" name="">
            <a:extLst xmlns:a="http://schemas.openxmlformats.org/drawingml/2006/main">
              <a:ext uri="{FF2B5EF4-FFF2-40B4-BE49-F238E27FC236}">
                <a16:creationId xmlns:a16="http://schemas.microsoft.com/office/drawing/2014/main" id="{5CB53593-614C-4855-9B93-5B706396A5C9}"/>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Proposed solution: a pre-visit worklist</a:t>
            </a:r>
          </a:p>
        </p:txBody>
      </p:sp>
      <p:sp>
        <p:nvSpPr>
          <p:cNvPr id="2" name="">
            <a:extLst xmlns:a="http://schemas.openxmlformats.org/drawingml/2006/main">
              <a:ext uri="{FF2B5EF4-FFF2-40B4-BE49-F238E27FC236}">
                <a16:creationId xmlns:a16="http://schemas.microsoft.com/office/drawing/2014/main" id="{2422D3EE-ABFF-45D5-9FAA-6F16868AE987}"/>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D93F84B4-4685-412C-BFFB-E421CCB05C5C}"/>
              </a:ext>
            </a:extLst>
          </p:cNvPr>
          <p:cNvSpPr>
            <a:spLocks xmlns:a="http://schemas.openxmlformats.org/drawingml/2006/main" noGrp="1"/>
          </p:cNvSpPr>
          <p:nvPr/>
        </p:nvSpPr>
        <p:spPr>
          <a:xfrm xmlns:a="http://schemas.openxmlformats.org/drawingml/2006/main">
            <a:off x="609600" y="1428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56A0"/>
                </a:solidFill>
                <a:latin typeface="Bitstream Charter"/>
                <a:ea typeface="Bitstream Charter"/>
                <a:cs typeface="Bitstream Charter"/>
              </a:defRPr>
            </a:pPr>
            <a:r>
              <a:rPr sz="2325" b="1">
                <a:solidFill>
                  <a:srgbClr val="1456A0"/>
                </a:solidFill>
                <a:latin typeface="Bitstream Charter"/>
                <a:ea typeface="Bitstream Charter"/>
                <a:cs typeface="Bitstream Charter"/>
              </a:rPr>
              <a:t>Before the visit, prepare expected information and route unresolved issues to the right person.</a:t>
            </a:r>
          </a:p>
        </p:txBody>
      </p:sp>
      <p:sp>
        <p:nvSpPr>
          <p:cNvPr id="4" name="">
            <a:extLst xmlns:a="http://schemas.openxmlformats.org/drawingml/2006/main">
              <a:ext uri="{FF2B5EF4-FFF2-40B4-BE49-F238E27FC236}">
                <a16:creationId xmlns:a16="http://schemas.microsoft.com/office/drawing/2014/main" id="{8A11112A-5D9D-439C-8B14-1F967A9A66F5}"/>
              </a:ext>
            </a:extLst>
          </p:cNvPr>
          <p:cNvSpPr>
            <a:spLocks xmlns:a="http://schemas.openxmlformats.org/drawingml/2006/main" noGrp="1"/>
          </p:cNvSpPr>
          <p:nvPr/>
        </p:nvSpPr>
        <p:spPr>
          <a:xfrm xmlns:a="http://schemas.openxmlformats.org/drawingml/2006/main">
            <a:off x="609600" y="2857500"/>
            <a:ext cx="3095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5" name="">
            <a:extLst xmlns:a="http://schemas.openxmlformats.org/drawingml/2006/main">
              <a:ext uri="{FF2B5EF4-FFF2-40B4-BE49-F238E27FC236}">
                <a16:creationId xmlns:a16="http://schemas.microsoft.com/office/drawing/2014/main" id="{7AA0E886-9DF8-459A-99C7-94EBFB27D927}"/>
              </a:ext>
            </a:extLst>
          </p:cNvPr>
          <p:cNvSpPr>
            <a:spLocks xmlns:a="http://schemas.openxmlformats.org/drawingml/2006/main" noGrp="1"/>
          </p:cNvSpPr>
          <p:nvPr/>
        </p:nvSpPr>
        <p:spPr>
          <a:xfrm xmlns:a="http://schemas.openxmlformats.org/drawingml/2006/main">
            <a:off x="762000" y="3000375"/>
            <a:ext cx="2790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Receive and translate</a:t>
            </a:r>
          </a:p>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HL7 into FHIR records</a:t>
            </a:r>
          </a:p>
        </p:txBody>
      </p:sp>
      <p:sp>
        <p:nvSpPr>
          <p:cNvPr id="6" name="">
            <a:extLst xmlns:a="http://schemas.openxmlformats.org/drawingml/2006/main">
              <a:ext uri="{FF2B5EF4-FFF2-40B4-BE49-F238E27FC236}">
                <a16:creationId xmlns:a16="http://schemas.microsoft.com/office/drawing/2014/main" id="{E4FB4B96-7652-4CCB-8E52-6C396E1AF518}"/>
              </a:ext>
            </a:extLst>
          </p:cNvPr>
          <p:cNvSpPr>
            <a:spLocks xmlns:a="http://schemas.openxmlformats.org/drawingml/2006/main" noGrp="1"/>
          </p:cNvSpPr>
          <p:nvPr/>
        </p:nvSpPr>
        <p:spPr>
          <a:xfrm xmlns:a="http://schemas.openxmlformats.org/drawingml/2006/main">
            <a:off x="4476750" y="2857500"/>
            <a:ext cx="3095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7" name="">
            <a:extLst xmlns:a="http://schemas.openxmlformats.org/drawingml/2006/main">
              <a:ext uri="{FF2B5EF4-FFF2-40B4-BE49-F238E27FC236}">
                <a16:creationId xmlns:a16="http://schemas.microsoft.com/office/drawing/2014/main" id="{21D3E09D-20AA-46E5-97BD-2B2269CD1054}"/>
              </a:ext>
            </a:extLst>
          </p:cNvPr>
          <p:cNvSpPr>
            <a:spLocks xmlns:a="http://schemas.openxmlformats.org/drawingml/2006/main" noGrp="1"/>
          </p:cNvSpPr>
          <p:nvPr/>
        </p:nvSpPr>
        <p:spPr>
          <a:xfrm xmlns:a="http://schemas.openxmlformats.org/drawingml/2006/main">
            <a:off x="4629150" y="3000375"/>
            <a:ext cx="2790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Check expectations</a:t>
            </a:r>
          </a:p>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and record links</a:t>
            </a:r>
          </a:p>
        </p:txBody>
      </p:sp>
      <p:sp>
        <p:nvSpPr>
          <p:cNvPr id="8" name="">
            <a:extLst xmlns:a="http://schemas.openxmlformats.org/drawingml/2006/main">
              <a:ext uri="{FF2B5EF4-FFF2-40B4-BE49-F238E27FC236}">
                <a16:creationId xmlns:a16="http://schemas.microsoft.com/office/drawing/2014/main" id="{E2374BAC-C376-4D09-82E1-2144F410D8F5}"/>
              </a:ext>
            </a:extLst>
          </p:cNvPr>
          <p:cNvSpPr>
            <a:spLocks xmlns:a="http://schemas.openxmlformats.org/drawingml/2006/main" noGrp="1"/>
          </p:cNvSpPr>
          <p:nvPr/>
        </p:nvSpPr>
        <p:spPr>
          <a:xfrm xmlns:a="http://schemas.openxmlformats.org/drawingml/2006/main">
            <a:off x="8343900" y="2857500"/>
            <a:ext cx="3095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9" name="">
            <a:extLst xmlns:a="http://schemas.openxmlformats.org/drawingml/2006/main">
              <a:ext uri="{FF2B5EF4-FFF2-40B4-BE49-F238E27FC236}">
                <a16:creationId xmlns:a16="http://schemas.microsoft.com/office/drawing/2014/main" id="{73DF99A1-14C6-4724-B786-3723D3E2205A}"/>
              </a:ext>
            </a:extLst>
          </p:cNvPr>
          <p:cNvSpPr>
            <a:spLocks xmlns:a="http://schemas.openxmlformats.org/drawingml/2006/main" noGrp="1"/>
          </p:cNvSpPr>
          <p:nvPr/>
        </p:nvSpPr>
        <p:spPr>
          <a:xfrm xmlns:a="http://schemas.openxmlformats.org/drawingml/2006/main">
            <a:off x="8496300" y="3000375"/>
            <a:ext cx="2790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Prepare actionable</a:t>
            </a:r>
          </a:p>
          <a:p xmlns:a="http://schemas.openxmlformats.org/drawingml/2006/main">
            <a:pPr>
              <a:buNone/>
              <a:defRPr sz="1875" b="1">
                <a:solidFill>
                  <a:srgbClr val="1456A0"/>
                </a:solidFill>
                <a:latin typeface="Bitstream Charter"/>
                <a:ea typeface="Bitstream Charter"/>
                <a:cs typeface="Bitstream Charter"/>
              </a:defRPr>
            </a:pPr>
            <a:r>
              <a:rPr sz="1875" b="1">
                <a:solidFill>
                  <a:srgbClr val="1456A0"/>
                </a:solidFill>
                <a:latin typeface="Bitstream Charter"/>
                <a:ea typeface="Bitstream Charter"/>
                <a:cs typeface="Bitstream Charter"/>
              </a:rPr>
              <a:t>worklist</a:t>
            </a:r>
          </a:p>
        </p:txBody>
      </p:sp>
      <p:graphicFrame>
        <p:nvGraphicFramePr>
          <p:cNvPr id="32" name=""/>
          <p:cNvGraphicFramePr/>
          <p:nvPr/>
        </p:nvGraphicFramePr>
        <p:xfrm>
          <a:off xmlns:a="http://schemas.openxmlformats.org/drawingml/2006/main" x="609600" y="4429125"/>
          <a:ext xmlns:a="http://schemas.openxmlformats.org/drawingml/2006/main" cx="10972800" cy="1571625"/>
        </p:xfrm>
        <a:graphic xmlns:a="http://schemas.openxmlformats.org/drawingml/2006/main">
          <a:graphicData uri="http://schemas.openxmlformats.org/drawingml/2006/table">
            <a:tbl>
              <a:tblPr/>
              <a:tblGrid>
                <a:gridCol w="5429250"/>
                <a:gridCol w="5543550"/>
              </a:tblGrid>
              <a:tr h="392906">
                <a:tc>
                  <a:txBody>
                    <a:bodyPr/>
                    <a:lstStyle/>
                    <a:p>
                      <a:r>
                        <a:rPr sz="1800" b="1">
                          <a:solidFill>
                            <a:srgbClr val="1456A0"/>
                          </a:solidFill>
                          <a:latin typeface="Bitstream Charter"/>
                          <a:ea typeface="Bitstream Charter"/>
                          <a:cs typeface="Bitstream Charter"/>
                        </a:rPr>
                        <a:t>Each work item includes</a:t>
                      </a:r>
                    </a:p>
                  </a:txBody>
                  <a:tcPr marL="91440" marR="91440" marT="45720" marB="45720">
                    <a:solidFill>
                      <a:srgbClr val="EAF2FC"/>
                    </a:solidFill>
                  </a:tcPr>
                </a:tc>
                <a:tc>
                  <a:txBody>
                    <a:bodyPr/>
                    <a:lstStyle/>
                    <a:p>
                      <a:r>
                        <a:rPr sz="1800" b="1">
                          <a:solidFill>
                            <a:srgbClr val="1456A0"/>
                          </a:solidFill>
                          <a:latin typeface="Bitstream Charter"/>
                          <a:ea typeface="Bitstream Charter"/>
                          <a:cs typeface="Bitstream Charter"/>
                        </a:rPr>
                        <a:t>What it enables</a:t>
                      </a:r>
                    </a:p>
                  </a:txBody>
                  <a:tcPr marL="91440" marR="91440" marT="45720" marB="45720">
                    <a:solidFill>
                      <a:srgbClr val="EAF2FC"/>
                    </a:solidFill>
                  </a:tcPr>
                </a:tc>
              </a:tr>
              <a:tr h="392906">
                <a:tc>
                  <a:txBody>
                    <a:bodyPr/>
                    <a:lstStyle/>
                    <a:p>
                      <a:r>
                        <a:rPr sz="1800" b="0">
                          <a:solidFill>
                            <a:srgbClr val="1456A0"/>
                          </a:solidFill>
                          <a:latin typeface="Bitstream Charter"/>
                          <a:ea typeface="Bitstream Charter"/>
                          <a:cs typeface="Bitstream Charter"/>
                        </a:rPr>
                        <a:t>Visit date, issue and source evidence</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A focused review before the appointment</a:t>
                      </a:r>
                    </a:p>
                  </a:txBody>
                  <a:tcPr marL="91440" marR="91440" marT="45720" marB="45720">
                    <a:solidFill>
                      <a:srgbClr val="FFFFFF"/>
                    </a:solidFill>
                  </a:tcPr>
                </a:tc>
              </a:tr>
              <a:tr h="392906">
                <a:tc>
                  <a:txBody>
                    <a:bodyPr/>
                    <a:lstStyle/>
                    <a:p>
                      <a:r>
                        <a:rPr sz="1800" b="0">
                          <a:solidFill>
                            <a:srgbClr val="1456A0"/>
                          </a:solidFill>
                          <a:latin typeface="Bitstream Charter"/>
                          <a:ea typeface="Bitstream Charter"/>
                          <a:cs typeface="Bitstream Charter"/>
                        </a:rPr>
                        <a:t>Responsible role and permitted next action</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Record retrieval or routing for clinical review</a:t>
                      </a:r>
                    </a:p>
                  </a:txBody>
                  <a:tcPr marL="91440" marR="91440" marT="45720" marB="45720">
                    <a:solidFill>
                      <a:srgbClr val="FFFFFF"/>
                    </a:solidFill>
                  </a:tcPr>
                </a:tc>
              </a:tr>
              <a:tr h="392906">
                <a:tc>
                  <a:txBody>
                    <a:bodyPr/>
                    <a:lstStyle/>
                    <a:p>
                      <a:r>
                        <a:rPr sz="1800" b="0">
                          <a:solidFill>
                            <a:srgbClr val="1456A0"/>
                          </a:solidFill>
                          <a:latin typeface="Bitstream Charter"/>
                          <a:ea typeface="Bitstream Charter"/>
                          <a:cs typeface="Bitstream Charter"/>
                        </a:rPr>
                        <a:t>Status and resolution history</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Traceable follow-through</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D9C6C2FE-A9A3-4983-8986-D7490FB1DE16}"/>
              </a:ext>
            </a:extLst>
          </p:cNvPr>
          <p:cNvSpPr>
            <a:spLocks xmlns:a="http://schemas.openxmlformats.org/drawingml/2006/main" noGrp="1"/>
          </p:cNvSpPr>
          <p:nvPr/>
        </p:nvSpPr>
        <p:spPr>
          <a:xfrm xmlns:a="http://schemas.openxmlformats.org/drawingml/2006/main">
            <a:off x="609600" y="61436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56A0"/>
                </a:solidFill>
                <a:latin typeface="Bitstream Charter"/>
                <a:ea typeface="Bitstream Charter"/>
                <a:cs typeface="Bitstream Charter"/>
              </a:defRPr>
            </a:pPr>
            <a:r>
              <a:rPr sz="1575" b="0">
                <a:solidFill>
                  <a:srgbClr val="1456A0"/>
                </a:solidFill>
                <a:latin typeface="Bitstream Charter"/>
                <a:ea typeface="Bitstream Charter"/>
                <a:cs typeface="Bitstream Charter"/>
              </a:rPr>
              <a:t>Hypothesis to test: fewer searches during visits, without excessive preparation work.</a:t>
            </a:r>
          </a:p>
        </p:txBody>
      </p:sp>
    </p:spTree>
    <p:extLst>
      <p:ext uri="{BB962C8B-B14F-4D97-AF65-F5344CB8AC3E}">
        <p14:creationId xmlns:p14="http://schemas.microsoft.com/office/powerpoint/2010/main" val="10644784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2404C3-0165-42F9-9C24-93B78870F783}"/>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Senior review and the platform decision</a:t>
            </a:r>
          </a:p>
        </p:txBody>
      </p:sp>
      <p:sp>
        <p:nvSpPr>
          <p:cNvPr id="2" name="">
            <a:extLst xmlns:a="http://schemas.openxmlformats.org/drawingml/2006/main">
              <a:ext uri="{FF2B5EF4-FFF2-40B4-BE49-F238E27FC236}">
                <a16:creationId xmlns:a16="http://schemas.microsoft.com/office/drawing/2014/main" id="{B34499DC-B52E-446C-98C1-F34A0F9823F5}"/>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06</a:t>
            </a:r>
          </a:p>
        </p:txBody>
      </p:sp>
      <p:sp>
        <p:nvSpPr>
          <p:cNvPr id="3" name="">
            <a:extLst xmlns:a="http://schemas.openxmlformats.org/drawingml/2006/main">
              <a:ext uri="{FF2B5EF4-FFF2-40B4-BE49-F238E27FC236}">
                <a16:creationId xmlns:a16="http://schemas.microsoft.com/office/drawing/2014/main" id="{352779C4-6D8E-4EB7-894B-53FF540C36FA}"/>
              </a:ext>
            </a:extLst>
          </p:cNvPr>
          <p:cNvSpPr>
            <a:spLocks xmlns:a="http://schemas.openxmlformats.org/drawingml/2006/main" noGrp="1"/>
          </p:cNvSpPr>
          <p:nvPr/>
        </p:nvSpPr>
        <p:spPr>
          <a:xfrm xmlns:a="http://schemas.openxmlformats.org/drawingml/2006/main">
            <a:off x="609600" y="1381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56A0"/>
                </a:solidFill>
                <a:latin typeface="Bitstream Charter"/>
                <a:ea typeface="Bitstream Charter"/>
                <a:cs typeface="Bitstream Charter"/>
              </a:defRPr>
            </a:pPr>
            <a:r>
              <a:rPr sz="2250" b="1">
                <a:solidFill>
                  <a:srgbClr val="1456A0"/>
                </a:solidFill>
                <a:latin typeface="Bitstream Charter"/>
                <a:ea typeface="Bitstream Charter"/>
                <a:cs typeface="Bitstream Charter"/>
              </a:rPr>
              <a:t>Revised skill target</a:t>
            </a:r>
          </a:p>
        </p:txBody>
      </p:sp>
      <p:sp>
        <p:nvSpPr>
          <p:cNvPr id="4" name="">
            <a:extLst xmlns:a="http://schemas.openxmlformats.org/drawingml/2006/main">
              <a:ext uri="{FF2B5EF4-FFF2-40B4-BE49-F238E27FC236}">
                <a16:creationId xmlns:a16="http://schemas.microsoft.com/office/drawing/2014/main" id="{595517DF-43E0-4F4A-A67C-AD4F040DA933}"/>
              </a:ext>
            </a:extLst>
          </p:cNvPr>
          <p:cNvSpPr>
            <a:spLocks xmlns:a="http://schemas.openxmlformats.org/drawingml/2006/main" noGrp="1"/>
          </p:cNvSpPr>
          <p:nvPr/>
        </p:nvSpPr>
        <p:spPr>
          <a:xfrm xmlns:a="http://schemas.openxmlformats.org/drawingml/2006/main">
            <a:off x="609600" y="1952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56A0"/>
                </a:solidFill>
                <a:latin typeface="Bitstream Charter"/>
                <a:ea typeface="Bitstream Charter"/>
                <a:cs typeface="Bitstream Charter"/>
              </a:defRPr>
            </a:pPr>
            <a:r>
              <a:rPr sz="2250" b="0">
                <a:solidFill>
                  <a:srgbClr val="1456A0"/>
                </a:solidFill>
                <a:latin typeface="Bitstream Charter"/>
                <a:ea typeface="Bitstream Charter"/>
                <a:cs typeface="Bitstream Charter"/>
              </a:rPr>
              <a:t>“Has run a production FHIR R4 server (Firely, HAPI, or similar) and secured its backing database.”</a:t>
            </a:r>
          </a:p>
        </p:txBody>
      </p:sp>
      <p:graphicFrame>
        <p:nvGraphicFramePr>
          <p:cNvPr id="11" name=""/>
          <p:cNvGraphicFramePr/>
          <p:nvPr/>
        </p:nvGraphicFramePr>
        <p:xfrm>
          <a:off xmlns:a="http://schemas.openxmlformats.org/drawingml/2006/main" x="609600" y="3095625"/>
          <a:ext xmlns:a="http://schemas.openxmlformats.org/drawingml/2006/main" cx="10972800" cy="2381250"/>
        </p:xfrm>
        <a:graphic xmlns:a="http://schemas.openxmlformats.org/drawingml/2006/main">
          <a:graphicData uri="http://schemas.openxmlformats.org/drawingml/2006/table">
            <a:tbl>
              <a:tblPr/>
              <a:tblGrid>
                <a:gridCol w="3381375"/>
                <a:gridCol w="7591425"/>
              </a:tblGrid>
              <a:tr h="595313">
                <a:tc>
                  <a:txBody>
                    <a:bodyPr/>
                    <a:lstStyle/>
                    <a:p>
                      <a:r>
                        <a:rPr sz="1875" b="1">
                          <a:solidFill>
                            <a:srgbClr val="1456A0"/>
                          </a:solidFill>
                          <a:latin typeface="Bitstream Charter"/>
                          <a:ea typeface="Bitstream Charter"/>
                          <a:cs typeface="Bitstream Charter"/>
                        </a:rPr>
                        <a:t>Review finding</a:t>
                      </a:r>
                    </a:p>
                  </a:txBody>
                  <a:tcPr marL="91440" marR="91440" marT="45720" marB="45720">
                    <a:solidFill>
                      <a:srgbClr val="EAF2FC"/>
                    </a:solidFill>
                  </a:tcPr>
                </a:tc>
                <a:tc>
                  <a:txBody>
                    <a:bodyPr/>
                    <a:lstStyle/>
                    <a:p>
                      <a:r>
                        <a:rPr sz="1875" b="1">
                          <a:solidFill>
                            <a:srgbClr val="1456A0"/>
                          </a:solidFill>
                          <a:latin typeface="Bitstream Charter"/>
                          <a:ea typeface="Bitstream Charter"/>
                          <a:cs typeface="Bitstream Charter"/>
                        </a:rPr>
                        <a:t>How our scope now responds</a:t>
                      </a:r>
                    </a:p>
                  </a:txBody>
                  <a:tcPr marL="91440" marR="91440" marT="45720" marB="45720">
                    <a:solidFill>
                      <a:srgbClr val="EAF2FC"/>
                    </a:solidFill>
                  </a:tcPr>
                </a:tc>
              </a:tr>
              <a:tr h="595313">
                <a:tc>
                  <a:txBody>
                    <a:bodyPr/>
                    <a:lstStyle/>
                    <a:p>
                      <a:r>
                        <a:rPr sz="1875" b="0">
                          <a:solidFill>
                            <a:srgbClr val="1456A0"/>
                          </a:solidFill>
                          <a:latin typeface="Bitstream Charter"/>
                          <a:ea typeface="Bitstream Charter"/>
                          <a:cs typeface="Bitstream Charter"/>
                        </a:rPr>
                        <a:t>Database compatibility</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Keep Firely. Choose SQL Server for its future backing database.</a:t>
                      </a:r>
                    </a:p>
                  </a:txBody>
                  <a:tcPr marL="91440" marR="91440" marT="45720" marB="45720">
                    <a:solidFill>
                      <a:srgbClr val="FFFFFF"/>
                    </a:solidFill>
                  </a:tcPr>
                </a:tc>
              </a:tr>
              <a:tr h="595313">
                <a:tc>
                  <a:txBody>
                    <a:bodyPr/>
                    <a:lstStyle/>
                    <a:p>
                      <a:r>
                        <a:rPr sz="1875" b="0">
                          <a:solidFill>
                            <a:srgbClr val="1456A0"/>
                          </a:solidFill>
                          <a:latin typeface="Bitstream Charter"/>
                          <a:ea typeface="Bitstream Charter"/>
                          <a:cs typeface="Bitstream Charter"/>
                        </a:rPr>
                        <a:t>API, login and viewer gaps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Name the defined record API, SMART login and provider viewer explicitly.</a:t>
                      </a:r>
                    </a:p>
                  </a:txBody>
                  <a:tcPr marL="91440" marR="91440" marT="45720" marB="45720">
                    <a:solidFill>
                      <a:srgbClr val="FFFFFF"/>
                    </a:solidFill>
                  </a:tcPr>
                </a:tc>
              </a:tr>
              <a:tr h="595313">
                <a:tc>
                  <a:txBody>
                    <a:bodyPr/>
                    <a:lstStyle/>
                    <a:p>
                      <a:r>
                        <a:rPr sz="1875" b="0">
                          <a:solidFill>
                            <a:srgbClr val="1456A0"/>
                          </a:solidFill>
                          <a:latin typeface="Bitstream Charter"/>
                          <a:ea typeface="Bitstream Charter"/>
                          <a:cs typeface="Bitstream Charter"/>
                        </a:rPr>
                        <a:t>Documents, images and HIPAA</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Include PDF/image links, access tests, audit and recovery exercises.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73CFC44-8B58-4C99-96CC-8695307C58C2}"/>
              </a:ext>
            </a:extLst>
          </p:cNvPr>
          <p:cNvSpPr>
            <a:spLocks xmlns:a="http://schemas.openxmlformats.org/drawingml/2006/main" noGrp="1"/>
          </p:cNvSpPr>
          <p:nvPr/>
        </p:nvSpPr>
        <p:spPr>
          <a:xfrm xmlns:a="http://schemas.openxmlformats.org/drawingml/2006/main">
            <a:off x="609600" y="5857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56A0"/>
                </a:solidFill>
                <a:latin typeface="Bitstream Charter"/>
                <a:ea typeface="Bitstream Charter"/>
                <a:cs typeface="Bitstream Charter"/>
              </a:defRPr>
            </a:pPr>
            <a:r>
              <a:rPr sz="1725" b="0">
                <a:solidFill>
                  <a:srgbClr val="1456A0"/>
                </a:solidFill>
                <a:latin typeface="Bitstream Charter"/>
                <a:ea typeface="Bitstream Charter"/>
                <a:cs typeface="Bitstream Charter"/>
              </a:rPr>
              <a:t>Current learning demo: Firely + SQLite. SQL Server migration remains ahead.</a:t>
            </a:r>
          </a:p>
          <a:p xmlns:a="http://schemas.openxmlformats.org/drawingml/2006/main">
            <a:pPr>
              <a:defRPr sz="1725" b="0">
                <a:solidFill>
                  <a:srgbClr val="1456A0"/>
                </a:solidFill>
                <a:latin typeface="Bitstream Charter"/>
                <a:ea typeface="Bitstream Charter"/>
                <a:cs typeface="Bitstream Charter"/>
              </a:defRPr>
            </a:pPr>
            <a:r>
              <a:rPr sz="1725" b="0">
                <a:solidFill>
                  <a:srgbClr val="1456A0"/>
                </a:solidFill>
                <a:latin typeface="Bitstream Charter"/>
                <a:ea typeface="Bitstream Charter"/>
                <a:cs typeface="Bitstream Charter"/>
              </a:rPr>
              <a:t>The production skill is a target, not an experience claim.</a:t>
            </a:r>
          </a:p>
        </p:txBody>
      </p:sp>
    </p:spTree>
    <p:extLst>
      <p:ext uri="{BB962C8B-B14F-4D97-AF65-F5344CB8AC3E}">
        <p14:creationId xmlns:p14="http://schemas.microsoft.com/office/powerpoint/2010/main" val="11395452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p:cNvCxnSpPr>
            <a:stCxn xmlns:a="http://schemas.openxmlformats.org/drawingml/2006/main" id="18" idx="4"/>
            <a:endCxn xmlns:a="http://schemas.openxmlformats.org/drawingml/2006/main" id="28" idx="0"/>
          </p:cNvCxnSpPr>
          <p:nvPr/>
        </p:nvCxnSpPr>
        <p:spPr>
          <a:xfrm xmlns:a="http://schemas.openxmlformats.org/drawingml/2006/main">
            <a:off x="6657975" y="3790950"/>
            <a:ext cx="0" cy="82867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5" name=""/>
          <p:cNvCxnSpPr>
            <a:stCxn xmlns:a="http://schemas.openxmlformats.org/drawingml/2006/main" id="13" idx="4"/>
            <a:endCxn xmlns:a="http://schemas.openxmlformats.org/drawingml/2006/main" id="23" idx="0"/>
          </p:cNvCxnSpPr>
          <p:nvPr/>
        </p:nvCxnSpPr>
        <p:spPr>
          <a:xfrm xmlns:a="http://schemas.openxmlformats.org/drawingml/2006/main">
            <a:off x="790575" y="3790950"/>
            <a:ext cx="0" cy="82867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6" name=""/>
          <p:cNvCxnSpPr>
            <a:stCxn xmlns:a="http://schemas.openxmlformats.org/drawingml/2006/main" id="9" idx="4"/>
            <a:endCxn xmlns:a="http://schemas.openxmlformats.org/drawingml/2006/main" id="18" idx="0"/>
          </p:cNvCxnSpPr>
          <p:nvPr/>
        </p:nvCxnSpPr>
        <p:spPr>
          <a:xfrm xmlns:a="http://schemas.openxmlformats.org/drawingml/2006/main">
            <a:off x="6657975" y="2600325"/>
            <a:ext cx="0" cy="82867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7" name=""/>
          <p:cNvCxnSpPr>
            <a:stCxn xmlns:a="http://schemas.openxmlformats.org/drawingml/2006/main" id="5" idx="4"/>
            <a:endCxn xmlns:a="http://schemas.openxmlformats.org/drawingml/2006/main" id="13" idx="0"/>
          </p:cNvCxnSpPr>
          <p:nvPr/>
        </p:nvCxnSpPr>
        <p:spPr>
          <a:xfrm xmlns:a="http://schemas.openxmlformats.org/drawingml/2006/main">
            <a:off x="790575" y="2600325"/>
            <a:ext cx="0" cy="828675"/>
          </a:xfrm>
          <a:prstGeom xmlns:a="http://schemas.openxmlformats.org/drawingml/2006/main" prst="straightConnector1">
            <a:avLst/>
          </a:prstGeom>
          <a:ln xmlns:a="http://schemas.openxmlformats.org/drawingml/2006/main" w="19050">
            <a:solidFill>
              <a:srgbClr val="1456A0"/>
            </a:solidFill>
            <a:tailEnd type="triangle" w="sm" len="sm"/>
          </a:ln>
        </p:spPr>
      </p:cxnSp>
      <p:sp>
        <p:nvSpPr>
          <p:cNvPr id="38" name="">
            <a:extLst xmlns:a="http://schemas.openxmlformats.org/drawingml/2006/main">
              <a:ext uri="{FF2B5EF4-FFF2-40B4-BE49-F238E27FC236}">
                <a16:creationId xmlns:a16="http://schemas.microsoft.com/office/drawing/2014/main" id="{F9557E4D-E3EE-444F-9F0C-1E11833F5D0E}"/>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Progress chart: yesterday and today</a:t>
            </a:r>
          </a:p>
        </p:txBody>
      </p:sp>
      <p:sp>
        <p:nvSpPr>
          <p:cNvPr id="2" name="">
            <a:extLst xmlns:a="http://schemas.openxmlformats.org/drawingml/2006/main">
              <a:ext uri="{FF2B5EF4-FFF2-40B4-BE49-F238E27FC236}">
                <a16:creationId xmlns:a16="http://schemas.microsoft.com/office/drawing/2014/main" id="{C3A5C195-C845-4F59-88FF-328AD273359B}"/>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07</a:t>
            </a:r>
          </a:p>
        </p:txBody>
      </p:sp>
      <p:sp>
        <p:nvSpPr>
          <p:cNvPr id="3" name="">
            <a:extLst xmlns:a="http://schemas.openxmlformats.org/drawingml/2006/main">
              <a:ext uri="{FF2B5EF4-FFF2-40B4-BE49-F238E27FC236}">
                <a16:creationId xmlns:a16="http://schemas.microsoft.com/office/drawing/2014/main" id="{B5F6DD35-76F3-48E2-A9DC-1A1F971243C6}"/>
              </a:ext>
            </a:extLst>
          </p:cNvPr>
          <p:cNvSpPr>
            <a:spLocks xmlns:a="http://schemas.openxmlformats.org/drawingml/2006/main" noGrp="1"/>
          </p:cNvSpPr>
          <p:nvPr/>
        </p:nvSpPr>
        <p:spPr>
          <a:xfrm xmlns:a="http://schemas.openxmlformats.org/drawingml/2006/main">
            <a:off x="609600" y="1381125"/>
            <a:ext cx="528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56A0"/>
                </a:solidFill>
                <a:latin typeface="Bitstream Charter"/>
                <a:ea typeface="Bitstream Charter"/>
                <a:cs typeface="Bitstream Charter"/>
              </a:defRPr>
            </a:pPr>
            <a:r>
              <a:rPr sz="2325" b="1">
                <a:solidFill>
                  <a:srgbClr val="1456A0"/>
                </a:solidFill>
                <a:latin typeface="Bitstream Charter"/>
                <a:ea typeface="Bitstream Charter"/>
                <a:cs typeface="Bitstream Charter"/>
              </a:rPr>
              <a:t>Yesterday / earlier foundation</a:t>
            </a:r>
          </a:p>
        </p:txBody>
      </p:sp>
      <p:sp>
        <p:nvSpPr>
          <p:cNvPr id="4" name="">
            <a:extLst xmlns:a="http://schemas.openxmlformats.org/drawingml/2006/main">
              <a:ext uri="{FF2B5EF4-FFF2-40B4-BE49-F238E27FC236}">
                <a16:creationId xmlns:a16="http://schemas.microsoft.com/office/drawing/2014/main" id="{614E1F34-9A53-4ED8-9C01-45C550189522}"/>
              </a:ext>
            </a:extLst>
          </p:cNvPr>
          <p:cNvSpPr>
            <a:spLocks xmlns:a="http://schemas.openxmlformats.org/drawingml/2006/main" noGrp="1"/>
          </p:cNvSpPr>
          <p:nvPr/>
        </p:nvSpPr>
        <p:spPr>
          <a:xfrm xmlns:a="http://schemas.openxmlformats.org/drawingml/2006/main">
            <a:off x="6477000" y="1381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56A0"/>
                </a:solidFill>
                <a:latin typeface="Bitstream Charter"/>
                <a:ea typeface="Bitstream Charter"/>
                <a:cs typeface="Bitstream Charter"/>
              </a:defRPr>
            </a:pPr>
            <a:r>
              <a:rPr sz="2325" b="1">
                <a:solidFill>
                  <a:srgbClr val="1456A0"/>
                </a:solidFill>
                <a:latin typeface="Bitstream Charter"/>
                <a:ea typeface="Bitstream Charter"/>
                <a:cs typeface="Bitstream Charter"/>
              </a:rPr>
              <a:t>Today · October 1</a:t>
            </a:r>
          </a:p>
        </p:txBody>
      </p:sp>
      <p:sp>
        <p:nvSpPr>
          <p:cNvPr id="5" name="">
            <a:extLst xmlns:a="http://schemas.openxmlformats.org/drawingml/2006/main">
              <a:ext uri="{FF2B5EF4-FFF2-40B4-BE49-F238E27FC236}">
                <a16:creationId xmlns:a16="http://schemas.microsoft.com/office/drawing/2014/main" id="{2D8A9BAB-0CC9-4F6C-9DB0-3A7DEF9BAE4D}"/>
              </a:ext>
            </a:extLst>
          </p:cNvPr>
          <p:cNvSpPr>
            <a:spLocks xmlns:a="http://schemas.openxmlformats.org/drawingml/2006/main" noGrp="1"/>
          </p:cNvSpPr>
          <p:nvPr/>
        </p:nvSpPr>
        <p:spPr>
          <a:xfrm xmlns:a="http://schemas.openxmlformats.org/drawingml/2006/main">
            <a:off x="609600" y="2238375"/>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6" name="">
            <a:extLst xmlns:a="http://schemas.openxmlformats.org/drawingml/2006/main">
              <a:ext uri="{FF2B5EF4-FFF2-40B4-BE49-F238E27FC236}">
                <a16:creationId xmlns:a16="http://schemas.microsoft.com/office/drawing/2014/main" id="{A491B1E9-8CDA-4111-AC74-4C549A9F60AE}"/>
              </a:ext>
            </a:extLst>
          </p:cNvPr>
          <p:cNvSpPr>
            <a:spLocks xmlns:a="http://schemas.openxmlformats.org/drawingml/2006/main" noGrp="1"/>
          </p:cNvSpPr>
          <p:nvPr/>
        </p:nvSpPr>
        <p:spPr>
          <a:xfrm xmlns:a="http://schemas.openxmlformats.org/drawingml/2006/main">
            <a:off x="714375" y="22764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B4C94C06-6105-47D7-B1F4-6757CC69F185}"/>
              </a:ext>
            </a:extLst>
          </p:cNvPr>
          <p:cNvSpPr>
            <a:spLocks xmlns:a="http://schemas.openxmlformats.org/drawingml/2006/main" noGrp="1"/>
          </p:cNvSpPr>
          <p:nvPr/>
        </p:nvSpPr>
        <p:spPr>
          <a:xfrm xmlns:a="http://schemas.openxmlformats.org/drawingml/2006/main">
            <a:off x="1181100" y="2209800"/>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Docker and Firely</a:t>
            </a:r>
          </a:p>
        </p:txBody>
      </p:sp>
      <p:sp>
        <p:nvSpPr>
          <p:cNvPr id="8" name="">
            <a:extLst xmlns:a="http://schemas.openxmlformats.org/drawingml/2006/main">
              <a:ext uri="{FF2B5EF4-FFF2-40B4-BE49-F238E27FC236}">
                <a16:creationId xmlns:a16="http://schemas.microsoft.com/office/drawing/2014/main" id="{C3870656-CD99-4B29-95ED-62D8BBDF7B3D}"/>
              </a:ext>
            </a:extLst>
          </p:cNvPr>
          <p:cNvSpPr>
            <a:spLocks xmlns:a="http://schemas.openxmlformats.org/drawingml/2006/main" noGrp="1"/>
          </p:cNvSpPr>
          <p:nvPr/>
        </p:nvSpPr>
        <p:spPr>
          <a:xfrm xmlns:a="http://schemas.openxmlformats.org/drawingml/2006/main">
            <a:off x="1181100" y="26860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FHIR R4 API running</a:t>
            </a:r>
          </a:p>
        </p:txBody>
      </p:sp>
      <p:sp>
        <p:nvSpPr>
          <p:cNvPr id="9" name="">
            <a:extLst xmlns:a="http://schemas.openxmlformats.org/drawingml/2006/main">
              <a:ext uri="{FF2B5EF4-FFF2-40B4-BE49-F238E27FC236}">
                <a16:creationId xmlns:a16="http://schemas.microsoft.com/office/drawing/2014/main" id="{7C7A6590-7DDF-407E-B05D-4C157B223426}"/>
              </a:ext>
            </a:extLst>
          </p:cNvPr>
          <p:cNvSpPr>
            <a:spLocks xmlns:a="http://schemas.openxmlformats.org/drawingml/2006/main" noGrp="1"/>
          </p:cNvSpPr>
          <p:nvPr/>
        </p:nvSpPr>
        <p:spPr>
          <a:xfrm xmlns:a="http://schemas.openxmlformats.org/drawingml/2006/main">
            <a:off x="6477000" y="2238375"/>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10" name="">
            <a:extLst xmlns:a="http://schemas.openxmlformats.org/drawingml/2006/main">
              <a:ext uri="{FF2B5EF4-FFF2-40B4-BE49-F238E27FC236}">
                <a16:creationId xmlns:a16="http://schemas.microsoft.com/office/drawing/2014/main" id="{27086C6B-C6AC-4A71-A78D-C9618B913DE7}"/>
              </a:ext>
            </a:extLst>
          </p:cNvPr>
          <p:cNvSpPr>
            <a:spLocks xmlns:a="http://schemas.openxmlformats.org/drawingml/2006/main" noGrp="1"/>
          </p:cNvSpPr>
          <p:nvPr/>
        </p:nvSpPr>
        <p:spPr>
          <a:xfrm xmlns:a="http://schemas.openxmlformats.org/drawingml/2006/main">
            <a:off x="6581775" y="22764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3D9C31FD-A34B-4EF5-B4C3-2A79B97534CD}"/>
              </a:ext>
            </a:extLst>
          </p:cNvPr>
          <p:cNvSpPr>
            <a:spLocks xmlns:a="http://schemas.openxmlformats.org/drawingml/2006/main" noGrp="1"/>
          </p:cNvSpPr>
          <p:nvPr/>
        </p:nvSpPr>
        <p:spPr>
          <a:xfrm xmlns:a="http://schemas.openxmlformats.org/drawingml/2006/main">
            <a:off x="7048500" y="2209800"/>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Senior review and scope</a:t>
            </a:r>
          </a:p>
        </p:txBody>
      </p:sp>
      <p:sp>
        <p:nvSpPr>
          <p:cNvPr id="12" name="">
            <a:extLst xmlns:a="http://schemas.openxmlformats.org/drawingml/2006/main">
              <a:ext uri="{FF2B5EF4-FFF2-40B4-BE49-F238E27FC236}">
                <a16:creationId xmlns:a16="http://schemas.microsoft.com/office/drawing/2014/main" id="{26D0D710-5ED3-42C6-A58F-D6B1EB8DA9D7}"/>
              </a:ext>
            </a:extLst>
          </p:cNvPr>
          <p:cNvSpPr>
            <a:spLocks xmlns:a="http://schemas.openxmlformats.org/drawingml/2006/main" noGrp="1"/>
          </p:cNvSpPr>
          <p:nvPr/>
        </p:nvSpPr>
        <p:spPr>
          <a:xfrm xmlns:a="http://schemas.openxmlformats.org/drawingml/2006/main">
            <a:off x="7048500" y="26860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Platform-neutral server skill</a:t>
            </a:r>
          </a:p>
        </p:txBody>
      </p:sp>
      <p:sp>
        <p:nvSpPr>
          <p:cNvPr id="13" name="">
            <a:extLst xmlns:a="http://schemas.openxmlformats.org/drawingml/2006/main">
              <a:ext uri="{FF2B5EF4-FFF2-40B4-BE49-F238E27FC236}">
                <a16:creationId xmlns:a16="http://schemas.microsoft.com/office/drawing/2014/main" id="{4BC5865F-ACF2-465B-B828-E887F024B998}"/>
              </a:ext>
            </a:extLst>
          </p:cNvPr>
          <p:cNvSpPr>
            <a:spLocks xmlns:a="http://schemas.openxmlformats.org/drawingml/2006/main" noGrp="1"/>
          </p:cNvSpPr>
          <p:nvPr/>
        </p:nvSpPr>
        <p:spPr>
          <a:xfrm xmlns:a="http://schemas.openxmlformats.org/drawingml/2006/main">
            <a:off x="609600" y="3429000"/>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14" name="">
            <a:extLst xmlns:a="http://schemas.openxmlformats.org/drawingml/2006/main">
              <a:ext uri="{FF2B5EF4-FFF2-40B4-BE49-F238E27FC236}">
                <a16:creationId xmlns:a16="http://schemas.microsoft.com/office/drawing/2014/main" id="{FAB286CB-8DBE-415E-9D75-C61983C0B613}"/>
              </a:ext>
            </a:extLst>
          </p:cNvPr>
          <p:cNvSpPr>
            <a:spLocks xmlns:a="http://schemas.openxmlformats.org/drawingml/2006/main" noGrp="1"/>
          </p:cNvSpPr>
          <p:nvPr/>
        </p:nvSpPr>
        <p:spPr>
          <a:xfrm xmlns:a="http://schemas.openxmlformats.org/drawingml/2006/main">
            <a:off x="714375" y="34671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2</a:t>
            </a:r>
          </a:p>
        </p:txBody>
      </p:sp>
      <p:sp>
        <p:nvSpPr>
          <p:cNvPr id="16" name="">
            <a:extLst xmlns:a="http://schemas.openxmlformats.org/drawingml/2006/main">
              <a:ext uri="{FF2B5EF4-FFF2-40B4-BE49-F238E27FC236}">
                <a16:creationId xmlns:a16="http://schemas.microsoft.com/office/drawing/2014/main" id="{45179B4E-0E58-4441-85F9-CCE7AE090887}"/>
              </a:ext>
            </a:extLst>
          </p:cNvPr>
          <p:cNvSpPr>
            <a:spLocks xmlns:a="http://schemas.openxmlformats.org/drawingml/2006/main" noGrp="1"/>
          </p:cNvSpPr>
          <p:nvPr/>
        </p:nvSpPr>
        <p:spPr>
          <a:xfrm xmlns:a="http://schemas.openxmlformats.org/drawingml/2006/main">
            <a:off x="1181100" y="3400425"/>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Anita and saved storage</a:t>
            </a:r>
          </a:p>
        </p:txBody>
      </p:sp>
      <p:sp>
        <p:nvSpPr>
          <p:cNvPr id="17" name="">
            <a:extLst xmlns:a="http://schemas.openxmlformats.org/drawingml/2006/main">
              <a:ext uri="{FF2B5EF4-FFF2-40B4-BE49-F238E27FC236}">
                <a16:creationId xmlns:a16="http://schemas.microsoft.com/office/drawing/2014/main" id="{62EF3850-A83A-44AD-A974-28FE2D11C0B7}"/>
              </a:ext>
            </a:extLst>
          </p:cNvPr>
          <p:cNvSpPr>
            <a:spLocks xmlns:a="http://schemas.openxmlformats.org/drawingml/2006/main" noGrp="1"/>
          </p:cNvSpPr>
          <p:nvPr/>
        </p:nvSpPr>
        <p:spPr>
          <a:xfrm xmlns:a="http://schemas.openxmlformats.org/drawingml/2006/main">
            <a:off x="1181100" y="38766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Read-back after container replacement</a:t>
            </a:r>
          </a:p>
        </p:txBody>
      </p:sp>
      <p:sp>
        <p:nvSpPr>
          <p:cNvPr id="18" name="">
            <a:extLst xmlns:a="http://schemas.openxmlformats.org/drawingml/2006/main">
              <a:ext uri="{FF2B5EF4-FFF2-40B4-BE49-F238E27FC236}">
                <a16:creationId xmlns:a16="http://schemas.microsoft.com/office/drawing/2014/main" id="{A0A11CD2-8B56-406C-969A-9B72223974FD}"/>
              </a:ext>
            </a:extLst>
          </p:cNvPr>
          <p:cNvSpPr>
            <a:spLocks xmlns:a="http://schemas.openxmlformats.org/drawingml/2006/main" noGrp="1"/>
          </p:cNvSpPr>
          <p:nvPr/>
        </p:nvSpPr>
        <p:spPr>
          <a:xfrm xmlns:a="http://schemas.openxmlformats.org/drawingml/2006/main">
            <a:off x="6477000" y="3429000"/>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19" name="">
            <a:extLst xmlns:a="http://schemas.openxmlformats.org/drawingml/2006/main">
              <a:ext uri="{FF2B5EF4-FFF2-40B4-BE49-F238E27FC236}">
                <a16:creationId xmlns:a16="http://schemas.microsoft.com/office/drawing/2014/main" id="{8C17CCE3-4F3C-4F37-8F3B-8C16DDE59ED5}"/>
              </a:ext>
            </a:extLst>
          </p:cNvPr>
          <p:cNvSpPr>
            <a:spLocks xmlns:a="http://schemas.openxmlformats.org/drawingml/2006/main" noGrp="1"/>
          </p:cNvSpPr>
          <p:nvPr/>
        </p:nvSpPr>
        <p:spPr>
          <a:xfrm xmlns:a="http://schemas.openxmlformats.org/drawingml/2006/main">
            <a:off x="6581775" y="34671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2</a:t>
            </a:r>
          </a:p>
        </p:txBody>
      </p:sp>
      <p:sp>
        <p:nvSpPr>
          <p:cNvPr id="21" name="">
            <a:extLst xmlns:a="http://schemas.openxmlformats.org/drawingml/2006/main">
              <a:ext uri="{FF2B5EF4-FFF2-40B4-BE49-F238E27FC236}">
                <a16:creationId xmlns:a16="http://schemas.microsoft.com/office/drawing/2014/main" id="{B84D4CF3-E7F9-491A-B0E0-216D8A97A9EE}"/>
              </a:ext>
            </a:extLst>
          </p:cNvPr>
          <p:cNvSpPr>
            <a:spLocks xmlns:a="http://schemas.openxmlformats.org/drawingml/2006/main" noGrp="1"/>
          </p:cNvSpPr>
          <p:nvPr/>
        </p:nvSpPr>
        <p:spPr>
          <a:xfrm xmlns:a="http://schemas.openxmlformats.org/drawingml/2006/main">
            <a:off x="7048500" y="3400425"/>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Ravi’s two lab results</a:t>
            </a:r>
          </a:p>
        </p:txBody>
      </p:sp>
      <p:sp>
        <p:nvSpPr>
          <p:cNvPr id="22" name="">
            <a:extLst xmlns:a="http://schemas.openxmlformats.org/drawingml/2006/main">
              <a:ext uri="{FF2B5EF4-FFF2-40B4-BE49-F238E27FC236}">
                <a16:creationId xmlns:a16="http://schemas.microsoft.com/office/drawing/2014/main" id="{5A6CA96F-A71B-47A3-9875-FE4C1A322B13}"/>
              </a:ext>
            </a:extLst>
          </p:cNvPr>
          <p:cNvSpPr>
            <a:spLocks xmlns:a="http://schemas.openxmlformats.org/drawingml/2006/main" noGrp="1"/>
          </p:cNvSpPr>
          <p:nvPr/>
        </p:nvSpPr>
        <p:spPr>
          <a:xfrm xmlns:a="http://schemas.openxmlformats.org/drawingml/2006/main">
            <a:off x="7048500" y="38766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HL7 conversion, distinct IDs and links</a:t>
            </a:r>
          </a:p>
        </p:txBody>
      </p:sp>
      <p:sp>
        <p:nvSpPr>
          <p:cNvPr id="23" name="">
            <a:extLst xmlns:a="http://schemas.openxmlformats.org/drawingml/2006/main">
              <a:ext uri="{FF2B5EF4-FFF2-40B4-BE49-F238E27FC236}">
                <a16:creationId xmlns:a16="http://schemas.microsoft.com/office/drawing/2014/main" id="{A58D2343-14DC-41FD-AE67-F3DE42240E78}"/>
              </a:ext>
            </a:extLst>
          </p:cNvPr>
          <p:cNvSpPr>
            <a:spLocks xmlns:a="http://schemas.openxmlformats.org/drawingml/2006/main" noGrp="1"/>
          </p:cNvSpPr>
          <p:nvPr/>
        </p:nvSpPr>
        <p:spPr>
          <a:xfrm xmlns:a="http://schemas.openxmlformats.org/drawingml/2006/main">
            <a:off x="609600" y="4619625"/>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24" name="">
            <a:extLst xmlns:a="http://schemas.openxmlformats.org/drawingml/2006/main">
              <a:ext uri="{FF2B5EF4-FFF2-40B4-BE49-F238E27FC236}">
                <a16:creationId xmlns:a16="http://schemas.microsoft.com/office/drawing/2014/main" id="{ABD149F4-B1F2-4E6B-9A91-AB38B777E53B}"/>
              </a:ext>
            </a:extLst>
          </p:cNvPr>
          <p:cNvSpPr>
            <a:spLocks xmlns:a="http://schemas.openxmlformats.org/drawingml/2006/main" noGrp="1"/>
          </p:cNvSpPr>
          <p:nvPr/>
        </p:nvSpPr>
        <p:spPr>
          <a:xfrm xmlns:a="http://schemas.openxmlformats.org/drawingml/2006/main">
            <a:off x="714375" y="46577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3</a:t>
            </a:r>
          </a:p>
        </p:txBody>
      </p:sp>
      <p:sp>
        <p:nvSpPr>
          <p:cNvPr id="26" name="">
            <a:extLst xmlns:a="http://schemas.openxmlformats.org/drawingml/2006/main">
              <a:ext uri="{FF2B5EF4-FFF2-40B4-BE49-F238E27FC236}">
                <a16:creationId xmlns:a16="http://schemas.microsoft.com/office/drawing/2014/main" id="{EA29B973-FF19-4078-A979-57C643B7CEBE}"/>
              </a:ext>
            </a:extLst>
          </p:cNvPr>
          <p:cNvSpPr>
            <a:spLocks xmlns:a="http://schemas.openxmlformats.org/drawingml/2006/main" noGrp="1"/>
          </p:cNvSpPr>
          <p:nvPr/>
        </p:nvSpPr>
        <p:spPr>
          <a:xfrm xmlns:a="http://schemas.openxmlformats.org/drawingml/2006/main">
            <a:off x="1181100" y="4591050"/>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Ravi and Meera sample work</a:t>
            </a:r>
          </a:p>
        </p:txBody>
      </p:sp>
      <p:sp>
        <p:nvSpPr>
          <p:cNvPr id="27" name="">
            <a:extLst xmlns:a="http://schemas.openxmlformats.org/drawingml/2006/main">
              <a:ext uri="{FF2B5EF4-FFF2-40B4-BE49-F238E27FC236}">
                <a16:creationId xmlns:a16="http://schemas.microsoft.com/office/drawing/2014/main" id="{18BDEA53-B0DA-49B0-B5CF-31087D980EC5}"/>
              </a:ext>
            </a:extLst>
          </p:cNvPr>
          <p:cNvSpPr>
            <a:spLocks xmlns:a="http://schemas.openxmlformats.org/drawingml/2006/main" noGrp="1"/>
          </p:cNvSpPr>
          <p:nvPr/>
        </p:nvSpPr>
        <p:spPr>
          <a:xfrm xmlns:a="http://schemas.openxmlformats.org/drawingml/2006/main">
            <a:off x="1181100" y="50673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Patient mapping and stable source IDs</a:t>
            </a:r>
          </a:p>
        </p:txBody>
      </p:sp>
      <p:sp>
        <p:nvSpPr>
          <p:cNvPr id="28" name="">
            <a:extLst xmlns:a="http://schemas.openxmlformats.org/drawingml/2006/main">
              <a:ext uri="{FF2B5EF4-FFF2-40B4-BE49-F238E27FC236}">
                <a16:creationId xmlns:a16="http://schemas.microsoft.com/office/drawing/2014/main" id="{1E61A0C8-D0F4-42A9-BBBB-EDDD250EACF2}"/>
              </a:ext>
            </a:extLst>
          </p:cNvPr>
          <p:cNvSpPr>
            <a:spLocks xmlns:a="http://schemas.openxmlformats.org/drawingml/2006/main" noGrp="1"/>
          </p:cNvSpPr>
          <p:nvPr/>
        </p:nvSpPr>
        <p:spPr>
          <a:xfrm xmlns:a="http://schemas.openxmlformats.org/drawingml/2006/main">
            <a:off x="6477000" y="4619625"/>
            <a:ext cx="361950" cy="3619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29" name="">
            <a:extLst xmlns:a="http://schemas.openxmlformats.org/drawingml/2006/main">
              <a:ext uri="{FF2B5EF4-FFF2-40B4-BE49-F238E27FC236}">
                <a16:creationId xmlns:a16="http://schemas.microsoft.com/office/drawing/2014/main" id="{2D41C7F6-5DC0-443F-BD0B-6AB83E4CB74D}"/>
              </a:ext>
            </a:extLst>
          </p:cNvPr>
          <p:cNvSpPr>
            <a:spLocks xmlns:a="http://schemas.openxmlformats.org/drawingml/2006/main" noGrp="1"/>
          </p:cNvSpPr>
          <p:nvPr/>
        </p:nvSpPr>
        <p:spPr>
          <a:xfrm xmlns:a="http://schemas.openxmlformats.org/drawingml/2006/main">
            <a:off x="6581775" y="46577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56A0"/>
                </a:solidFill>
                <a:latin typeface="Bitstream Charter"/>
                <a:ea typeface="Bitstream Charter"/>
                <a:cs typeface="Bitstream Charter"/>
              </a:defRPr>
            </a:pPr>
            <a:r>
              <a:rPr sz="1650" b="1">
                <a:solidFill>
                  <a:srgbClr val="1456A0"/>
                </a:solidFill>
                <a:latin typeface="Bitstream Charter"/>
                <a:ea typeface="Bitstream Charter"/>
                <a:cs typeface="Bitstream Charter"/>
              </a:rPr>
              <a:t>3</a:t>
            </a:r>
          </a:p>
        </p:txBody>
      </p:sp>
      <p:sp>
        <p:nvSpPr>
          <p:cNvPr id="31" name="">
            <a:extLst xmlns:a="http://schemas.openxmlformats.org/drawingml/2006/main">
              <a:ext uri="{FF2B5EF4-FFF2-40B4-BE49-F238E27FC236}">
                <a16:creationId xmlns:a16="http://schemas.microsoft.com/office/drawing/2014/main" id="{F267F355-F164-4C7C-9671-9B8161C9571D}"/>
              </a:ext>
            </a:extLst>
          </p:cNvPr>
          <p:cNvSpPr>
            <a:spLocks xmlns:a="http://schemas.openxmlformats.org/drawingml/2006/main" noGrp="1"/>
          </p:cNvSpPr>
          <p:nvPr/>
        </p:nvSpPr>
        <p:spPr>
          <a:xfrm xmlns:a="http://schemas.openxmlformats.org/drawingml/2006/main">
            <a:off x="7048500" y="4591050"/>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56A0"/>
                </a:solidFill>
                <a:latin typeface="Bitstream Charter"/>
                <a:ea typeface="Bitstream Charter"/>
                <a:cs typeface="Bitstream Charter"/>
              </a:defRPr>
            </a:pPr>
            <a:r>
              <a:rPr sz="2100" b="1">
                <a:solidFill>
                  <a:srgbClr val="1456A0"/>
                </a:solidFill>
                <a:latin typeface="Bitstream Charter"/>
                <a:ea typeface="Bitstream Charter"/>
                <a:cs typeface="Bitstream Charter"/>
              </a:rPr>
              <a:t>Appointment and first check</a:t>
            </a:r>
          </a:p>
        </p:txBody>
      </p:sp>
      <p:sp>
        <p:nvSpPr>
          <p:cNvPr id="32" name="">
            <a:extLst xmlns:a="http://schemas.openxmlformats.org/drawingml/2006/main">
              <a:ext uri="{FF2B5EF4-FFF2-40B4-BE49-F238E27FC236}">
                <a16:creationId xmlns:a16="http://schemas.microsoft.com/office/drawing/2014/main" id="{4EE38B7F-0FA7-4EC1-98DC-E8EAF7642DEE}"/>
              </a:ext>
            </a:extLst>
          </p:cNvPr>
          <p:cNvSpPr>
            <a:spLocks xmlns:a="http://schemas.openxmlformats.org/drawingml/2006/main" noGrp="1"/>
          </p:cNvSpPr>
          <p:nvPr/>
        </p:nvSpPr>
        <p:spPr>
          <a:xfrm xmlns:a="http://schemas.openxmlformats.org/drawingml/2006/main">
            <a:off x="7048500" y="50673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7-day match / 1-day no-match reported</a:t>
            </a:r>
          </a:p>
        </p:txBody>
      </p:sp>
      <p:sp>
        <p:nvSpPr>
          <p:cNvPr id="33" name="">
            <a:extLst xmlns:a="http://schemas.openxmlformats.org/drawingml/2006/main">
              <a:ext uri="{FF2B5EF4-FFF2-40B4-BE49-F238E27FC236}">
                <a16:creationId xmlns:a16="http://schemas.microsoft.com/office/drawing/2014/main" id="{5EBE8C38-30CD-4A28-B274-0A4F199B9827}"/>
              </a:ext>
            </a:extLst>
          </p:cNvPr>
          <p:cNvSpPr>
            <a:spLocks xmlns:a="http://schemas.openxmlformats.org/drawingml/2006/main" noGrp="1"/>
          </p:cNvSpPr>
          <p:nvPr/>
        </p:nvSpPr>
        <p:spPr>
          <a:xfrm xmlns:a="http://schemas.openxmlformats.org/drawingml/2006/main">
            <a:off x="609600" y="6143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Local work continued while AWS connectivity remained unresolved.</a:t>
            </a:r>
          </a:p>
        </p:txBody>
      </p:sp>
    </p:spTree>
    <p:extLst>
      <p:ext uri="{BB962C8B-B14F-4D97-AF65-F5344CB8AC3E}">
        <p14:creationId xmlns:p14="http://schemas.microsoft.com/office/powerpoint/2010/main" val="9475727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p:cNvCxnSpPr>
            <a:stCxn xmlns:a="http://schemas.openxmlformats.org/drawingml/2006/main" id="15" idx="1"/>
            <a:endCxn xmlns:a="http://schemas.openxmlformats.org/drawingml/2006/main" id="13" idx="3"/>
          </p:cNvCxnSpPr>
          <p:nvPr/>
        </p:nvCxnSpPr>
        <p:spPr>
          <a:xfrm xmlns:a="http://schemas.openxmlformats.org/drawingml/2006/main" flipH="1">
            <a:off x="7658100" y="4119563"/>
            <a:ext cx="762000" cy="0"/>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22" name=""/>
          <p:cNvCxnSpPr>
            <a:stCxn xmlns:a="http://schemas.openxmlformats.org/drawingml/2006/main" id="7" idx="2"/>
            <a:endCxn xmlns:a="http://schemas.openxmlformats.org/drawingml/2006/main" id="15" idx="0"/>
          </p:cNvCxnSpPr>
          <p:nvPr/>
        </p:nvCxnSpPr>
        <p:spPr>
          <a:xfrm xmlns:a="http://schemas.openxmlformats.org/drawingml/2006/main">
            <a:off x="9991725" y="2619375"/>
            <a:ext cx="0" cy="100012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23" name=""/>
          <p:cNvCxnSpPr>
            <a:stCxn xmlns:a="http://schemas.openxmlformats.org/drawingml/2006/main" id="11" idx="3"/>
            <a:endCxn xmlns:a="http://schemas.openxmlformats.org/drawingml/2006/main" id="13" idx="1"/>
          </p:cNvCxnSpPr>
          <p:nvPr/>
        </p:nvCxnSpPr>
        <p:spPr>
          <a:xfrm xmlns:a="http://schemas.openxmlformats.org/drawingml/2006/main">
            <a:off x="3752850" y="4119563"/>
            <a:ext cx="762000" cy="0"/>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7658100" y="2119313"/>
            <a:ext cx="762000" cy="0"/>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25" name=""/>
          <p:cNvCxnSpPr>
            <a:stCxn xmlns:a="http://schemas.openxmlformats.org/drawingml/2006/main" id="3" idx="3"/>
            <a:endCxn xmlns:a="http://schemas.openxmlformats.org/drawingml/2006/main" id="5" idx="1"/>
          </p:cNvCxnSpPr>
          <p:nvPr/>
        </p:nvCxnSpPr>
        <p:spPr>
          <a:xfrm xmlns:a="http://schemas.openxmlformats.org/drawingml/2006/main">
            <a:off x="3752850" y="2119313"/>
            <a:ext cx="762000" cy="0"/>
          </a:xfrm>
          <a:prstGeom xmlns:a="http://schemas.openxmlformats.org/drawingml/2006/main" prst="straightConnector1">
            <a:avLst/>
          </a:prstGeom>
          <a:ln xmlns:a="http://schemas.openxmlformats.org/drawingml/2006/main" w="19050">
            <a:solidFill>
              <a:srgbClr val="1456A0"/>
            </a:solidFill>
            <a:tailEnd type="triangle" w="sm" len="sm"/>
          </a:ln>
        </p:spPr>
      </p:cxnSp>
      <p:sp>
        <p:nvSpPr>
          <p:cNvPr id="26" name="">
            <a:extLst xmlns:a="http://schemas.openxmlformats.org/drawingml/2006/main">
              <a:ext uri="{FF2B5EF4-FFF2-40B4-BE49-F238E27FC236}">
                <a16:creationId xmlns:a16="http://schemas.microsoft.com/office/drawing/2014/main" id="{F046252A-B403-43D0-AB58-BA396F678519}"/>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The local demo we can now explain</a:t>
            </a:r>
          </a:p>
        </p:txBody>
      </p:sp>
      <p:sp>
        <p:nvSpPr>
          <p:cNvPr id="2" name="">
            <a:extLst xmlns:a="http://schemas.openxmlformats.org/drawingml/2006/main">
              <a:ext uri="{FF2B5EF4-FFF2-40B4-BE49-F238E27FC236}">
                <a16:creationId xmlns:a16="http://schemas.microsoft.com/office/drawing/2014/main" id="{7D756BBD-21D8-433A-B2C6-10F4B14A5E83}"/>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8E005DCD-D51A-49A9-BCBB-CA460E78C748}"/>
              </a:ext>
            </a:extLst>
          </p:cNvPr>
          <p:cNvSpPr>
            <a:spLocks xmlns:a="http://schemas.openxmlformats.org/drawingml/2006/main" noGrp="1"/>
          </p:cNvSpPr>
          <p:nvPr/>
        </p:nvSpPr>
        <p:spPr>
          <a:xfrm xmlns:a="http://schemas.openxmlformats.org/drawingml/2006/main">
            <a:off x="609600" y="16192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4" name="">
            <a:extLst xmlns:a="http://schemas.openxmlformats.org/drawingml/2006/main">
              <a:ext uri="{FF2B5EF4-FFF2-40B4-BE49-F238E27FC236}">
                <a16:creationId xmlns:a16="http://schemas.microsoft.com/office/drawing/2014/main" id="{8B1D04BB-7AED-4F39-97F9-CC9F0F51031C}"/>
              </a:ext>
            </a:extLst>
          </p:cNvPr>
          <p:cNvSpPr>
            <a:spLocks xmlns:a="http://schemas.openxmlformats.org/drawingml/2006/main" noGrp="1"/>
          </p:cNvSpPr>
          <p:nvPr/>
        </p:nvSpPr>
        <p:spPr>
          <a:xfrm xmlns:a="http://schemas.openxmlformats.org/drawingml/2006/main">
            <a:off x="781050" y="176212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HL7 input</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Patient / lab message</a:t>
            </a:r>
          </a:p>
        </p:txBody>
      </p:sp>
      <p:sp>
        <p:nvSpPr>
          <p:cNvPr id="5" name="">
            <a:extLst xmlns:a="http://schemas.openxmlformats.org/drawingml/2006/main">
              <a:ext uri="{FF2B5EF4-FFF2-40B4-BE49-F238E27FC236}">
                <a16:creationId xmlns:a16="http://schemas.microsoft.com/office/drawing/2014/main" id="{C9A9385B-79A8-4EAF-BF1D-E032C55736FA}"/>
              </a:ext>
            </a:extLst>
          </p:cNvPr>
          <p:cNvSpPr>
            <a:spLocks xmlns:a="http://schemas.openxmlformats.org/drawingml/2006/main" noGrp="1"/>
          </p:cNvSpPr>
          <p:nvPr/>
        </p:nvSpPr>
        <p:spPr>
          <a:xfrm xmlns:a="http://schemas.openxmlformats.org/drawingml/2006/main">
            <a:off x="4514850" y="16192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6" name="">
            <a:extLst xmlns:a="http://schemas.openxmlformats.org/drawingml/2006/main">
              <a:ext uri="{FF2B5EF4-FFF2-40B4-BE49-F238E27FC236}">
                <a16:creationId xmlns:a16="http://schemas.microsoft.com/office/drawing/2014/main" id="{DD71F22F-2C88-4CEF-A200-06DBEDC47DD7}"/>
              </a:ext>
            </a:extLst>
          </p:cNvPr>
          <p:cNvSpPr>
            <a:spLocks xmlns:a="http://schemas.openxmlformats.org/drawingml/2006/main" noGrp="1"/>
          </p:cNvSpPr>
          <p:nvPr/>
        </p:nvSpPr>
        <p:spPr>
          <a:xfrm xmlns:a="http://schemas.openxmlformats.org/drawingml/2006/main">
            <a:off x="4686300" y="176212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Python converter</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FHIR JSON file</a:t>
            </a:r>
          </a:p>
        </p:txBody>
      </p:sp>
      <p:sp>
        <p:nvSpPr>
          <p:cNvPr id="7" name="">
            <a:extLst xmlns:a="http://schemas.openxmlformats.org/drawingml/2006/main">
              <a:ext uri="{FF2B5EF4-FFF2-40B4-BE49-F238E27FC236}">
                <a16:creationId xmlns:a16="http://schemas.microsoft.com/office/drawing/2014/main" id="{315FDD96-5D68-4045-B5C2-935CA14C31FE}"/>
              </a:ext>
            </a:extLst>
          </p:cNvPr>
          <p:cNvSpPr>
            <a:spLocks xmlns:a="http://schemas.openxmlformats.org/drawingml/2006/main" noGrp="1"/>
          </p:cNvSpPr>
          <p:nvPr/>
        </p:nvSpPr>
        <p:spPr>
          <a:xfrm xmlns:a="http://schemas.openxmlformats.org/drawingml/2006/main">
            <a:off x="8420100" y="16192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8" name="">
            <a:extLst xmlns:a="http://schemas.openxmlformats.org/drawingml/2006/main">
              <a:ext uri="{FF2B5EF4-FFF2-40B4-BE49-F238E27FC236}">
                <a16:creationId xmlns:a16="http://schemas.microsoft.com/office/drawing/2014/main" id="{D028BA8D-23CA-489C-BB4C-5861475C563E}"/>
              </a:ext>
            </a:extLst>
          </p:cNvPr>
          <p:cNvSpPr>
            <a:spLocks xmlns:a="http://schemas.openxmlformats.org/drawingml/2006/main" noGrp="1"/>
          </p:cNvSpPr>
          <p:nvPr/>
        </p:nvSpPr>
        <p:spPr>
          <a:xfrm xmlns:a="http://schemas.openxmlformats.org/drawingml/2006/main">
            <a:off x="8591550" y="176212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Firely API</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Save / read records</a:t>
            </a:r>
          </a:p>
        </p:txBody>
      </p:sp>
      <p:sp>
        <p:nvSpPr>
          <p:cNvPr id="11" name="">
            <a:extLst xmlns:a="http://schemas.openxmlformats.org/drawingml/2006/main">
              <a:ext uri="{FF2B5EF4-FFF2-40B4-BE49-F238E27FC236}">
                <a16:creationId xmlns:a16="http://schemas.microsoft.com/office/drawing/2014/main" id="{38B5AF34-2A8D-412D-969D-E35B42BE0100}"/>
              </a:ext>
            </a:extLst>
          </p:cNvPr>
          <p:cNvSpPr>
            <a:spLocks xmlns:a="http://schemas.openxmlformats.org/drawingml/2006/main" noGrp="1"/>
          </p:cNvSpPr>
          <p:nvPr/>
        </p:nvSpPr>
        <p:spPr>
          <a:xfrm xmlns:a="http://schemas.openxmlformats.org/drawingml/2006/main">
            <a:off x="609600" y="3619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12" name="">
            <a:extLst xmlns:a="http://schemas.openxmlformats.org/drawingml/2006/main">
              <a:ext uri="{FF2B5EF4-FFF2-40B4-BE49-F238E27FC236}">
                <a16:creationId xmlns:a16="http://schemas.microsoft.com/office/drawing/2014/main" id="{49AC394C-6F1F-4687-85A5-231E1316A8C3}"/>
              </a:ext>
            </a:extLst>
          </p:cNvPr>
          <p:cNvSpPr>
            <a:spLocks xmlns:a="http://schemas.openxmlformats.org/drawingml/2006/main" noGrp="1"/>
          </p:cNvSpPr>
          <p:nvPr/>
        </p:nvSpPr>
        <p:spPr>
          <a:xfrm xmlns:a="http://schemas.openxmlformats.org/drawingml/2006/main">
            <a:off x="781050" y="376237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FHIR appointment</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Ravi, October 6</a:t>
            </a:r>
          </a:p>
        </p:txBody>
      </p:sp>
      <p:sp>
        <p:nvSpPr>
          <p:cNvPr id="13" name="">
            <a:extLst xmlns:a="http://schemas.openxmlformats.org/drawingml/2006/main">
              <a:ext uri="{FF2B5EF4-FFF2-40B4-BE49-F238E27FC236}">
                <a16:creationId xmlns:a16="http://schemas.microsoft.com/office/drawing/2014/main" id="{921B6A84-ECB9-4E1E-AD8C-980EBAC5C170}"/>
              </a:ext>
            </a:extLst>
          </p:cNvPr>
          <p:cNvSpPr>
            <a:spLocks xmlns:a="http://schemas.openxmlformats.org/drawingml/2006/main" noGrp="1"/>
          </p:cNvSpPr>
          <p:nvPr/>
        </p:nvSpPr>
        <p:spPr>
          <a:xfrm xmlns:a="http://schemas.openxmlformats.org/drawingml/2006/main">
            <a:off x="4514850" y="3619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14" name="">
            <a:extLst xmlns:a="http://schemas.openxmlformats.org/drawingml/2006/main">
              <a:ext uri="{FF2B5EF4-FFF2-40B4-BE49-F238E27FC236}">
                <a16:creationId xmlns:a16="http://schemas.microsoft.com/office/drawing/2014/main" id="{1A81B48D-F4A6-42D4-87CF-6A5EE7C6C4C2}"/>
              </a:ext>
            </a:extLst>
          </p:cNvPr>
          <p:cNvSpPr>
            <a:spLocks xmlns:a="http://schemas.openxmlformats.org/drawingml/2006/main" noGrp="1"/>
          </p:cNvSpPr>
          <p:nvPr/>
        </p:nvSpPr>
        <p:spPr>
          <a:xfrm xmlns:a="http://schemas.openxmlformats.org/drawingml/2006/main">
            <a:off x="4686300" y="376237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Information check</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Before visit</a:t>
            </a:r>
          </a:p>
        </p:txBody>
      </p:sp>
      <p:sp>
        <p:nvSpPr>
          <p:cNvPr id="15" name="">
            <a:extLst xmlns:a="http://schemas.openxmlformats.org/drawingml/2006/main">
              <a:ext uri="{FF2B5EF4-FFF2-40B4-BE49-F238E27FC236}">
                <a16:creationId xmlns:a16="http://schemas.microsoft.com/office/drawing/2014/main" id="{041BDCDE-AF77-4864-ACC8-CA80763DFD34}"/>
              </a:ext>
            </a:extLst>
          </p:cNvPr>
          <p:cNvSpPr>
            <a:spLocks xmlns:a="http://schemas.openxmlformats.org/drawingml/2006/main" noGrp="1"/>
          </p:cNvSpPr>
          <p:nvPr/>
        </p:nvSpPr>
        <p:spPr>
          <a:xfrm xmlns:a="http://schemas.openxmlformats.org/drawingml/2006/main">
            <a:off x="8420100" y="3619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1456A0"/>
            </a:solidFill>
          </a:ln>
        </p:spPr>
      </p:sp>
      <p:sp>
        <p:nvSpPr>
          <p:cNvPr id="16" name="">
            <a:extLst xmlns:a="http://schemas.openxmlformats.org/drawingml/2006/main">
              <a:ext uri="{FF2B5EF4-FFF2-40B4-BE49-F238E27FC236}">
                <a16:creationId xmlns:a16="http://schemas.microsoft.com/office/drawing/2014/main" id="{A284F0B5-6049-44C3-8177-D2184F3F42E9}"/>
              </a:ext>
            </a:extLst>
          </p:cNvPr>
          <p:cNvSpPr>
            <a:spLocks xmlns:a="http://schemas.openxmlformats.org/drawingml/2006/main" noGrp="1"/>
          </p:cNvSpPr>
          <p:nvPr/>
        </p:nvSpPr>
        <p:spPr>
          <a:xfrm xmlns:a="http://schemas.openxmlformats.org/drawingml/2006/main">
            <a:off x="8591550" y="3762375"/>
            <a:ext cx="2800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API record links</a:t>
            </a:r>
          </a:p>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Ravi + two labs</a:t>
            </a:r>
          </a:p>
        </p:txBody>
      </p:sp>
      <p:sp>
        <p:nvSpPr>
          <p:cNvPr id="20" name="">
            <a:extLst xmlns:a="http://schemas.openxmlformats.org/drawingml/2006/main">
              <a:ext uri="{FF2B5EF4-FFF2-40B4-BE49-F238E27FC236}">
                <a16:creationId xmlns:a16="http://schemas.microsoft.com/office/drawing/2014/main" id="{A376D66A-9339-4B7E-9C92-7B4173C62E2D}"/>
              </a:ext>
            </a:extLst>
          </p:cNvPr>
          <p:cNvSpPr>
            <a:spLocks xmlns:a="http://schemas.openxmlformats.org/drawingml/2006/main" noGrp="1"/>
          </p:cNvSpPr>
          <p:nvPr/>
        </p:nvSpPr>
        <p:spPr>
          <a:xfrm xmlns:a="http://schemas.openxmlformats.org/drawingml/2006/main">
            <a:off x="609600" y="5238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56A0"/>
                </a:solidFill>
                <a:latin typeface="Bitstream Charter"/>
                <a:ea typeface="Bitstream Charter"/>
                <a:cs typeface="Bitstream Charter"/>
              </a:defRPr>
            </a:pPr>
            <a:r>
              <a:rPr sz="2100" b="0">
                <a:solidFill>
                  <a:srgbClr val="1456A0"/>
                </a:solidFill>
                <a:latin typeface="Bitstream Charter"/>
                <a:ea typeface="Bitstream Charter"/>
                <a:cs typeface="Bitstream Charter"/>
              </a:rPr>
              <a:t>Demo results: 7-day window finds 2 records. 1-day window finds none.</a:t>
            </a:r>
          </a:p>
          <a:p xmlns:a="http://schemas.openxmlformats.org/drawingml/2006/main">
            <a:pPr>
              <a:defRPr sz="2100" b="0">
                <a:solidFill>
                  <a:srgbClr val="1456A0"/>
                </a:solidFill>
                <a:latin typeface="Bitstream Charter"/>
                <a:ea typeface="Bitstream Charter"/>
                <a:cs typeface="Bitstream Charter"/>
              </a:defRPr>
            </a:pPr>
            <a:r>
              <a:rPr sz="2100" b="0">
                <a:solidFill>
                  <a:srgbClr val="1456A0"/>
                </a:solidFill>
                <a:latin typeface="Bitstream Charter"/>
                <a:ea typeface="Bitstream Charter"/>
                <a:cs typeface="Bitstream Charter"/>
              </a:rPr>
              <a:t>These are synthetic expectations, not clinical rules.</a:t>
            </a:r>
          </a:p>
        </p:txBody>
      </p:sp>
    </p:spTree>
    <p:extLst>
      <p:ext uri="{BB962C8B-B14F-4D97-AF65-F5344CB8AC3E}">
        <p14:creationId xmlns:p14="http://schemas.microsoft.com/office/powerpoint/2010/main" val="1445703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p:cNvCxnSpPr>
            <a:stCxn xmlns:a="http://schemas.openxmlformats.org/drawingml/2006/main" id="19" idx="4"/>
            <a:endCxn xmlns:a="http://schemas.openxmlformats.org/drawingml/2006/main" id="26" idx="0"/>
          </p:cNvCxnSpPr>
          <p:nvPr/>
        </p:nvCxnSpPr>
        <p:spPr>
          <a:xfrm xmlns:a="http://schemas.openxmlformats.org/drawingml/2006/main">
            <a:off x="904875" y="4305300"/>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5" name=""/>
          <p:cNvCxnSpPr>
            <a:stCxn xmlns:a="http://schemas.openxmlformats.org/drawingml/2006/main" id="12" idx="4"/>
            <a:endCxn xmlns:a="http://schemas.openxmlformats.org/drawingml/2006/main" id="19" idx="0"/>
          </p:cNvCxnSpPr>
          <p:nvPr/>
        </p:nvCxnSpPr>
        <p:spPr>
          <a:xfrm xmlns:a="http://schemas.openxmlformats.org/drawingml/2006/main">
            <a:off x="904875" y="3400425"/>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6" name=""/>
          <p:cNvCxnSpPr>
            <a:stCxn xmlns:a="http://schemas.openxmlformats.org/drawingml/2006/main" id="6" idx="4"/>
            <a:endCxn xmlns:a="http://schemas.openxmlformats.org/drawingml/2006/main" id="12" idx="0"/>
          </p:cNvCxnSpPr>
          <p:nvPr/>
        </p:nvCxnSpPr>
        <p:spPr>
          <a:xfrm xmlns:a="http://schemas.openxmlformats.org/drawingml/2006/main">
            <a:off x="904875" y="2495550"/>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sp>
        <p:nvSpPr>
          <p:cNvPr id="37" name="">
            <a:extLst xmlns:a="http://schemas.openxmlformats.org/drawingml/2006/main">
              <a:ext uri="{FF2B5EF4-FFF2-40B4-BE49-F238E27FC236}">
                <a16:creationId xmlns:a16="http://schemas.microsoft.com/office/drawing/2014/main" id="{CBBE35ED-7FF7-45AF-9EFF-4914F05E9BD1}"/>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Milestone map: foundation and database</a:t>
            </a:r>
          </a:p>
        </p:txBody>
      </p:sp>
      <p:sp>
        <p:nvSpPr>
          <p:cNvPr id="2" name="">
            <a:extLst xmlns:a="http://schemas.openxmlformats.org/drawingml/2006/main">
              <a:ext uri="{FF2B5EF4-FFF2-40B4-BE49-F238E27FC236}">
                <a16:creationId xmlns:a16="http://schemas.microsoft.com/office/drawing/2014/main" id="{CADD9251-C556-4ADB-8794-B7818FD61B50}"/>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09</a:t>
            </a:r>
          </a:p>
        </p:txBody>
      </p:sp>
      <p:sp>
        <p:nvSpPr>
          <p:cNvPr id="3" name="">
            <a:extLst xmlns:a="http://schemas.openxmlformats.org/drawingml/2006/main">
              <a:ext uri="{FF2B5EF4-FFF2-40B4-BE49-F238E27FC236}">
                <a16:creationId xmlns:a16="http://schemas.microsoft.com/office/drawing/2014/main" id="{0E10EE79-EA3B-44F7-B014-AD76345BEFC7}"/>
              </a:ext>
            </a:extLst>
          </p:cNvPr>
          <p:cNvSpPr>
            <a:spLocks xmlns:a="http://schemas.openxmlformats.org/drawingml/2006/main" noGrp="1"/>
          </p:cNvSpPr>
          <p:nvPr/>
        </p:nvSpPr>
        <p:spPr>
          <a:xfrm xmlns:a="http://schemas.openxmlformats.org/drawingml/2006/main">
            <a:off x="1333500" y="14287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Phase and status</a:t>
            </a:r>
          </a:p>
        </p:txBody>
      </p:sp>
      <p:sp>
        <p:nvSpPr>
          <p:cNvPr id="4" name="">
            <a:extLst xmlns:a="http://schemas.openxmlformats.org/drawingml/2006/main">
              <a:ext uri="{FF2B5EF4-FFF2-40B4-BE49-F238E27FC236}">
                <a16:creationId xmlns:a16="http://schemas.microsoft.com/office/drawing/2014/main" id="{CA59AE73-3CEC-497F-AB32-FB6C0E919F2D}"/>
              </a:ext>
            </a:extLst>
          </p:cNvPr>
          <p:cNvSpPr>
            <a:spLocks xmlns:a="http://schemas.openxmlformats.org/drawingml/2006/main" noGrp="1"/>
          </p:cNvSpPr>
          <p:nvPr/>
        </p:nvSpPr>
        <p:spPr>
          <a:xfrm xmlns:a="http://schemas.openxmlformats.org/drawingml/2006/main">
            <a:off x="4476750" y="14287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Includes</a:t>
            </a:r>
          </a:p>
        </p:txBody>
      </p:sp>
      <p:sp>
        <p:nvSpPr>
          <p:cNvPr id="5" name="">
            <a:extLst xmlns:a="http://schemas.openxmlformats.org/drawingml/2006/main">
              <a:ext uri="{FF2B5EF4-FFF2-40B4-BE49-F238E27FC236}">
                <a16:creationId xmlns:a16="http://schemas.microsoft.com/office/drawing/2014/main" id="{96E3565B-245C-4E04-A0E3-85E0E3712B94}"/>
              </a:ext>
            </a:extLst>
          </p:cNvPr>
          <p:cNvSpPr>
            <a:spLocks xmlns:a="http://schemas.openxmlformats.org/drawingml/2006/main" noGrp="1"/>
          </p:cNvSpPr>
          <p:nvPr/>
        </p:nvSpPr>
        <p:spPr>
          <a:xfrm xmlns:a="http://schemas.openxmlformats.org/drawingml/2006/main">
            <a:off x="8096250" y="14287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Contribution to the goal</a:t>
            </a:r>
          </a:p>
        </p:txBody>
      </p:sp>
      <p:sp>
        <p:nvSpPr>
          <p:cNvPr id="6" name="">
            <a:extLst xmlns:a="http://schemas.openxmlformats.org/drawingml/2006/main">
              <a:ext uri="{FF2B5EF4-FFF2-40B4-BE49-F238E27FC236}">
                <a16:creationId xmlns:a16="http://schemas.microsoft.com/office/drawing/2014/main" id="{EF25A41F-B197-4F82-98B0-1531BC70D48E}"/>
              </a:ext>
            </a:extLst>
          </p:cNvPr>
          <p:cNvSpPr>
            <a:spLocks xmlns:a="http://schemas.openxmlformats.org/drawingml/2006/main" noGrp="1"/>
          </p:cNvSpPr>
          <p:nvPr/>
        </p:nvSpPr>
        <p:spPr>
          <a:xfrm xmlns:a="http://schemas.openxmlformats.org/drawingml/2006/main">
            <a:off x="704850" y="2095500"/>
            <a:ext cx="400050" cy="4000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7" name="">
            <a:extLst xmlns:a="http://schemas.openxmlformats.org/drawingml/2006/main">
              <a:ext uri="{FF2B5EF4-FFF2-40B4-BE49-F238E27FC236}">
                <a16:creationId xmlns:a16="http://schemas.microsoft.com/office/drawing/2014/main" id="{25F828B1-2784-4447-9077-D3111F175EB5}"/>
              </a:ext>
            </a:extLst>
          </p:cNvPr>
          <p:cNvSpPr>
            <a:spLocks xmlns:a="http://schemas.openxmlformats.org/drawingml/2006/main" noGrp="1"/>
          </p:cNvSpPr>
          <p:nvPr/>
        </p:nvSpPr>
        <p:spPr>
          <a:xfrm xmlns:a="http://schemas.openxmlformats.org/drawingml/2006/main">
            <a:off x="809625" y="21240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1</a:t>
            </a:r>
          </a:p>
        </p:txBody>
      </p:sp>
      <p:sp>
        <p:nvSpPr>
          <p:cNvPr id="8" name="">
            <a:extLst xmlns:a="http://schemas.openxmlformats.org/drawingml/2006/main">
              <a:ext uri="{FF2B5EF4-FFF2-40B4-BE49-F238E27FC236}">
                <a16:creationId xmlns:a16="http://schemas.microsoft.com/office/drawing/2014/main" id="{82B5CD0C-CF5C-4422-A9F1-A4D716E11736}"/>
              </a:ext>
            </a:extLst>
          </p:cNvPr>
          <p:cNvSpPr>
            <a:spLocks xmlns:a="http://schemas.openxmlformats.org/drawingml/2006/main" noGrp="1"/>
          </p:cNvSpPr>
          <p:nvPr/>
        </p:nvSpPr>
        <p:spPr>
          <a:xfrm xmlns:a="http://schemas.openxmlformats.org/drawingml/2006/main">
            <a:off x="1333500" y="2047875"/>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Local FHIR server</a:t>
            </a:r>
          </a:p>
        </p:txBody>
      </p:sp>
      <p:sp>
        <p:nvSpPr>
          <p:cNvPr id="9" name="">
            <a:extLst xmlns:a="http://schemas.openxmlformats.org/drawingml/2006/main">
              <a:ext uri="{FF2B5EF4-FFF2-40B4-BE49-F238E27FC236}">
                <a16:creationId xmlns:a16="http://schemas.microsoft.com/office/drawing/2014/main" id="{09BCFD5F-0F9B-4B1F-9640-22F5EDC48C14}"/>
              </a:ext>
            </a:extLst>
          </p:cNvPr>
          <p:cNvSpPr>
            <a:spLocks xmlns:a="http://schemas.openxmlformats.org/drawingml/2006/main" noGrp="1"/>
          </p:cNvSpPr>
          <p:nvPr/>
        </p:nvSpPr>
        <p:spPr>
          <a:xfrm xmlns:a="http://schemas.openxmlformats.org/drawingml/2006/main">
            <a:off x="1333500" y="24098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COMPLETE IN DEMO</a:t>
            </a:r>
          </a:p>
        </p:txBody>
      </p:sp>
      <p:sp>
        <p:nvSpPr>
          <p:cNvPr id="10" name="">
            <a:extLst xmlns:a="http://schemas.openxmlformats.org/drawingml/2006/main">
              <a:ext uri="{FF2B5EF4-FFF2-40B4-BE49-F238E27FC236}">
                <a16:creationId xmlns:a16="http://schemas.microsoft.com/office/drawing/2014/main" id="{16285CB8-FCD6-4CE1-B021-B6670E250B3E}"/>
              </a:ext>
            </a:extLst>
          </p:cNvPr>
          <p:cNvSpPr>
            <a:spLocks xmlns:a="http://schemas.openxmlformats.org/drawingml/2006/main" noGrp="1"/>
          </p:cNvSpPr>
          <p:nvPr/>
        </p:nvSpPr>
        <p:spPr>
          <a:xfrm xmlns:a="http://schemas.openxmlformats.org/drawingml/2006/main">
            <a:off x="4476750" y="2047875"/>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Docker, Firely 6.10.0, FHIR R4</a:t>
            </a:r>
          </a:p>
        </p:txBody>
      </p:sp>
      <p:sp>
        <p:nvSpPr>
          <p:cNvPr id="11" name="">
            <a:extLst xmlns:a="http://schemas.openxmlformats.org/drawingml/2006/main">
              <a:ext uri="{FF2B5EF4-FFF2-40B4-BE49-F238E27FC236}">
                <a16:creationId xmlns:a16="http://schemas.microsoft.com/office/drawing/2014/main" id="{1DD8AC72-AB23-486D-8650-3D86933016D4}"/>
              </a:ext>
            </a:extLst>
          </p:cNvPr>
          <p:cNvSpPr>
            <a:spLocks xmlns:a="http://schemas.openxmlformats.org/drawingml/2006/main" noGrp="1"/>
          </p:cNvSpPr>
          <p:nvPr/>
        </p:nvSpPr>
        <p:spPr>
          <a:xfrm xmlns:a="http://schemas.openxmlformats.org/drawingml/2006/main">
            <a:off x="8096250" y="2047875"/>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A working home for healthcare records</a:t>
            </a:r>
          </a:p>
        </p:txBody>
      </p:sp>
      <p:sp>
        <p:nvSpPr>
          <p:cNvPr id="12" name="">
            <a:extLst xmlns:a="http://schemas.openxmlformats.org/drawingml/2006/main">
              <a:ext uri="{FF2B5EF4-FFF2-40B4-BE49-F238E27FC236}">
                <a16:creationId xmlns:a16="http://schemas.microsoft.com/office/drawing/2014/main" id="{53617C31-4690-41F8-B589-733E9A73852F}"/>
              </a:ext>
            </a:extLst>
          </p:cNvPr>
          <p:cNvSpPr>
            <a:spLocks xmlns:a="http://schemas.openxmlformats.org/drawingml/2006/main" noGrp="1"/>
          </p:cNvSpPr>
          <p:nvPr/>
        </p:nvSpPr>
        <p:spPr>
          <a:xfrm xmlns:a="http://schemas.openxmlformats.org/drawingml/2006/main">
            <a:off x="704850" y="3000375"/>
            <a:ext cx="400050" cy="400050"/>
          </a:xfrm>
          <a:prstGeom xmlns:a="http://schemas.openxmlformats.org/drawingml/2006/main" prst="ellipse">
            <a:avLst/>
          </a:prstGeom>
          <a:solidFill xmlns:a="http://schemas.openxmlformats.org/drawingml/2006/main">
            <a:srgbClr val="EAF2FC"/>
          </a:solidFill>
          <a:ln xmlns:a="http://schemas.openxmlformats.org/drawingml/2006/main" w="19050">
            <a:solidFill>
              <a:srgbClr val="1456A0"/>
            </a:solidFill>
          </a:ln>
        </p:spPr>
      </p:sp>
      <p:sp>
        <p:nvSpPr>
          <p:cNvPr id="13" name="">
            <a:extLst xmlns:a="http://schemas.openxmlformats.org/drawingml/2006/main">
              <a:ext uri="{FF2B5EF4-FFF2-40B4-BE49-F238E27FC236}">
                <a16:creationId xmlns:a16="http://schemas.microsoft.com/office/drawing/2014/main" id="{9499351E-9E41-413F-A553-AE64350656A5}"/>
              </a:ext>
            </a:extLst>
          </p:cNvPr>
          <p:cNvSpPr>
            <a:spLocks xmlns:a="http://schemas.openxmlformats.org/drawingml/2006/main" noGrp="1"/>
          </p:cNvSpPr>
          <p:nvPr/>
        </p:nvSpPr>
        <p:spPr>
          <a:xfrm xmlns:a="http://schemas.openxmlformats.org/drawingml/2006/main">
            <a:off x="809625" y="30289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2</a:t>
            </a:r>
          </a:p>
        </p:txBody>
      </p:sp>
      <p:sp>
        <p:nvSpPr>
          <p:cNvPr id="15" name="">
            <a:extLst xmlns:a="http://schemas.openxmlformats.org/drawingml/2006/main">
              <a:ext uri="{FF2B5EF4-FFF2-40B4-BE49-F238E27FC236}">
                <a16:creationId xmlns:a16="http://schemas.microsoft.com/office/drawing/2014/main" id="{25EBDCF2-BEF7-427A-A23C-A1A8050F8755}"/>
              </a:ext>
            </a:extLst>
          </p:cNvPr>
          <p:cNvSpPr>
            <a:spLocks xmlns:a="http://schemas.openxmlformats.org/drawingml/2006/main" noGrp="1"/>
          </p:cNvSpPr>
          <p:nvPr/>
        </p:nvSpPr>
        <p:spPr>
          <a:xfrm xmlns:a="http://schemas.openxmlformats.org/drawingml/2006/main">
            <a:off x="1333500" y="2952750"/>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Durable local storage</a:t>
            </a:r>
          </a:p>
        </p:txBody>
      </p:sp>
      <p:sp>
        <p:nvSpPr>
          <p:cNvPr id="16" name="">
            <a:extLst xmlns:a="http://schemas.openxmlformats.org/drawingml/2006/main">
              <a:ext uri="{FF2B5EF4-FFF2-40B4-BE49-F238E27FC236}">
                <a16:creationId xmlns:a16="http://schemas.microsoft.com/office/drawing/2014/main" id="{B23DF7A9-D225-4E66-AED0-76AB147C02C3}"/>
              </a:ext>
            </a:extLst>
          </p:cNvPr>
          <p:cNvSpPr>
            <a:spLocks xmlns:a="http://schemas.openxmlformats.org/drawingml/2006/main" noGrp="1"/>
          </p:cNvSpPr>
          <p:nvPr/>
        </p:nvSpPr>
        <p:spPr>
          <a:xfrm xmlns:a="http://schemas.openxmlformats.org/drawingml/2006/main">
            <a:off x="1333500" y="3314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COMPLETE IN DEMO</a:t>
            </a:r>
          </a:p>
        </p:txBody>
      </p:sp>
      <p:sp>
        <p:nvSpPr>
          <p:cNvPr id="17" name="">
            <a:extLst xmlns:a="http://schemas.openxmlformats.org/drawingml/2006/main">
              <a:ext uri="{FF2B5EF4-FFF2-40B4-BE49-F238E27FC236}">
                <a16:creationId xmlns:a16="http://schemas.microsoft.com/office/drawing/2014/main" id="{6AA3561F-1DB3-465A-9CDD-4F75786DD05F}"/>
              </a:ext>
            </a:extLst>
          </p:cNvPr>
          <p:cNvSpPr>
            <a:spLocks xmlns:a="http://schemas.openxmlformats.org/drawingml/2006/main" noGrp="1"/>
          </p:cNvSpPr>
          <p:nvPr/>
        </p:nvSpPr>
        <p:spPr>
          <a:xfrm xmlns:a="http://schemas.openxmlformats.org/drawingml/2006/main">
            <a:off x="4476750" y="2952750"/>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Connected SQLite folder and replacement check</a:t>
            </a:r>
          </a:p>
        </p:txBody>
      </p:sp>
      <p:sp>
        <p:nvSpPr>
          <p:cNvPr id="18" name="">
            <a:extLst xmlns:a="http://schemas.openxmlformats.org/drawingml/2006/main">
              <a:ext uri="{FF2B5EF4-FFF2-40B4-BE49-F238E27FC236}">
                <a16:creationId xmlns:a16="http://schemas.microsoft.com/office/drawing/2014/main" id="{2586A7E2-BDBC-4C95-BCC3-14B18F298061}"/>
              </a:ext>
            </a:extLst>
          </p:cNvPr>
          <p:cNvSpPr>
            <a:spLocks xmlns:a="http://schemas.openxmlformats.org/drawingml/2006/main" noGrp="1"/>
          </p:cNvSpPr>
          <p:nvPr/>
        </p:nvSpPr>
        <p:spPr>
          <a:xfrm xmlns:a="http://schemas.openxmlformats.org/drawingml/2006/main">
            <a:off x="8096250" y="2952750"/>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Saved records survive a new container</a:t>
            </a:r>
          </a:p>
        </p:txBody>
      </p:sp>
      <p:sp>
        <p:nvSpPr>
          <p:cNvPr id="19" name="">
            <a:extLst xmlns:a="http://schemas.openxmlformats.org/drawingml/2006/main">
              <a:ext uri="{FF2B5EF4-FFF2-40B4-BE49-F238E27FC236}">
                <a16:creationId xmlns:a16="http://schemas.microsoft.com/office/drawing/2014/main" id="{8B94BF3A-D06B-42DA-B8AB-D97DE5A004B0}"/>
              </a:ext>
            </a:extLst>
          </p:cNvPr>
          <p:cNvSpPr>
            <a:spLocks xmlns:a="http://schemas.openxmlformats.org/drawingml/2006/main" noGrp="1"/>
          </p:cNvSpPr>
          <p:nvPr/>
        </p:nvSpPr>
        <p:spPr>
          <a:xfrm xmlns:a="http://schemas.openxmlformats.org/drawingml/2006/main">
            <a:off x="704850" y="3905250"/>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20" name="">
            <a:extLst xmlns:a="http://schemas.openxmlformats.org/drawingml/2006/main">
              <a:ext uri="{FF2B5EF4-FFF2-40B4-BE49-F238E27FC236}">
                <a16:creationId xmlns:a16="http://schemas.microsoft.com/office/drawing/2014/main" id="{6C0EBD19-0509-4471-AA4A-1E8AEF2A9482}"/>
              </a:ext>
            </a:extLst>
          </p:cNvPr>
          <p:cNvSpPr>
            <a:spLocks xmlns:a="http://schemas.openxmlformats.org/drawingml/2006/main" noGrp="1"/>
          </p:cNvSpPr>
          <p:nvPr/>
        </p:nvSpPr>
        <p:spPr>
          <a:xfrm xmlns:a="http://schemas.openxmlformats.org/drawingml/2006/main">
            <a:off x="809625" y="39338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3</a:t>
            </a:r>
          </a:p>
        </p:txBody>
      </p:sp>
      <p:sp>
        <p:nvSpPr>
          <p:cNvPr id="22" name="">
            <a:extLst xmlns:a="http://schemas.openxmlformats.org/drawingml/2006/main">
              <a:ext uri="{FF2B5EF4-FFF2-40B4-BE49-F238E27FC236}">
                <a16:creationId xmlns:a16="http://schemas.microsoft.com/office/drawing/2014/main" id="{19C287BF-93FB-4504-B38A-F514A86186BF}"/>
              </a:ext>
            </a:extLst>
          </p:cNvPr>
          <p:cNvSpPr>
            <a:spLocks xmlns:a="http://schemas.openxmlformats.org/drawingml/2006/main" noGrp="1"/>
          </p:cNvSpPr>
          <p:nvPr/>
        </p:nvSpPr>
        <p:spPr>
          <a:xfrm xmlns:a="http://schemas.openxmlformats.org/drawingml/2006/main">
            <a:off x="1333500" y="3857625"/>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Patient translation</a:t>
            </a:r>
          </a:p>
        </p:txBody>
      </p:sp>
      <p:sp>
        <p:nvSpPr>
          <p:cNvPr id="23" name="">
            <a:extLst xmlns:a="http://schemas.openxmlformats.org/drawingml/2006/main">
              <a:ext uri="{FF2B5EF4-FFF2-40B4-BE49-F238E27FC236}">
                <a16:creationId xmlns:a16="http://schemas.microsoft.com/office/drawing/2014/main" id="{286B74D3-71EE-40D6-8546-0985B6DEB572}"/>
              </a:ext>
            </a:extLst>
          </p:cNvPr>
          <p:cNvSpPr>
            <a:spLocks xmlns:a="http://schemas.openxmlformats.org/drawingml/2006/main" noGrp="1"/>
          </p:cNvSpPr>
          <p:nvPr/>
        </p:nvSpPr>
        <p:spPr>
          <a:xfrm xmlns:a="http://schemas.openxmlformats.org/drawingml/2006/main">
            <a:off x="1333500" y="42195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COMPLETE FOR ONE SAMPLE</a:t>
            </a:r>
          </a:p>
        </p:txBody>
      </p:sp>
      <p:sp>
        <p:nvSpPr>
          <p:cNvPr id="24" name="">
            <a:extLst xmlns:a="http://schemas.openxmlformats.org/drawingml/2006/main">
              <a:ext uri="{FF2B5EF4-FFF2-40B4-BE49-F238E27FC236}">
                <a16:creationId xmlns:a16="http://schemas.microsoft.com/office/drawing/2014/main" id="{ACAD46F6-3F37-4019-8F4B-9ECB4880D032}"/>
              </a:ext>
            </a:extLst>
          </p:cNvPr>
          <p:cNvSpPr>
            <a:spLocks xmlns:a="http://schemas.openxmlformats.org/drawingml/2006/main" noGrp="1"/>
          </p:cNvSpPr>
          <p:nvPr/>
        </p:nvSpPr>
        <p:spPr>
          <a:xfrm xmlns:a="http://schemas.openxmlformats.org/drawingml/2006/main">
            <a:off x="4476750" y="3857625"/>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Ravi ADT conversion and repeat handling</a:t>
            </a:r>
          </a:p>
        </p:txBody>
      </p:sp>
      <p:sp>
        <p:nvSpPr>
          <p:cNvPr id="25" name="">
            <a:extLst xmlns:a="http://schemas.openxmlformats.org/drawingml/2006/main">
              <a:ext uri="{FF2B5EF4-FFF2-40B4-BE49-F238E27FC236}">
                <a16:creationId xmlns:a16="http://schemas.microsoft.com/office/drawing/2014/main" id="{970B4CCC-05FE-4646-82C3-17C4ABC6A326}"/>
              </a:ext>
            </a:extLst>
          </p:cNvPr>
          <p:cNvSpPr>
            <a:spLocks xmlns:a="http://schemas.openxmlformats.org/drawingml/2006/main" noGrp="1"/>
          </p:cNvSpPr>
          <p:nvPr/>
        </p:nvSpPr>
        <p:spPr>
          <a:xfrm xmlns:a="http://schemas.openxmlformats.org/drawingml/2006/main">
            <a:off x="8096250" y="3857625"/>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Hospital identifiers map to a patient</a:t>
            </a:r>
          </a:p>
        </p:txBody>
      </p:sp>
      <p:sp>
        <p:nvSpPr>
          <p:cNvPr id="26" name="">
            <a:extLst xmlns:a="http://schemas.openxmlformats.org/drawingml/2006/main">
              <a:ext uri="{FF2B5EF4-FFF2-40B4-BE49-F238E27FC236}">
                <a16:creationId xmlns:a16="http://schemas.microsoft.com/office/drawing/2014/main" id="{15E966FD-1C21-45BE-B5BF-7088AADCDA9A}"/>
              </a:ext>
            </a:extLst>
          </p:cNvPr>
          <p:cNvSpPr>
            <a:spLocks xmlns:a="http://schemas.openxmlformats.org/drawingml/2006/main" noGrp="1"/>
          </p:cNvSpPr>
          <p:nvPr/>
        </p:nvSpPr>
        <p:spPr>
          <a:xfrm xmlns:a="http://schemas.openxmlformats.org/drawingml/2006/main">
            <a:off x="704850" y="48101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27" name="">
            <a:extLst xmlns:a="http://schemas.openxmlformats.org/drawingml/2006/main">
              <a:ext uri="{FF2B5EF4-FFF2-40B4-BE49-F238E27FC236}">
                <a16:creationId xmlns:a16="http://schemas.microsoft.com/office/drawing/2014/main" id="{7A1DF852-2A41-4D9A-BAD0-02100C66340A}"/>
              </a:ext>
            </a:extLst>
          </p:cNvPr>
          <p:cNvSpPr>
            <a:spLocks xmlns:a="http://schemas.openxmlformats.org/drawingml/2006/main" noGrp="1"/>
          </p:cNvSpPr>
          <p:nvPr/>
        </p:nvSpPr>
        <p:spPr>
          <a:xfrm xmlns:a="http://schemas.openxmlformats.org/drawingml/2006/main">
            <a:off x="809625" y="48387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4</a:t>
            </a:r>
          </a:p>
        </p:txBody>
      </p:sp>
      <p:sp>
        <p:nvSpPr>
          <p:cNvPr id="29" name="">
            <a:extLst xmlns:a="http://schemas.openxmlformats.org/drawingml/2006/main">
              <a:ext uri="{FF2B5EF4-FFF2-40B4-BE49-F238E27FC236}">
                <a16:creationId xmlns:a16="http://schemas.microsoft.com/office/drawing/2014/main" id="{ED77ABCE-16B4-45C1-9F5E-A8DA0E51BFD1}"/>
              </a:ext>
            </a:extLst>
          </p:cNvPr>
          <p:cNvSpPr>
            <a:spLocks xmlns:a="http://schemas.openxmlformats.org/drawingml/2006/main" noGrp="1"/>
          </p:cNvSpPr>
          <p:nvPr/>
        </p:nvSpPr>
        <p:spPr>
          <a:xfrm xmlns:a="http://schemas.openxmlformats.org/drawingml/2006/main">
            <a:off x="1333500" y="4762500"/>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Backing database</a:t>
            </a:r>
          </a:p>
        </p:txBody>
      </p:sp>
      <p:sp>
        <p:nvSpPr>
          <p:cNvPr id="30" name="">
            <a:extLst xmlns:a="http://schemas.openxmlformats.org/drawingml/2006/main">
              <a:ext uri="{FF2B5EF4-FFF2-40B4-BE49-F238E27FC236}">
                <a16:creationId xmlns:a16="http://schemas.microsoft.com/office/drawing/2014/main" id="{D5598DEC-CB5D-4CE2-950E-D0F463CC2C78}"/>
              </a:ext>
            </a:extLst>
          </p:cNvPr>
          <p:cNvSpPr>
            <a:spLocks xmlns:a="http://schemas.openxmlformats.org/drawingml/2006/main" noGrp="1"/>
          </p:cNvSpPr>
          <p:nvPr/>
        </p:nvSpPr>
        <p:spPr>
          <a:xfrm xmlns:a="http://schemas.openxmlformats.org/drawingml/2006/main">
            <a:off x="1333500" y="51244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PARTIAL / CLOUD PAUSED</a:t>
            </a:r>
          </a:p>
        </p:txBody>
      </p:sp>
      <p:sp>
        <p:nvSpPr>
          <p:cNvPr id="31" name="">
            <a:extLst xmlns:a="http://schemas.openxmlformats.org/drawingml/2006/main">
              <a:ext uri="{FF2B5EF4-FFF2-40B4-BE49-F238E27FC236}">
                <a16:creationId xmlns:a16="http://schemas.microsoft.com/office/drawing/2014/main" id="{54ADE77B-7EC6-4A12-902E-FC151BE46734}"/>
              </a:ext>
            </a:extLst>
          </p:cNvPr>
          <p:cNvSpPr>
            <a:spLocks xmlns:a="http://schemas.openxmlformats.org/drawingml/2006/main" noGrp="1"/>
          </p:cNvSpPr>
          <p:nvPr/>
        </p:nvSpPr>
        <p:spPr>
          <a:xfrm xmlns:a="http://schemas.openxmlformats.org/drawingml/2006/main">
            <a:off x="4476750" y="4762500"/>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SQL Server Express instance created on AWS</a:t>
            </a:r>
          </a:p>
        </p:txBody>
      </p:sp>
      <p:sp>
        <p:nvSpPr>
          <p:cNvPr id="32" name="">
            <a:extLst xmlns:a="http://schemas.openxmlformats.org/drawingml/2006/main">
              <a:ext uri="{FF2B5EF4-FFF2-40B4-BE49-F238E27FC236}">
                <a16:creationId xmlns:a16="http://schemas.microsoft.com/office/drawing/2014/main" id="{AF619E82-1175-4C34-A7E2-1129F2CF5270}"/>
              </a:ext>
            </a:extLst>
          </p:cNvPr>
          <p:cNvSpPr>
            <a:spLocks xmlns:a="http://schemas.openxmlformats.org/drawingml/2006/main" noGrp="1"/>
          </p:cNvSpPr>
          <p:nvPr/>
        </p:nvSpPr>
        <p:spPr>
          <a:xfrm xmlns:a="http://schemas.openxmlformats.org/drawingml/2006/main">
            <a:off x="8096250" y="4762500"/>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Next: secure connection and migrate safely</a:t>
            </a:r>
          </a:p>
        </p:txBody>
      </p:sp>
      <p:sp>
        <p:nvSpPr>
          <p:cNvPr id="33" name="">
            <a:extLst xmlns:a="http://schemas.openxmlformats.org/drawingml/2006/main">
              <a:ext uri="{FF2B5EF4-FFF2-40B4-BE49-F238E27FC236}">
                <a16:creationId xmlns:a16="http://schemas.microsoft.com/office/drawing/2014/main" id="{1E91E9C8-097A-4CAB-BBDC-078984BD6C5A}"/>
              </a:ext>
            </a:extLst>
          </p:cNvPr>
          <p:cNvSpPr>
            <a:spLocks xmlns:a="http://schemas.openxmlformats.org/drawingml/2006/main" noGrp="1"/>
          </p:cNvSpPr>
          <p:nvPr/>
        </p:nvSpPr>
        <p:spPr>
          <a:xfrm xmlns:a="http://schemas.openxmlformats.org/drawingml/2006/main">
            <a:off x="609600" y="5953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56A0"/>
                </a:solidFill>
                <a:latin typeface="Bitstream Charter"/>
                <a:ea typeface="Bitstream Charter"/>
                <a:cs typeface="Bitstream Charter"/>
              </a:defRPr>
            </a:pPr>
            <a:r>
              <a:rPr sz="1650" b="0">
                <a:solidFill>
                  <a:srgbClr val="1456A0"/>
                </a:solidFill>
                <a:latin typeface="Bitstream Charter"/>
                <a:ea typeface="Bitstream Charter"/>
                <a:cs typeface="Bitstream Charter"/>
              </a:rPr>
              <a:t>Milestone 4 does not block continued local learning.</a:t>
            </a:r>
          </a:p>
        </p:txBody>
      </p:sp>
    </p:spTree>
    <p:extLst>
      <p:ext uri="{BB962C8B-B14F-4D97-AF65-F5344CB8AC3E}">
        <p14:creationId xmlns:p14="http://schemas.microsoft.com/office/powerpoint/2010/main" val="865012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p:cNvCxnSpPr>
            <a:stCxn xmlns:a="http://schemas.openxmlformats.org/drawingml/2006/main" id="19" idx="4"/>
            <a:endCxn xmlns:a="http://schemas.openxmlformats.org/drawingml/2006/main" id="26" idx="0"/>
          </p:cNvCxnSpPr>
          <p:nvPr/>
        </p:nvCxnSpPr>
        <p:spPr>
          <a:xfrm xmlns:a="http://schemas.openxmlformats.org/drawingml/2006/main">
            <a:off x="904875" y="4305300"/>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5" name=""/>
          <p:cNvCxnSpPr>
            <a:stCxn xmlns:a="http://schemas.openxmlformats.org/drawingml/2006/main" id="12" idx="4"/>
            <a:endCxn xmlns:a="http://schemas.openxmlformats.org/drawingml/2006/main" id="19" idx="0"/>
          </p:cNvCxnSpPr>
          <p:nvPr/>
        </p:nvCxnSpPr>
        <p:spPr>
          <a:xfrm xmlns:a="http://schemas.openxmlformats.org/drawingml/2006/main">
            <a:off x="904875" y="3400425"/>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cxnSp>
        <p:nvCxnSpPr>
          <p:cNvPr id="36" name=""/>
          <p:cNvCxnSpPr>
            <a:stCxn xmlns:a="http://schemas.openxmlformats.org/drawingml/2006/main" id="6" idx="4"/>
            <a:endCxn xmlns:a="http://schemas.openxmlformats.org/drawingml/2006/main" id="12" idx="0"/>
          </p:cNvCxnSpPr>
          <p:nvPr/>
        </p:nvCxnSpPr>
        <p:spPr>
          <a:xfrm xmlns:a="http://schemas.openxmlformats.org/drawingml/2006/main">
            <a:off x="904875" y="2495550"/>
            <a:ext cx="0" cy="504825"/>
          </a:xfrm>
          <a:prstGeom xmlns:a="http://schemas.openxmlformats.org/drawingml/2006/main" prst="straightConnector1">
            <a:avLst/>
          </a:prstGeom>
          <a:ln xmlns:a="http://schemas.openxmlformats.org/drawingml/2006/main" w="19050">
            <a:solidFill>
              <a:srgbClr val="1456A0"/>
            </a:solidFill>
            <a:tailEnd type="triangle" w="sm" len="sm"/>
          </a:ln>
        </p:spPr>
      </p:cxnSp>
      <p:sp>
        <p:nvSpPr>
          <p:cNvPr id="37" name="">
            <a:extLst xmlns:a="http://schemas.openxmlformats.org/drawingml/2006/main">
              <a:ext uri="{FF2B5EF4-FFF2-40B4-BE49-F238E27FC236}">
                <a16:creationId xmlns:a16="http://schemas.microsoft.com/office/drawing/2014/main" id="{FB31179A-DFEB-4DEF-ABE5-2151B5574425}"/>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Milestone map: records and delivery</a:t>
            </a:r>
          </a:p>
        </p:txBody>
      </p:sp>
      <p:sp>
        <p:nvSpPr>
          <p:cNvPr id="2" name="">
            <a:extLst xmlns:a="http://schemas.openxmlformats.org/drawingml/2006/main">
              <a:ext uri="{FF2B5EF4-FFF2-40B4-BE49-F238E27FC236}">
                <a16:creationId xmlns:a16="http://schemas.microsoft.com/office/drawing/2014/main" id="{7BFF1A4F-C438-4F3F-ACAB-C4B3A057B32D}"/>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B5C1AF48-69EC-4C19-AE3A-70AB1CCDE661}"/>
              </a:ext>
            </a:extLst>
          </p:cNvPr>
          <p:cNvSpPr>
            <a:spLocks xmlns:a="http://schemas.openxmlformats.org/drawingml/2006/main" noGrp="1"/>
          </p:cNvSpPr>
          <p:nvPr/>
        </p:nvSpPr>
        <p:spPr>
          <a:xfrm xmlns:a="http://schemas.openxmlformats.org/drawingml/2006/main">
            <a:off x="1333500" y="14287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Phase and status</a:t>
            </a:r>
          </a:p>
        </p:txBody>
      </p:sp>
      <p:sp>
        <p:nvSpPr>
          <p:cNvPr id="4" name="">
            <a:extLst xmlns:a="http://schemas.openxmlformats.org/drawingml/2006/main">
              <a:ext uri="{FF2B5EF4-FFF2-40B4-BE49-F238E27FC236}">
                <a16:creationId xmlns:a16="http://schemas.microsoft.com/office/drawing/2014/main" id="{2A385524-CAAF-4220-8744-D022D8246BE1}"/>
              </a:ext>
            </a:extLst>
          </p:cNvPr>
          <p:cNvSpPr>
            <a:spLocks xmlns:a="http://schemas.openxmlformats.org/drawingml/2006/main" noGrp="1"/>
          </p:cNvSpPr>
          <p:nvPr/>
        </p:nvSpPr>
        <p:spPr>
          <a:xfrm xmlns:a="http://schemas.openxmlformats.org/drawingml/2006/main">
            <a:off x="4476750" y="14287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Includes</a:t>
            </a:r>
          </a:p>
        </p:txBody>
      </p:sp>
      <p:sp>
        <p:nvSpPr>
          <p:cNvPr id="5" name="">
            <a:extLst xmlns:a="http://schemas.openxmlformats.org/drawingml/2006/main">
              <a:ext uri="{FF2B5EF4-FFF2-40B4-BE49-F238E27FC236}">
                <a16:creationId xmlns:a16="http://schemas.microsoft.com/office/drawing/2014/main" id="{AD026513-FFE4-4859-870B-FF57786CD725}"/>
              </a:ext>
            </a:extLst>
          </p:cNvPr>
          <p:cNvSpPr>
            <a:spLocks xmlns:a="http://schemas.openxmlformats.org/drawingml/2006/main" noGrp="1"/>
          </p:cNvSpPr>
          <p:nvPr/>
        </p:nvSpPr>
        <p:spPr>
          <a:xfrm xmlns:a="http://schemas.openxmlformats.org/drawingml/2006/main">
            <a:off x="8096250" y="14287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56A0"/>
                </a:solidFill>
                <a:latin typeface="Bitstream Charter"/>
                <a:ea typeface="Bitstream Charter"/>
                <a:cs typeface="Bitstream Charter"/>
              </a:defRPr>
            </a:pPr>
            <a:r>
              <a:rPr sz="1800" b="1">
                <a:solidFill>
                  <a:srgbClr val="1456A0"/>
                </a:solidFill>
                <a:latin typeface="Bitstream Charter"/>
                <a:ea typeface="Bitstream Charter"/>
                <a:cs typeface="Bitstream Charter"/>
              </a:rPr>
              <a:t>Contribution to the goal</a:t>
            </a:r>
          </a:p>
        </p:txBody>
      </p:sp>
      <p:sp>
        <p:nvSpPr>
          <p:cNvPr id="6" name="">
            <a:extLst xmlns:a="http://schemas.openxmlformats.org/drawingml/2006/main">
              <a:ext uri="{FF2B5EF4-FFF2-40B4-BE49-F238E27FC236}">
                <a16:creationId xmlns:a16="http://schemas.microsoft.com/office/drawing/2014/main" id="{21F20278-3F16-4766-8F67-5715EADDCFB2}"/>
              </a:ext>
            </a:extLst>
          </p:cNvPr>
          <p:cNvSpPr>
            <a:spLocks xmlns:a="http://schemas.openxmlformats.org/drawingml/2006/main" noGrp="1"/>
          </p:cNvSpPr>
          <p:nvPr/>
        </p:nvSpPr>
        <p:spPr>
          <a:xfrm xmlns:a="http://schemas.openxmlformats.org/drawingml/2006/main">
            <a:off x="704850" y="2095500"/>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7" name="">
            <a:extLst xmlns:a="http://schemas.openxmlformats.org/drawingml/2006/main">
              <a:ext uri="{FF2B5EF4-FFF2-40B4-BE49-F238E27FC236}">
                <a16:creationId xmlns:a16="http://schemas.microsoft.com/office/drawing/2014/main" id="{162F2D61-81BD-4250-B2A6-72DEEDC64555}"/>
              </a:ext>
            </a:extLst>
          </p:cNvPr>
          <p:cNvSpPr>
            <a:spLocks xmlns:a="http://schemas.openxmlformats.org/drawingml/2006/main" noGrp="1"/>
          </p:cNvSpPr>
          <p:nvPr/>
        </p:nvSpPr>
        <p:spPr>
          <a:xfrm xmlns:a="http://schemas.openxmlformats.org/drawingml/2006/main">
            <a:off x="809625" y="21240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5</a:t>
            </a:r>
          </a:p>
        </p:txBody>
      </p:sp>
      <p:sp>
        <p:nvSpPr>
          <p:cNvPr id="8" name="">
            <a:extLst xmlns:a="http://schemas.openxmlformats.org/drawingml/2006/main">
              <a:ext uri="{FF2B5EF4-FFF2-40B4-BE49-F238E27FC236}">
                <a16:creationId xmlns:a16="http://schemas.microsoft.com/office/drawing/2014/main" id="{144A1595-A9E4-4C88-A39C-3A45AFFE8912}"/>
              </a:ext>
            </a:extLst>
          </p:cNvPr>
          <p:cNvSpPr>
            <a:spLocks xmlns:a="http://schemas.openxmlformats.org/drawingml/2006/main" noGrp="1"/>
          </p:cNvSpPr>
          <p:nvPr/>
        </p:nvSpPr>
        <p:spPr>
          <a:xfrm xmlns:a="http://schemas.openxmlformats.org/drawingml/2006/main">
            <a:off x="1333500" y="2047875"/>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Linked clinical records</a:t>
            </a:r>
          </a:p>
        </p:txBody>
      </p:sp>
      <p:sp>
        <p:nvSpPr>
          <p:cNvPr id="9" name="">
            <a:extLst xmlns:a="http://schemas.openxmlformats.org/drawingml/2006/main">
              <a:ext uri="{FF2B5EF4-FFF2-40B4-BE49-F238E27FC236}">
                <a16:creationId xmlns:a16="http://schemas.microsoft.com/office/drawing/2014/main" id="{71582796-4127-4A2A-92B6-9774717E0713}"/>
              </a:ext>
            </a:extLst>
          </p:cNvPr>
          <p:cNvSpPr>
            <a:spLocks xmlns:a="http://schemas.openxmlformats.org/drawingml/2006/main" noGrp="1"/>
          </p:cNvSpPr>
          <p:nvPr/>
        </p:nvSpPr>
        <p:spPr>
          <a:xfrm xmlns:a="http://schemas.openxmlformats.org/drawingml/2006/main">
            <a:off x="1333500" y="24098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PARTIAL / LABS DEMONSTRATED</a:t>
            </a:r>
          </a:p>
        </p:txBody>
      </p:sp>
      <p:sp>
        <p:nvSpPr>
          <p:cNvPr id="10" name="">
            <a:extLst xmlns:a="http://schemas.openxmlformats.org/drawingml/2006/main">
              <a:ext uri="{FF2B5EF4-FFF2-40B4-BE49-F238E27FC236}">
                <a16:creationId xmlns:a16="http://schemas.microsoft.com/office/drawing/2014/main" id="{3FADB682-3C85-4435-8BD4-CC9A37A0B9A4}"/>
              </a:ext>
            </a:extLst>
          </p:cNvPr>
          <p:cNvSpPr>
            <a:spLocks xmlns:a="http://schemas.openxmlformats.org/drawingml/2006/main" noGrp="1"/>
          </p:cNvSpPr>
          <p:nvPr/>
        </p:nvSpPr>
        <p:spPr>
          <a:xfrm xmlns:a="http://schemas.openxmlformats.org/drawingml/2006/main">
            <a:off x="4476750" y="2047875"/>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2 HL7 labs, stable IDs, FHIR appointment</a:t>
            </a:r>
          </a:p>
        </p:txBody>
      </p:sp>
      <p:sp>
        <p:nvSpPr>
          <p:cNvPr id="11" name="">
            <a:extLst xmlns:a="http://schemas.openxmlformats.org/drawingml/2006/main">
              <a:ext uri="{FF2B5EF4-FFF2-40B4-BE49-F238E27FC236}">
                <a16:creationId xmlns:a16="http://schemas.microsoft.com/office/drawing/2014/main" id="{1ACB2223-0721-4D40-ABB8-F8BD1E949BE0}"/>
              </a:ext>
            </a:extLst>
          </p:cNvPr>
          <p:cNvSpPr>
            <a:spLocks xmlns:a="http://schemas.openxmlformats.org/drawingml/2006/main" noGrp="1"/>
          </p:cNvSpPr>
          <p:nvPr/>
        </p:nvSpPr>
        <p:spPr>
          <a:xfrm xmlns:a="http://schemas.openxmlformats.org/drawingml/2006/main">
            <a:off x="8096250" y="2047875"/>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Records belong to the right patient and visit</a:t>
            </a:r>
          </a:p>
        </p:txBody>
      </p:sp>
      <p:sp>
        <p:nvSpPr>
          <p:cNvPr id="12" name="">
            <a:extLst xmlns:a="http://schemas.openxmlformats.org/drawingml/2006/main">
              <a:ext uri="{FF2B5EF4-FFF2-40B4-BE49-F238E27FC236}">
                <a16:creationId xmlns:a16="http://schemas.microsoft.com/office/drawing/2014/main" id="{D6D925D2-9047-4C54-A5EE-33B79F57451D}"/>
              </a:ext>
            </a:extLst>
          </p:cNvPr>
          <p:cNvSpPr>
            <a:spLocks xmlns:a="http://schemas.openxmlformats.org/drawingml/2006/main" noGrp="1"/>
          </p:cNvSpPr>
          <p:nvPr/>
        </p:nvSpPr>
        <p:spPr>
          <a:xfrm xmlns:a="http://schemas.openxmlformats.org/drawingml/2006/main">
            <a:off x="704850" y="300037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13" name="">
            <a:extLst xmlns:a="http://schemas.openxmlformats.org/drawingml/2006/main">
              <a:ext uri="{FF2B5EF4-FFF2-40B4-BE49-F238E27FC236}">
                <a16:creationId xmlns:a16="http://schemas.microsoft.com/office/drawing/2014/main" id="{C5ED00F1-A714-4603-8437-705E2B0E5F70}"/>
              </a:ext>
            </a:extLst>
          </p:cNvPr>
          <p:cNvSpPr>
            <a:spLocks xmlns:a="http://schemas.openxmlformats.org/drawingml/2006/main" noGrp="1"/>
          </p:cNvSpPr>
          <p:nvPr/>
        </p:nvSpPr>
        <p:spPr>
          <a:xfrm xmlns:a="http://schemas.openxmlformats.org/drawingml/2006/main">
            <a:off x="809625" y="302895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6</a:t>
            </a:r>
          </a:p>
        </p:txBody>
      </p:sp>
      <p:sp>
        <p:nvSpPr>
          <p:cNvPr id="15" name="">
            <a:extLst xmlns:a="http://schemas.openxmlformats.org/drawingml/2006/main">
              <a:ext uri="{FF2B5EF4-FFF2-40B4-BE49-F238E27FC236}">
                <a16:creationId xmlns:a16="http://schemas.microsoft.com/office/drawing/2014/main" id="{3A9B8853-3284-4D1A-A388-AAC489315CFE}"/>
              </a:ext>
            </a:extLst>
          </p:cNvPr>
          <p:cNvSpPr>
            <a:spLocks xmlns:a="http://schemas.openxmlformats.org/drawingml/2006/main" noGrp="1"/>
          </p:cNvSpPr>
          <p:nvPr/>
        </p:nvSpPr>
        <p:spPr>
          <a:xfrm xmlns:a="http://schemas.openxmlformats.org/drawingml/2006/main">
            <a:off x="1333500" y="2952750"/>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Secure API and viewer</a:t>
            </a:r>
          </a:p>
        </p:txBody>
      </p:sp>
      <p:sp>
        <p:nvSpPr>
          <p:cNvPr id="16" name="">
            <a:extLst xmlns:a="http://schemas.openxmlformats.org/drawingml/2006/main">
              <a:ext uri="{FF2B5EF4-FFF2-40B4-BE49-F238E27FC236}">
                <a16:creationId xmlns:a16="http://schemas.microsoft.com/office/drawing/2014/main" id="{3E19CD19-6C99-4642-9ADF-43390F9D3A79}"/>
              </a:ext>
            </a:extLst>
          </p:cNvPr>
          <p:cNvSpPr>
            <a:spLocks xmlns:a="http://schemas.openxmlformats.org/drawingml/2006/main" noGrp="1"/>
          </p:cNvSpPr>
          <p:nvPr/>
        </p:nvSpPr>
        <p:spPr>
          <a:xfrm xmlns:a="http://schemas.openxmlformats.org/drawingml/2006/main">
            <a:off x="1333500" y="3314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PARTIAL / BASIC API ONLY</a:t>
            </a:r>
          </a:p>
        </p:txBody>
      </p:sp>
      <p:sp>
        <p:nvSpPr>
          <p:cNvPr id="17" name="">
            <a:extLst xmlns:a="http://schemas.openxmlformats.org/drawingml/2006/main">
              <a:ext uri="{FF2B5EF4-FFF2-40B4-BE49-F238E27FC236}">
                <a16:creationId xmlns:a16="http://schemas.microsoft.com/office/drawing/2014/main" id="{94B2F455-A29C-440B-A199-6D179C4D0DE7}"/>
              </a:ext>
            </a:extLst>
          </p:cNvPr>
          <p:cNvSpPr>
            <a:spLocks xmlns:a="http://schemas.openxmlformats.org/drawingml/2006/main" noGrp="1"/>
          </p:cNvSpPr>
          <p:nvPr/>
        </p:nvSpPr>
        <p:spPr>
          <a:xfrm xmlns:a="http://schemas.openxmlformats.org/drawingml/2006/main">
            <a:off x="4476750" y="2952750"/>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Patient + labs in one call reported</a:t>
            </a:r>
          </a:p>
        </p:txBody>
      </p:sp>
      <p:sp>
        <p:nvSpPr>
          <p:cNvPr id="18" name="">
            <a:extLst xmlns:a="http://schemas.openxmlformats.org/drawingml/2006/main">
              <a:ext uri="{FF2B5EF4-FFF2-40B4-BE49-F238E27FC236}">
                <a16:creationId xmlns:a16="http://schemas.microsoft.com/office/drawing/2014/main" id="{D4880AEB-160E-469F-BD78-800D407AA5F6}"/>
              </a:ext>
            </a:extLst>
          </p:cNvPr>
          <p:cNvSpPr>
            <a:spLocks xmlns:a="http://schemas.openxmlformats.org/drawingml/2006/main" noGrp="1"/>
          </p:cNvSpPr>
          <p:nvPr/>
        </p:nvSpPr>
        <p:spPr>
          <a:xfrm xmlns:a="http://schemas.openxmlformats.org/drawingml/2006/main">
            <a:off x="8096250" y="2952750"/>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Next: SMART login and provider viewer</a:t>
            </a:r>
          </a:p>
        </p:txBody>
      </p:sp>
      <p:sp>
        <p:nvSpPr>
          <p:cNvPr id="19" name="">
            <a:extLst xmlns:a="http://schemas.openxmlformats.org/drawingml/2006/main">
              <a:ext uri="{FF2B5EF4-FFF2-40B4-BE49-F238E27FC236}">
                <a16:creationId xmlns:a16="http://schemas.microsoft.com/office/drawing/2014/main" id="{CDCBA21D-5331-486B-B188-E5DC93AA2A48}"/>
              </a:ext>
            </a:extLst>
          </p:cNvPr>
          <p:cNvSpPr>
            <a:spLocks xmlns:a="http://schemas.openxmlformats.org/drawingml/2006/main" noGrp="1"/>
          </p:cNvSpPr>
          <p:nvPr/>
        </p:nvSpPr>
        <p:spPr>
          <a:xfrm xmlns:a="http://schemas.openxmlformats.org/drawingml/2006/main">
            <a:off x="704850" y="3905250"/>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20" name="">
            <a:extLst xmlns:a="http://schemas.openxmlformats.org/drawingml/2006/main">
              <a:ext uri="{FF2B5EF4-FFF2-40B4-BE49-F238E27FC236}">
                <a16:creationId xmlns:a16="http://schemas.microsoft.com/office/drawing/2014/main" id="{6ED401D3-72DB-4C5F-91CB-CD2F455D7668}"/>
              </a:ext>
            </a:extLst>
          </p:cNvPr>
          <p:cNvSpPr>
            <a:spLocks xmlns:a="http://schemas.openxmlformats.org/drawingml/2006/main" noGrp="1"/>
          </p:cNvSpPr>
          <p:nvPr/>
        </p:nvSpPr>
        <p:spPr>
          <a:xfrm xmlns:a="http://schemas.openxmlformats.org/drawingml/2006/main">
            <a:off x="809625" y="39338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7</a:t>
            </a:r>
          </a:p>
        </p:txBody>
      </p:sp>
      <p:sp>
        <p:nvSpPr>
          <p:cNvPr id="22" name="">
            <a:extLst xmlns:a="http://schemas.openxmlformats.org/drawingml/2006/main">
              <a:ext uri="{FF2B5EF4-FFF2-40B4-BE49-F238E27FC236}">
                <a16:creationId xmlns:a16="http://schemas.microsoft.com/office/drawing/2014/main" id="{B5F78346-A5E8-45A8-A27E-B428012D852F}"/>
              </a:ext>
            </a:extLst>
          </p:cNvPr>
          <p:cNvSpPr>
            <a:spLocks xmlns:a="http://schemas.openxmlformats.org/drawingml/2006/main" noGrp="1"/>
          </p:cNvSpPr>
          <p:nvPr/>
        </p:nvSpPr>
        <p:spPr>
          <a:xfrm xmlns:a="http://schemas.openxmlformats.org/drawingml/2006/main">
            <a:off x="1333500" y="3857625"/>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Pre-visit worklist</a:t>
            </a:r>
          </a:p>
        </p:txBody>
      </p:sp>
      <p:sp>
        <p:nvSpPr>
          <p:cNvPr id="23" name="">
            <a:extLst xmlns:a="http://schemas.openxmlformats.org/drawingml/2006/main">
              <a:ext uri="{FF2B5EF4-FFF2-40B4-BE49-F238E27FC236}">
                <a16:creationId xmlns:a16="http://schemas.microsoft.com/office/drawing/2014/main" id="{90FAFC06-4703-4F4B-B58B-51E632A385CA}"/>
              </a:ext>
            </a:extLst>
          </p:cNvPr>
          <p:cNvSpPr>
            <a:spLocks xmlns:a="http://schemas.openxmlformats.org/drawingml/2006/main" noGrp="1"/>
          </p:cNvSpPr>
          <p:nvPr/>
        </p:nvSpPr>
        <p:spPr>
          <a:xfrm xmlns:a="http://schemas.openxmlformats.org/drawingml/2006/main">
            <a:off x="1333500" y="42195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STARTED / ONE DEMO CHECK</a:t>
            </a:r>
          </a:p>
        </p:txBody>
      </p:sp>
      <p:sp>
        <p:nvSpPr>
          <p:cNvPr id="24" name="">
            <a:extLst xmlns:a="http://schemas.openxmlformats.org/drawingml/2006/main">
              <a:ext uri="{FF2B5EF4-FFF2-40B4-BE49-F238E27FC236}">
                <a16:creationId xmlns:a16="http://schemas.microsoft.com/office/drawing/2014/main" id="{5AB7010D-155A-440B-8E16-E35784D77244}"/>
              </a:ext>
            </a:extLst>
          </p:cNvPr>
          <p:cNvSpPr>
            <a:spLocks xmlns:a="http://schemas.openxmlformats.org/drawingml/2006/main" noGrp="1"/>
          </p:cNvSpPr>
          <p:nvPr/>
        </p:nvSpPr>
        <p:spPr>
          <a:xfrm xmlns:a="http://schemas.openxmlformats.org/drawingml/2006/main">
            <a:off x="4476750" y="3857625"/>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7-day found and 1-day no-match reported</a:t>
            </a:r>
          </a:p>
        </p:txBody>
      </p:sp>
      <p:sp>
        <p:nvSpPr>
          <p:cNvPr id="25" name="">
            <a:extLst xmlns:a="http://schemas.openxmlformats.org/drawingml/2006/main">
              <a:ext uri="{FF2B5EF4-FFF2-40B4-BE49-F238E27FC236}">
                <a16:creationId xmlns:a16="http://schemas.microsoft.com/office/drawing/2014/main" id="{AEDAD65E-3FBA-4525-8E8E-798354270969}"/>
              </a:ext>
            </a:extLst>
          </p:cNvPr>
          <p:cNvSpPr>
            <a:spLocks xmlns:a="http://schemas.openxmlformats.org/drawingml/2006/main" noGrp="1"/>
          </p:cNvSpPr>
          <p:nvPr/>
        </p:nvSpPr>
        <p:spPr>
          <a:xfrm xmlns:a="http://schemas.openxmlformats.org/drawingml/2006/main">
            <a:off x="8096250" y="3857625"/>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Next: labeled issues, owners and history</a:t>
            </a:r>
          </a:p>
        </p:txBody>
      </p:sp>
      <p:sp>
        <p:nvSpPr>
          <p:cNvPr id="26" name="">
            <a:extLst xmlns:a="http://schemas.openxmlformats.org/drawingml/2006/main">
              <a:ext uri="{FF2B5EF4-FFF2-40B4-BE49-F238E27FC236}">
                <a16:creationId xmlns:a16="http://schemas.microsoft.com/office/drawing/2014/main" id="{6325C28A-D079-44EA-8B48-B7057D3420F8}"/>
              </a:ext>
            </a:extLst>
          </p:cNvPr>
          <p:cNvSpPr>
            <a:spLocks xmlns:a="http://schemas.openxmlformats.org/drawingml/2006/main" noGrp="1"/>
          </p:cNvSpPr>
          <p:nvPr/>
        </p:nvSpPr>
        <p:spPr>
          <a:xfrm xmlns:a="http://schemas.openxmlformats.org/drawingml/2006/main">
            <a:off x="704850" y="4810125"/>
            <a:ext cx="400050" cy="400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456A0"/>
            </a:solidFill>
          </a:ln>
        </p:spPr>
      </p:sp>
      <p:sp>
        <p:nvSpPr>
          <p:cNvPr id="27" name="">
            <a:extLst xmlns:a="http://schemas.openxmlformats.org/drawingml/2006/main">
              <a:ext uri="{FF2B5EF4-FFF2-40B4-BE49-F238E27FC236}">
                <a16:creationId xmlns:a16="http://schemas.microsoft.com/office/drawing/2014/main" id="{6A43322A-E824-4830-AF31-FDB71164F800}"/>
              </a:ext>
            </a:extLst>
          </p:cNvPr>
          <p:cNvSpPr>
            <a:spLocks xmlns:a="http://schemas.openxmlformats.org/drawingml/2006/main" noGrp="1"/>
          </p:cNvSpPr>
          <p:nvPr/>
        </p:nvSpPr>
        <p:spPr>
          <a:xfrm xmlns:a="http://schemas.openxmlformats.org/drawingml/2006/main">
            <a:off x="809625" y="48387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56A0"/>
                </a:solidFill>
                <a:latin typeface="Bitstream Charter"/>
                <a:ea typeface="Bitstream Charter"/>
                <a:cs typeface="Bitstream Charter"/>
              </a:defRPr>
            </a:pPr>
            <a:r>
              <a:rPr sz="1725" b="1">
                <a:solidFill>
                  <a:srgbClr val="1456A0"/>
                </a:solidFill>
                <a:latin typeface="Bitstream Charter"/>
                <a:ea typeface="Bitstream Charter"/>
                <a:cs typeface="Bitstream Charter"/>
              </a:rPr>
              <a:t>8</a:t>
            </a:r>
          </a:p>
        </p:txBody>
      </p:sp>
      <p:sp>
        <p:nvSpPr>
          <p:cNvPr id="29" name="">
            <a:extLst xmlns:a="http://schemas.openxmlformats.org/drawingml/2006/main">
              <a:ext uri="{FF2B5EF4-FFF2-40B4-BE49-F238E27FC236}">
                <a16:creationId xmlns:a16="http://schemas.microsoft.com/office/drawing/2014/main" id="{957F834A-47FC-432E-8C8C-9DA16DD8D6A1}"/>
              </a:ext>
            </a:extLst>
          </p:cNvPr>
          <p:cNvSpPr>
            <a:spLocks xmlns:a="http://schemas.openxmlformats.org/drawingml/2006/main" noGrp="1"/>
          </p:cNvSpPr>
          <p:nvPr/>
        </p:nvSpPr>
        <p:spPr>
          <a:xfrm xmlns:a="http://schemas.openxmlformats.org/drawingml/2006/main">
            <a:off x="1333500" y="4762500"/>
            <a:ext cx="2905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56A0"/>
                </a:solidFill>
                <a:latin typeface="Bitstream Charter"/>
                <a:ea typeface="Bitstream Charter"/>
                <a:cs typeface="Bitstream Charter"/>
              </a:defRPr>
            </a:pPr>
            <a:r>
              <a:rPr sz="2025" b="1">
                <a:solidFill>
                  <a:srgbClr val="1456A0"/>
                </a:solidFill>
                <a:latin typeface="Bitstream Charter"/>
                <a:ea typeface="Bitstream Charter"/>
                <a:cs typeface="Bitstream Charter"/>
              </a:rPr>
              <a:t>AWS and Snowflake</a:t>
            </a:r>
          </a:p>
        </p:txBody>
      </p:sp>
      <p:sp>
        <p:nvSpPr>
          <p:cNvPr id="30" name="">
            <a:extLst xmlns:a="http://schemas.openxmlformats.org/drawingml/2006/main">
              <a:ext uri="{FF2B5EF4-FFF2-40B4-BE49-F238E27FC236}">
                <a16:creationId xmlns:a16="http://schemas.microsoft.com/office/drawing/2014/main" id="{1E58BA69-D2E5-42FE-8846-A54A4D40A284}"/>
              </a:ext>
            </a:extLst>
          </p:cNvPr>
          <p:cNvSpPr>
            <a:spLocks xmlns:a="http://schemas.openxmlformats.org/drawingml/2006/main" noGrp="1"/>
          </p:cNvSpPr>
          <p:nvPr/>
        </p:nvSpPr>
        <p:spPr>
          <a:xfrm xmlns:a="http://schemas.openxmlformats.org/drawingml/2006/main">
            <a:off x="1333500" y="51244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STARTED / NOT CONNECTED</a:t>
            </a:r>
          </a:p>
        </p:txBody>
      </p:sp>
      <p:sp>
        <p:nvSpPr>
          <p:cNvPr id="31" name="">
            <a:extLst xmlns:a="http://schemas.openxmlformats.org/drawingml/2006/main">
              <a:ext uri="{FF2B5EF4-FFF2-40B4-BE49-F238E27FC236}">
                <a16:creationId xmlns:a16="http://schemas.microsoft.com/office/drawing/2014/main" id="{9989C36A-E207-40DF-BAD8-FB2A21F741DA}"/>
              </a:ext>
            </a:extLst>
          </p:cNvPr>
          <p:cNvSpPr>
            <a:spLocks xmlns:a="http://schemas.openxmlformats.org/drawingml/2006/main" noGrp="1"/>
          </p:cNvSpPr>
          <p:nvPr/>
        </p:nvSpPr>
        <p:spPr>
          <a:xfrm xmlns:a="http://schemas.openxmlformats.org/drawingml/2006/main">
            <a:off x="4476750" y="4762500"/>
            <a:ext cx="319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AWS account and database setup</a:t>
            </a:r>
          </a:p>
        </p:txBody>
      </p:sp>
      <p:sp>
        <p:nvSpPr>
          <p:cNvPr id="32" name="">
            <a:extLst xmlns:a="http://schemas.openxmlformats.org/drawingml/2006/main">
              <a:ext uri="{FF2B5EF4-FFF2-40B4-BE49-F238E27FC236}">
                <a16:creationId xmlns:a16="http://schemas.microsoft.com/office/drawing/2014/main" id="{972FE632-C61E-495F-B64A-C5D9116B7B3A}"/>
              </a:ext>
            </a:extLst>
          </p:cNvPr>
          <p:cNvSpPr>
            <a:spLocks xmlns:a="http://schemas.openxmlformats.org/drawingml/2006/main" noGrp="1"/>
          </p:cNvSpPr>
          <p:nvPr/>
        </p:nvSpPr>
        <p:spPr>
          <a:xfrm xmlns:a="http://schemas.openxmlformats.org/drawingml/2006/main">
            <a:off x="8096250" y="4762500"/>
            <a:ext cx="3476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56A0"/>
                </a:solidFill>
                <a:latin typeface="Bitstream Charter"/>
                <a:ea typeface="Bitstream Charter"/>
                <a:cs typeface="Bitstream Charter"/>
              </a:defRPr>
            </a:pPr>
            <a:r>
              <a:rPr sz="1875" b="0">
                <a:solidFill>
                  <a:srgbClr val="1456A0"/>
                </a:solidFill>
                <a:latin typeface="Bitstream Charter"/>
                <a:ea typeface="Bitstream Charter"/>
                <a:cs typeface="Bitstream Charter"/>
              </a:rPr>
              <a:t>Next: cloud server, export, S3 and analytics</a:t>
            </a:r>
          </a:p>
        </p:txBody>
      </p:sp>
      <p:sp>
        <p:nvSpPr>
          <p:cNvPr id="33" name="">
            <a:extLst xmlns:a="http://schemas.openxmlformats.org/drawingml/2006/main">
              <a:ext uri="{FF2B5EF4-FFF2-40B4-BE49-F238E27FC236}">
                <a16:creationId xmlns:a16="http://schemas.microsoft.com/office/drawing/2014/main" id="{BF42E46C-D105-4AA6-B5E4-B1C4843245E7}"/>
              </a:ext>
            </a:extLst>
          </p:cNvPr>
          <p:cNvSpPr>
            <a:spLocks xmlns:a="http://schemas.openxmlformats.org/drawingml/2006/main" noGrp="1"/>
          </p:cNvSpPr>
          <p:nvPr/>
        </p:nvSpPr>
        <p:spPr>
          <a:xfrm xmlns:a="http://schemas.openxmlformats.org/drawingml/2006/main">
            <a:off x="609600" y="5953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56A0"/>
                </a:solidFill>
                <a:latin typeface="Bitstream Charter"/>
                <a:ea typeface="Bitstream Charter"/>
                <a:cs typeface="Bitstream Charter"/>
              </a:defRPr>
            </a:pPr>
            <a:r>
              <a:rPr sz="1650" b="0">
                <a:solidFill>
                  <a:srgbClr val="1456A0"/>
                </a:solidFill>
                <a:latin typeface="Bitstream Charter"/>
                <a:ea typeface="Bitstream Charter"/>
                <a:cs typeface="Bitstream Charter"/>
              </a:rPr>
              <a:t>Security exercises span every phase. HIPAA compliance remains unproven.</a:t>
            </a:r>
          </a:p>
        </p:txBody>
      </p:sp>
    </p:spTree>
    <p:extLst>
      <p:ext uri="{BB962C8B-B14F-4D97-AF65-F5344CB8AC3E}">
        <p14:creationId xmlns:p14="http://schemas.microsoft.com/office/powerpoint/2010/main" val="20950721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04F6E8-2AD0-47AD-B509-33BB4135C159}"/>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Evidence, assumptions and remaining skills</a:t>
            </a:r>
          </a:p>
        </p:txBody>
      </p:sp>
      <p:sp>
        <p:nvSpPr>
          <p:cNvPr id="2" name="">
            <a:extLst xmlns:a="http://schemas.openxmlformats.org/drawingml/2006/main">
              <a:ext uri="{FF2B5EF4-FFF2-40B4-BE49-F238E27FC236}">
                <a16:creationId xmlns:a16="http://schemas.microsoft.com/office/drawing/2014/main" id="{4CDDF922-8B50-4F9D-9D74-C5882B135549}"/>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11</a:t>
            </a:r>
          </a:p>
        </p:txBody>
      </p:sp>
      <p:graphicFrame>
        <p:nvGraphicFramePr>
          <p:cNvPr id="7" name=""/>
          <p:cNvGraphicFramePr/>
          <p:nvPr/>
        </p:nvGraphicFramePr>
        <p:xfrm>
          <a:off xmlns:a="http://schemas.openxmlformats.org/drawingml/2006/main" x="609600" y="1524000"/>
          <a:ext xmlns:a="http://schemas.openxmlformats.org/drawingml/2006/main" cx="10972800" cy="4000500"/>
        </p:xfrm>
        <a:graphic xmlns:a="http://schemas.openxmlformats.org/drawingml/2006/main">
          <a:graphicData uri="http://schemas.openxmlformats.org/drawingml/2006/table">
            <a:tbl>
              <a:tblPr/>
              <a:tblGrid>
                <a:gridCol w="4762500"/>
                <a:gridCol w="6210300"/>
              </a:tblGrid>
              <a:tr h="666750">
                <a:tc>
                  <a:txBody>
                    <a:bodyPr/>
                    <a:lstStyle/>
                    <a:p>
                      <a:r>
                        <a:rPr sz="1875" b="1">
                          <a:solidFill>
                            <a:srgbClr val="1456A0"/>
                          </a:solidFill>
                          <a:latin typeface="Bitstream Charter"/>
                          <a:ea typeface="Bitstream Charter"/>
                          <a:cs typeface="Bitstream Charter"/>
                        </a:rPr>
                        <a:t>Observed or reported</a:t>
                      </a:r>
                    </a:p>
                  </a:txBody>
                  <a:tcPr marL="91440" marR="91440" marT="45720" marB="45720">
                    <a:solidFill>
                      <a:srgbClr val="EAF2FC"/>
                    </a:solidFill>
                  </a:tcPr>
                </a:tc>
                <a:tc>
                  <a:txBody>
                    <a:bodyPr/>
                    <a:lstStyle/>
                    <a:p>
                      <a:r>
                        <a:rPr sz="1875" b="1">
                          <a:solidFill>
                            <a:srgbClr val="1456A0"/>
                          </a:solidFill>
                          <a:latin typeface="Bitstream Charter"/>
                          <a:ea typeface="Bitstream Charter"/>
                          <a:cs typeface="Bitstream Charter"/>
                        </a:rPr>
                        <a:t>Limits / next evidence</a:t>
                      </a:r>
                    </a:p>
                  </a:txBody>
                  <a:tcPr marL="91440" marR="91440" marT="45720" marB="45720">
                    <a:solidFill>
                      <a:srgbClr val="EAF2FC"/>
                    </a:solidFill>
                  </a:tcPr>
                </a:tc>
              </a:tr>
              <a:tr h="666750">
                <a:tc>
                  <a:txBody>
                    <a:bodyPr/>
                    <a:lstStyle/>
                    <a:p>
                      <a:r>
                        <a:rPr sz="1875" b="0">
                          <a:solidFill>
                            <a:srgbClr val="1456A0"/>
                          </a:solidFill>
                          <a:latin typeface="Bitstream Charter"/>
                          <a:ea typeface="Bitstream Charter"/>
                          <a:cs typeface="Bitstream Charter"/>
                        </a:rPr>
                        <a:t>Conversion and record links work</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One patient, one numeric result per HL7 message. Expand with labeled fixtures.</a:t>
                      </a:r>
                    </a:p>
                  </a:txBody>
                  <a:tcPr marL="91440" marR="91440" marT="45720" marB="45720">
                    <a:solidFill>
                      <a:srgbClr val="FFFFFF"/>
                    </a:solidFill>
                  </a:tcPr>
                </a:tc>
              </a:tr>
              <a:tr h="666750">
                <a:tc>
                  <a:txBody>
                    <a:bodyPr/>
                    <a:lstStyle/>
                    <a:p>
                      <a:r>
                        <a:rPr sz="1875" b="0">
                          <a:solidFill>
                            <a:srgbClr val="1456A0"/>
                          </a:solidFill>
                          <a:latin typeface="Bitstream Charter"/>
                          <a:ea typeface="Bitstream Charter"/>
                          <a:cs typeface="Bitstream Charter"/>
                        </a:rPr>
                        <a:t>Repeat ID logic and rejection work</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Test wider identities and corrections. No automatic person merging.</a:t>
                      </a:r>
                    </a:p>
                  </a:txBody>
                  <a:tcPr marL="91440" marR="91440" marT="45720" marB="45720">
                    <a:solidFill>
                      <a:srgbClr val="FFFFFF"/>
                    </a:solidFill>
                  </a:tcPr>
                </a:tc>
              </a:tr>
              <a:tr h="666750">
                <a:tc>
                  <a:txBody>
                    <a:bodyPr/>
                    <a:lstStyle/>
                    <a:p>
                      <a:r>
                        <a:rPr sz="1875" b="0">
                          <a:solidFill>
                            <a:srgbClr val="1456A0"/>
                          </a:solidFill>
                          <a:latin typeface="Bitstream Charter"/>
                          <a:ea typeface="Bitstream Charter"/>
                          <a:cs typeface="Bitstream Charter"/>
                        </a:rPr>
                        <a:t>Patient + labs return together</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Define supported record types and pagination. Build the provider viewer.</a:t>
                      </a:r>
                    </a:p>
                  </a:txBody>
                  <a:tcPr marL="91440" marR="91440" marT="45720" marB="45720">
                    <a:solidFill>
                      <a:srgbClr val="FFFFFF"/>
                    </a:solidFill>
                  </a:tcPr>
                </a:tc>
              </a:tr>
              <a:tr h="666750">
                <a:tc>
                  <a:txBody>
                    <a:bodyPr/>
                    <a:lstStyle/>
                    <a:p>
                      <a:r>
                        <a:rPr sz="1875" b="0">
                          <a:solidFill>
                            <a:srgbClr val="1456A0"/>
                          </a:solidFill>
                          <a:latin typeface="Bitstream Charter"/>
                          <a:ea typeface="Bitstream Charter"/>
                          <a:cs typeface="Bitstream Charter"/>
                        </a:rPr>
                        <a:t>A time-window check works</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Our synthetic rule. Clinical benefit remains untested.</a:t>
                      </a:r>
                    </a:p>
                  </a:txBody>
                  <a:tcPr marL="91440" marR="91440" marT="45720" marB="45720">
                    <a:solidFill>
                      <a:srgbClr val="FFFFFF"/>
                    </a:solidFill>
                  </a:tcPr>
                </a:tc>
              </a:tr>
              <a:tr h="666750">
                <a:tc>
                  <a:txBody>
                    <a:bodyPr/>
                    <a:lstStyle/>
                    <a:p>
                      <a:r>
                        <a:rPr sz="1875" b="0">
                          <a:solidFill>
                            <a:srgbClr val="1456A0"/>
                          </a:solidFill>
                          <a:latin typeface="Bitstream Charter"/>
                          <a:ea typeface="Bitstream Charter"/>
                          <a:cs typeface="Bitstream Charter"/>
                        </a:rPr>
                        <a:t>Security skills remain planned</a:t>
                      </a:r>
                    </a:p>
                  </a:txBody>
                  <a:tcPr marL="91440" marR="91440" marT="45720" marB="45720">
                    <a:solidFill>
                      <a:srgbClr val="FFFFFF"/>
                    </a:solidFill>
                  </a:tcPr>
                </a:tc>
                <a:tc>
                  <a:txBody>
                    <a:bodyPr/>
                    <a:lstStyle/>
                    <a:p>
                      <a:r>
                        <a:rPr sz="1875" b="0">
                          <a:solidFill>
                            <a:srgbClr val="1456A0"/>
                          </a:solidFill>
                          <a:latin typeface="Bitstream Charter"/>
                          <a:ea typeface="Bitstream Charter"/>
                          <a:cs typeface="Bitstream Charter"/>
                        </a:rPr>
                        <a:t>SMART OAuth2/OIDC, access denial, audit, encryption and restore exercises.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467AFD-C911-4E38-BC62-ED6256FE37B9}"/>
              </a:ext>
            </a:extLst>
          </p:cNvPr>
          <p:cNvSpPr>
            <a:spLocks xmlns:a="http://schemas.openxmlformats.org/drawingml/2006/main" noGrp="1"/>
          </p:cNvSpPr>
          <p:nvPr/>
        </p:nvSpPr>
        <p:spPr>
          <a:xfrm xmlns:a="http://schemas.openxmlformats.org/drawingml/2006/main">
            <a:off x="609600" y="5905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56A0"/>
                </a:solidFill>
                <a:latin typeface="Bitstream Charter"/>
                <a:ea typeface="Bitstream Charter"/>
                <a:cs typeface="Bitstream Charter"/>
              </a:defRPr>
            </a:pPr>
            <a:r>
              <a:rPr sz="1800" b="0">
                <a:solidFill>
                  <a:srgbClr val="1456A0"/>
                </a:solidFill>
                <a:latin typeface="Bitstream Charter"/>
                <a:ea typeface="Bitstream Charter"/>
                <a:cs typeface="Bitstream Charter"/>
              </a:rPr>
              <a:t>Also ahead: HL7 scheduling, PDF/image links, cloud containers and export to Snowflake.</a:t>
            </a:r>
          </a:p>
        </p:txBody>
      </p:sp>
    </p:spTree>
    <p:extLst>
      <p:ext uri="{BB962C8B-B14F-4D97-AF65-F5344CB8AC3E}">
        <p14:creationId xmlns:p14="http://schemas.microsoft.com/office/powerpoint/2010/main" val="5168500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CF6E53-54F7-4E14-B398-BDE6A9389B5E}"/>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The next finished outcome</a:t>
            </a:r>
          </a:p>
        </p:txBody>
      </p:sp>
      <p:sp>
        <p:nvSpPr>
          <p:cNvPr id="2" name="">
            <a:extLst xmlns:a="http://schemas.openxmlformats.org/drawingml/2006/main">
              <a:ext uri="{FF2B5EF4-FFF2-40B4-BE49-F238E27FC236}">
                <a16:creationId xmlns:a16="http://schemas.microsoft.com/office/drawing/2014/main" id="{BA7D0A57-2E28-4BDD-A52D-7F1D89AC9CDB}"/>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CCE87E5E-C56B-4A1C-968B-087A17A63C95}"/>
              </a:ext>
            </a:extLst>
          </p:cNvPr>
          <p:cNvSpPr>
            <a:spLocks xmlns:a="http://schemas.openxmlformats.org/drawingml/2006/main" noGrp="1"/>
          </p:cNvSpPr>
          <p:nvPr/>
        </p:nvSpPr>
        <p:spPr>
          <a:xfrm xmlns:a="http://schemas.openxmlformats.org/drawingml/2006/main">
            <a:off x="609600" y="14287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56A0"/>
                </a:solidFill>
                <a:latin typeface="Bitstream Charter"/>
                <a:ea typeface="Bitstream Charter"/>
                <a:cs typeface="Bitstream Charter"/>
              </a:defRPr>
            </a:pPr>
            <a:r>
              <a:rPr sz="2400" b="1">
                <a:solidFill>
                  <a:srgbClr val="1456A0"/>
                </a:solidFill>
                <a:latin typeface="Bitstream Charter"/>
                <a:ea typeface="Bitstream Charter"/>
                <a:cs typeface="Bitstream Charter"/>
              </a:rPr>
              <a:t>10 fictional patients with a defined record view and a pre-visit worklist</a:t>
            </a:r>
          </a:p>
        </p:txBody>
      </p:sp>
      <p:graphicFrame>
        <p:nvGraphicFramePr>
          <p:cNvPr id="9" name=""/>
          <p:cNvGraphicFramePr/>
          <p:nvPr/>
        </p:nvGraphicFramePr>
        <p:xfrm>
          <a:off xmlns:a="http://schemas.openxmlformats.org/drawingml/2006/main" x="609600" y="2524125"/>
          <a:ext xmlns:a="http://schemas.openxmlformats.org/drawingml/2006/main" cx="10972800" cy="2857500"/>
        </p:xfrm>
        <a:graphic xmlns:a="http://schemas.openxmlformats.org/drawingml/2006/main">
          <a:graphicData uri="http://schemas.openxmlformats.org/drawingml/2006/table">
            <a:tbl>
              <a:tblPr/>
              <a:tblGrid>
                <a:gridCol w="4048125"/>
                <a:gridCol w="6924675"/>
              </a:tblGrid>
              <a:tr h="476250">
                <a:tc>
                  <a:txBody>
                    <a:bodyPr/>
                    <a:lstStyle/>
                    <a:p>
                      <a:r>
                        <a:rPr sz="1800" b="1">
                          <a:solidFill>
                            <a:srgbClr val="1456A0"/>
                          </a:solidFill>
                          <a:latin typeface="Bitstream Charter"/>
                          <a:ea typeface="Bitstream Charter"/>
                          <a:cs typeface="Bitstream Charter"/>
                        </a:rPr>
                        <a:t>Acceptance criterion</a:t>
                      </a:r>
                    </a:p>
                  </a:txBody>
                  <a:tcPr marL="91440" marR="91440" marT="45720" marB="45720">
                    <a:solidFill>
                      <a:srgbClr val="EAF2FC"/>
                    </a:solidFill>
                  </a:tcPr>
                </a:tc>
                <a:tc>
                  <a:txBody>
                    <a:bodyPr/>
                    <a:lstStyle/>
                    <a:p>
                      <a:r>
                        <a:rPr sz="1800" b="1">
                          <a:solidFill>
                            <a:srgbClr val="1456A0"/>
                          </a:solidFill>
                          <a:latin typeface="Bitstream Charter"/>
                          <a:ea typeface="Bitstream Charter"/>
                          <a:cs typeface="Bitstream Charter"/>
                        </a:rPr>
                        <a:t>What we will inspect</a:t>
                      </a:r>
                    </a:p>
                  </a:txBody>
                  <a:tcPr marL="91440" marR="91440" marT="45720" marB="45720">
                    <a:solidFill>
                      <a:srgbClr val="EAF2FC"/>
                    </a:solidFill>
                  </a:tcPr>
                </a:tc>
              </a:tr>
              <a:tr h="476250">
                <a:tc>
                  <a:txBody>
                    <a:bodyPr/>
                    <a:lstStyle/>
                    <a:p>
                      <a:r>
                        <a:rPr sz="1800" b="0">
                          <a:solidFill>
                            <a:srgbClr val="1456A0"/>
                          </a:solidFill>
                          <a:latin typeface="Bitstream Charter"/>
                          <a:ea typeface="Bitstream Charter"/>
                          <a:cs typeface="Bitstream Charter"/>
                        </a:rPr>
                        <a:t>Correct records and links</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ADT / lab / scheduling mappings match the labeled fixtures.</a:t>
                      </a:r>
                    </a:p>
                  </a:txBody>
                  <a:tcPr marL="91440" marR="91440" marT="45720" marB="45720">
                    <a:solidFill>
                      <a:srgbClr val="FFFFFF"/>
                    </a:solidFill>
                  </a:tcPr>
                </a:tc>
              </a:tr>
              <a:tr h="476250">
                <a:tc>
                  <a:txBody>
                    <a:bodyPr/>
                    <a:lstStyle/>
                    <a:p>
                      <a:r>
                        <a:rPr sz="1800" b="0">
                          <a:solidFill>
                            <a:srgbClr val="1456A0"/>
                          </a:solidFill>
                          <a:latin typeface="Bitstream Charter"/>
                          <a:ea typeface="Bitstream Charter"/>
                          <a:cs typeface="Bitstream Charter"/>
                        </a:rPr>
                        <a:t>Safe loading</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Repeats add no extra records. Different people and orders stay separate.</a:t>
                      </a:r>
                    </a:p>
                  </a:txBody>
                  <a:tcPr marL="91440" marR="91440" marT="45720" marB="45720">
                    <a:solidFill>
                      <a:srgbClr val="FFFFFF"/>
                    </a:solidFill>
                  </a:tcPr>
                </a:tc>
              </a:tr>
              <a:tr h="476250">
                <a:tc>
                  <a:txBody>
                    <a:bodyPr/>
                    <a:lstStyle/>
                    <a:p>
                      <a:r>
                        <a:rPr sz="1800" b="0">
                          <a:solidFill>
                            <a:srgbClr val="1456A0"/>
                          </a:solidFill>
                          <a:latin typeface="Bitstream Charter"/>
                          <a:ea typeface="Bitstream Charter"/>
                          <a:cs typeface="Bitstream Charter"/>
                        </a:rPr>
                        <a:t>Useful worklist</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Expected missing records and broken links match labeled cases.</a:t>
                      </a:r>
                    </a:p>
                  </a:txBody>
                  <a:tcPr marL="91440" marR="91440" marT="45720" marB="45720">
                    <a:solidFill>
                      <a:srgbClr val="FFFFFF"/>
                    </a:solidFill>
                  </a:tcPr>
                </a:tc>
              </a:tr>
              <a:tr h="476250">
                <a:tc>
                  <a:txBody>
                    <a:bodyPr/>
                    <a:lstStyle/>
                    <a:p>
                      <a:r>
                        <a:rPr sz="1800" b="0">
                          <a:solidFill>
                            <a:srgbClr val="1456A0"/>
                          </a:solidFill>
                          <a:latin typeface="Bitstream Charter"/>
                          <a:ea typeface="Bitstream Charter"/>
                          <a:cs typeface="Bitstream Charter"/>
                        </a:rPr>
                        <a:t>Documents and access</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Open a synthetic PDF/image. Test permitted and denied access.</a:t>
                      </a:r>
                    </a:p>
                  </a:txBody>
                  <a:tcPr marL="91440" marR="91440" marT="45720" marB="45720">
                    <a:solidFill>
                      <a:srgbClr val="FFFFFF"/>
                    </a:solidFill>
                  </a:tcPr>
                </a:tc>
              </a:tr>
              <a:tr h="476250">
                <a:tc>
                  <a:txBody>
                    <a:bodyPr/>
                    <a:lstStyle/>
                    <a:p>
                      <a:r>
                        <a:rPr sz="1800" b="0">
                          <a:solidFill>
                            <a:srgbClr val="1456A0"/>
                          </a:solidFill>
                          <a:latin typeface="Bitstream Charter"/>
                          <a:ea typeface="Bitstream Charter"/>
                          <a:cs typeface="Bitstream Charter"/>
                        </a:rPr>
                        <a:t>Recovery and delivery</a:t>
                      </a:r>
                    </a:p>
                  </a:txBody>
                  <a:tcPr marL="91440" marR="91440" marT="45720" marB="45720">
                    <a:solidFill>
                      <a:srgbClr val="FFFFFF"/>
                    </a:solidFill>
                  </a:tcPr>
                </a:tc>
                <a:tc>
                  <a:txBody>
                    <a:bodyPr/>
                    <a:lstStyle/>
                    <a:p>
                      <a:r>
                        <a:rPr sz="1800" b="0">
                          <a:solidFill>
                            <a:srgbClr val="1456A0"/>
                          </a:solidFill>
                          <a:latin typeface="Bitstream Charter"/>
                          <a:ea typeface="Bitstream Charter"/>
                          <a:cs typeface="Bitstream Charter"/>
                        </a:rPr>
                        <a:t>Restore records. Reconcile cloud export and Snowflake counts.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5EA0C26-7F9E-4D85-B13C-CACD0DFD508E}"/>
              </a:ext>
            </a:extLst>
          </p:cNvPr>
          <p:cNvSpPr>
            <a:spLocks xmlns:a="http://schemas.openxmlformats.org/drawingml/2006/main" noGrp="1"/>
          </p:cNvSpPr>
          <p:nvPr/>
        </p:nvSpPr>
        <p:spPr>
          <a:xfrm xmlns:a="http://schemas.openxmlformats.org/drawingml/2006/main">
            <a:off x="609600" y="6048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56A0"/>
                </a:solidFill>
                <a:latin typeface="Bitstream Charter"/>
                <a:ea typeface="Bitstream Charter"/>
                <a:cs typeface="Bitstream Charter"/>
              </a:defRPr>
            </a:pPr>
            <a:r>
              <a:rPr sz="1650" b="0">
                <a:solidFill>
                  <a:srgbClr val="1456A0"/>
                </a:solidFill>
                <a:latin typeface="Bitstream Charter"/>
                <a:ea typeface="Bitstream Charter"/>
                <a:cs typeface="Bitstream Charter"/>
              </a:rPr>
              <a:t>Later scale test: 1,000 synthetic patients with measured runtime and reconciled counts.</a:t>
            </a:r>
          </a:p>
          <a:p xmlns:a="http://schemas.openxmlformats.org/drawingml/2006/main">
            <a:pPr>
              <a:defRPr sz="1650" b="0">
                <a:solidFill>
                  <a:srgbClr val="1456A0"/>
                </a:solidFill>
                <a:latin typeface="Bitstream Charter"/>
                <a:ea typeface="Bitstream Charter"/>
                <a:cs typeface="Bitstream Charter"/>
              </a:defRPr>
            </a:pPr>
            <a:r>
              <a:rPr sz="1650" b="0">
                <a:solidFill>
                  <a:srgbClr val="1456A0"/>
                </a:solidFill>
                <a:latin typeface="Bitstream Charter"/>
                <a:ea typeface="Bitstream Charter"/>
                <a:cs typeface="Bitstream Charter"/>
              </a:rPr>
              <a:t>Five hours gives an overview. The full build requires further stages.</a:t>
            </a:r>
          </a:p>
        </p:txBody>
      </p:sp>
    </p:spTree>
    <p:extLst>
      <p:ext uri="{BB962C8B-B14F-4D97-AF65-F5344CB8AC3E}">
        <p14:creationId xmlns:p14="http://schemas.microsoft.com/office/powerpoint/2010/main" val="16041084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76E11F-4704-42C8-8BAC-4C66186CB944}"/>
              </a:ext>
            </a:extLst>
          </p:cNvPr>
          <p:cNvSpPr>
            <a:spLocks xmlns:a="http://schemas.openxmlformats.org/drawingml/2006/main" noGrp="1"/>
          </p:cNvSpPr>
          <p:nvPr/>
        </p:nvSpPr>
        <p:spPr>
          <a:xfrm xmlns:a="http://schemas.openxmlformats.org/drawingml/2006/main">
            <a:off x="609600" y="4286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56A0"/>
                </a:solidFill>
                <a:latin typeface="Bitstream Charter"/>
                <a:ea typeface="Bitstream Charter"/>
                <a:cs typeface="Bitstream Charter"/>
              </a:defRPr>
            </a:pPr>
            <a:r>
              <a:rPr sz="3300" b="1">
                <a:solidFill>
                  <a:srgbClr val="1456A0"/>
                </a:solidFill>
                <a:latin typeface="Bitstream Charter"/>
                <a:ea typeface="Bitstream Charter"/>
                <a:cs typeface="Bitstream Charter"/>
              </a:rPr>
              <a:t>End-of-day record and tomorrow’s first action</a:t>
            </a:r>
          </a:p>
        </p:txBody>
      </p:sp>
      <p:sp>
        <p:nvSpPr>
          <p:cNvPr id="2" name="">
            <a:extLst xmlns:a="http://schemas.openxmlformats.org/drawingml/2006/main">
              <a:ext uri="{FF2B5EF4-FFF2-40B4-BE49-F238E27FC236}">
                <a16:creationId xmlns:a16="http://schemas.microsoft.com/office/drawing/2014/main" id="{34358E39-A112-4AB3-9812-05C211E77141}"/>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56A0"/>
                </a:solidFill>
                <a:latin typeface="Bitstream Charter"/>
                <a:ea typeface="Bitstream Charter"/>
                <a:cs typeface="Bitstream Charter"/>
              </a:defRPr>
            </a:pPr>
            <a:r>
              <a:rPr sz="1350" b="0">
                <a:solidFill>
                  <a:srgbClr val="1456A0"/>
                </a:solidFill>
                <a:latin typeface="Bitstream Charter"/>
                <a:ea typeface="Bitstream Charter"/>
                <a:cs typeface="Bitstream Charter"/>
              </a:rPr>
              <a:t>13</a:t>
            </a:r>
          </a:p>
        </p:txBody>
      </p:sp>
      <p:sp>
        <p:nvSpPr>
          <p:cNvPr id="3" name="">
            <a:extLst xmlns:a="http://schemas.openxmlformats.org/drawingml/2006/main">
              <a:ext uri="{FF2B5EF4-FFF2-40B4-BE49-F238E27FC236}">
                <a16:creationId xmlns:a16="http://schemas.microsoft.com/office/drawing/2014/main" id="{05987D26-1A30-4402-95BD-EBB6EFFB441A}"/>
              </a:ext>
            </a:extLst>
          </p:cNvPr>
          <p:cNvSpPr>
            <a:spLocks xmlns:a="http://schemas.openxmlformats.org/drawingml/2006/main" noGrp="1"/>
          </p:cNvSpPr>
          <p:nvPr/>
        </p:nvSpPr>
        <p:spPr>
          <a:xfrm xmlns:a="http://schemas.openxmlformats.org/drawingml/2006/main">
            <a:off x="609600" y="1381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56A0"/>
                </a:solidFill>
                <a:latin typeface="Bitstream Charter"/>
                <a:ea typeface="Bitstream Charter"/>
                <a:cs typeface="Bitstream Charter"/>
              </a:defRPr>
            </a:pPr>
            <a:r>
              <a:rPr sz="2250" b="1">
                <a:solidFill>
                  <a:srgbClr val="1456A0"/>
                </a:solidFill>
                <a:latin typeface="Bitstream Charter"/>
                <a:ea typeface="Bitstream Charter"/>
                <a:cs typeface="Bitstream Charter"/>
              </a:rPr>
              <a:t>Completed locally</a:t>
            </a:r>
          </a:p>
        </p:txBody>
      </p:sp>
      <p:sp>
        <p:nvSpPr>
          <p:cNvPr id="4" name="">
            <a:extLst xmlns:a="http://schemas.openxmlformats.org/drawingml/2006/main">
              <a:ext uri="{FF2B5EF4-FFF2-40B4-BE49-F238E27FC236}">
                <a16:creationId xmlns:a16="http://schemas.microsoft.com/office/drawing/2014/main" id="{DFE890A5-6694-4F3E-B693-56C0B9480BD0}"/>
              </a:ext>
            </a:extLst>
          </p:cNvPr>
          <p:cNvSpPr>
            <a:spLocks xmlns:a="http://schemas.openxmlformats.org/drawingml/2006/main" noGrp="1"/>
          </p:cNvSpPr>
          <p:nvPr/>
        </p:nvSpPr>
        <p:spPr>
          <a:xfrm xmlns:a="http://schemas.openxmlformats.org/drawingml/2006/main">
            <a:off x="609600" y="1952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Patient translation, two lab results, stable IDs and rejection tests.</a:t>
            </a:r>
          </a:p>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Patient + labs, appointment and both check outcomes reported working.</a:t>
            </a:r>
          </a:p>
        </p:txBody>
      </p:sp>
      <p:sp>
        <p:nvSpPr>
          <p:cNvPr id="5" name="">
            <a:extLst xmlns:a="http://schemas.openxmlformats.org/drawingml/2006/main">
              <a:ext uri="{FF2B5EF4-FFF2-40B4-BE49-F238E27FC236}">
                <a16:creationId xmlns:a16="http://schemas.microsoft.com/office/drawing/2014/main" id="{EE1CC030-10CF-41D6-A343-3E5FF09A2060}"/>
              </a:ext>
            </a:extLst>
          </p:cNvPr>
          <p:cNvSpPr>
            <a:spLocks xmlns:a="http://schemas.openxmlformats.org/drawingml/2006/main" noGrp="1"/>
          </p:cNvSpPr>
          <p:nvPr/>
        </p:nvSpPr>
        <p:spPr>
          <a:xfrm xmlns:a="http://schemas.openxmlformats.org/drawingml/2006/main">
            <a:off x="609600" y="31908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56A0"/>
                </a:solidFill>
                <a:latin typeface="Bitstream Charter"/>
                <a:ea typeface="Bitstream Charter"/>
                <a:cs typeface="Bitstream Charter"/>
              </a:defRPr>
            </a:pPr>
            <a:r>
              <a:rPr sz="2250" b="1">
                <a:solidFill>
                  <a:srgbClr val="1456A0"/>
                </a:solidFill>
                <a:latin typeface="Bitstream Charter"/>
                <a:ea typeface="Bitstream Charter"/>
                <a:cs typeface="Bitstream Charter"/>
              </a:rPr>
              <a:t>Unresolved</a:t>
            </a:r>
          </a:p>
        </p:txBody>
      </p:sp>
      <p:sp>
        <p:nvSpPr>
          <p:cNvPr id="6" name="">
            <a:extLst xmlns:a="http://schemas.openxmlformats.org/drawingml/2006/main">
              <a:ext uri="{FF2B5EF4-FFF2-40B4-BE49-F238E27FC236}">
                <a16:creationId xmlns:a16="http://schemas.microsoft.com/office/drawing/2014/main" id="{46E1C92B-8651-4194-88AD-B01F128F25B4}"/>
              </a:ext>
            </a:extLst>
          </p:cNvPr>
          <p:cNvSpPr>
            <a:spLocks xmlns:a="http://schemas.openxmlformats.org/drawingml/2006/main" noGrp="1"/>
          </p:cNvSpPr>
          <p:nvPr/>
        </p:nvSpPr>
        <p:spPr>
          <a:xfrm xmlns:a="http://schemas.openxmlformats.org/drawingml/2006/main">
            <a:off x="609600" y="37623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AWS readiness, network access, cost settings and Firely connection.</a:t>
            </a:r>
          </a:p>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SMART login, viewer, documents, scheduling conversion and Snowflake.</a:t>
            </a:r>
          </a:p>
        </p:txBody>
      </p:sp>
      <p:sp>
        <p:nvSpPr>
          <p:cNvPr id="7" name="">
            <a:extLst xmlns:a="http://schemas.openxmlformats.org/drawingml/2006/main">
              <a:ext uri="{FF2B5EF4-FFF2-40B4-BE49-F238E27FC236}">
                <a16:creationId xmlns:a16="http://schemas.microsoft.com/office/drawing/2014/main" id="{218D08C5-A05E-48B5-84CA-3284D573FE57}"/>
              </a:ext>
            </a:extLst>
          </p:cNvPr>
          <p:cNvSpPr>
            <a:spLocks xmlns:a="http://schemas.openxmlformats.org/drawingml/2006/main" noGrp="1"/>
          </p:cNvSpPr>
          <p:nvPr/>
        </p:nvSpPr>
        <p:spPr>
          <a:xfrm xmlns:a="http://schemas.openxmlformats.org/drawingml/2006/main">
            <a:off x="609600" y="4857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56A0"/>
                </a:solidFill>
                <a:latin typeface="Bitstream Charter"/>
                <a:ea typeface="Bitstream Charter"/>
                <a:cs typeface="Bitstream Charter"/>
              </a:defRPr>
            </a:pPr>
            <a:r>
              <a:rPr sz="2250" b="1">
                <a:solidFill>
                  <a:srgbClr val="1456A0"/>
                </a:solidFill>
                <a:latin typeface="Bitstream Charter"/>
                <a:ea typeface="Bitstream Charter"/>
                <a:cs typeface="Bitstream Charter"/>
              </a:rPr>
              <a:t>Tomorrow’s first action</a:t>
            </a:r>
          </a:p>
        </p:txBody>
      </p:sp>
      <p:sp>
        <p:nvSpPr>
          <p:cNvPr id="8" name="">
            <a:extLst xmlns:a="http://schemas.openxmlformats.org/drawingml/2006/main">
              <a:ext uri="{FF2B5EF4-FFF2-40B4-BE49-F238E27FC236}">
                <a16:creationId xmlns:a16="http://schemas.microsoft.com/office/drawing/2014/main" id="{627E557F-9825-4514-A9B2-00773FE228C5}"/>
              </a:ext>
            </a:extLst>
          </p:cNvPr>
          <p:cNvSpPr>
            <a:spLocks xmlns:a="http://schemas.openxmlformats.org/drawingml/2006/main" noGrp="1"/>
          </p:cNvSpPr>
          <p:nvPr/>
        </p:nvSpPr>
        <p:spPr>
          <a:xfrm xmlns:a="http://schemas.openxmlformats.org/drawingml/2006/main">
            <a:off x="609600" y="5429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Inspect the existing database and its endpoint / access settings.</a:t>
            </a:r>
          </a:p>
          <a:p xmlns:a="http://schemas.openxmlformats.org/drawingml/2006/main">
            <a:pPr>
              <a:defRPr sz="2025" b="0">
                <a:solidFill>
                  <a:srgbClr val="1456A0"/>
                </a:solidFill>
                <a:latin typeface="Bitstream Charter"/>
                <a:ea typeface="Bitstream Charter"/>
                <a:cs typeface="Bitstream Charter"/>
              </a:defRPr>
            </a:pPr>
            <a:r>
              <a:rPr sz="2025" b="0">
                <a:solidFill>
                  <a:srgbClr val="1456A0"/>
                </a:solidFill>
                <a:latin typeface="Bitstream Charter"/>
                <a:ea typeface="Bitstream Charter"/>
                <a:cs typeface="Bitstream Charter"/>
              </a:rPr>
              <a:t>Tonight: stop it temporarily if available, then verify “Stopped”.</a:t>
            </a:r>
          </a:p>
        </p:txBody>
      </p:sp>
    </p:spTree>
    <p:extLst>
      <p:ext uri="{BB962C8B-B14F-4D97-AF65-F5344CB8AC3E}">
        <p14:creationId xmlns:p14="http://schemas.microsoft.com/office/powerpoint/2010/main" val="1231288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2026-10-02T03:13:09.8690000Z</dcterms:created>
  <dcterms:modified xsi:type="dcterms:W3CDTF">2026-10-02T03:13:09.8690000Z</dcterms:modified>
</coreProperties>
</file>