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b5ac88d0b147cf" /><Relationship Type="http://schemas.openxmlformats.org/officeDocument/2006/relationships/extended-properties" Target="/docProps/app.xml" Id="R80f7a2dd58114833" /><Relationship Type="http://schemas.openxmlformats.org/officeDocument/2006/relationships/officeDocument" Target="/ppt/presentation.xml" Id="Rbea379247d3d4275" /></Relationships>
</file>

<file path=ppt/presentation.xml><?xml version="1.0" encoding="utf-8"?>
<p:presentation xmlns:p="http://schemas.openxmlformats.org/presentationml/2006/main">
  <p:sldMasterIdLst>
    <p:sldMasterId xmlns:r="http://schemas.openxmlformats.org/officeDocument/2006/relationships" id="2147483648" r:id="Rce849a824a5c48bc"/>
  </p:sldMasterIdLst>
  <p:notesMasterIdLst>
    <p:notesMasterId xmlns:r="http://schemas.openxmlformats.org/officeDocument/2006/relationships" r:id="Rdfe09ac9863140e8"/>
  </p:notesMasterIdLst>
  <p:sldIdLst>
    <p:sldId xmlns:r="http://schemas.openxmlformats.org/officeDocument/2006/relationships" id="256" r:id="Re46f8d1eb9764a5d"/>
    <p:sldId xmlns:r="http://schemas.openxmlformats.org/officeDocument/2006/relationships" id="257" r:id="R0e9685d63a024706"/>
    <p:sldId xmlns:r="http://schemas.openxmlformats.org/officeDocument/2006/relationships" id="258" r:id="Rd7228f9aa0224f97"/>
    <p:sldId xmlns:r="http://schemas.openxmlformats.org/officeDocument/2006/relationships" id="259" r:id="R4ac06c48eda34a92"/>
    <p:sldId xmlns:r="http://schemas.openxmlformats.org/officeDocument/2006/relationships" id="260" r:id="Re57e654a52e3491f"/>
    <p:sldId xmlns:r="http://schemas.openxmlformats.org/officeDocument/2006/relationships" id="261" r:id="Rdecb2bc75051440a"/>
    <p:sldId xmlns:r="http://schemas.openxmlformats.org/officeDocument/2006/relationships" id="262" r:id="Rbd7eb053d2b44ee0"/>
    <p:sldId xmlns:r="http://schemas.openxmlformats.org/officeDocument/2006/relationships" id="263" r:id="R2a4dd7194245407f"/>
    <p:sldId xmlns:r="http://schemas.openxmlformats.org/officeDocument/2006/relationships" id="264" r:id="Rddcd840ee65045f1"/>
    <p:sldId xmlns:r="http://schemas.openxmlformats.org/officeDocument/2006/relationships" id="265" r:id="Rbf42a079eb254878"/>
    <p:sldId xmlns:r="http://schemas.openxmlformats.org/officeDocument/2006/relationships" id="266" r:id="R31952fe91e5d4f50"/>
    <p:sldId xmlns:r="http://schemas.openxmlformats.org/officeDocument/2006/relationships" id="267" r:id="Rd53a97920e5c4639"/>
    <p:sldId xmlns:r="http://schemas.openxmlformats.org/officeDocument/2006/relationships" id="268" r:id="R9d7842d11aab4027"/>
    <p:sldId xmlns:r="http://schemas.openxmlformats.org/officeDocument/2006/relationships" id="269" r:id="R4ef09f505da94ad4"/>
    <p:sldId xmlns:r="http://schemas.openxmlformats.org/officeDocument/2006/relationships" id="270" r:id="R46aa0d401486435a"/>
    <p:sldId xmlns:r="http://schemas.openxmlformats.org/officeDocument/2006/relationships" id="271" r:id="R17394dd81d0847e5"/>
    <p:sldId xmlns:r="http://schemas.openxmlformats.org/officeDocument/2006/relationships" id="272" r:id="Rf7970f17baa24829"/>
    <p:sldId xmlns:r="http://schemas.openxmlformats.org/officeDocument/2006/relationships" id="273" r:id="R59df215936a448bd"/>
    <p:sldId xmlns:r="http://schemas.openxmlformats.org/officeDocument/2006/relationships" id="274" r:id="R8a5dd50bdd604343"/>
    <p:sldId xmlns:r="http://schemas.openxmlformats.org/officeDocument/2006/relationships" id="275" r:id="Rd2a86d2750ed4a7c"/>
    <p:sldId xmlns:r="http://schemas.openxmlformats.org/officeDocument/2006/relationships" id="276" r:id="R09cd853afb8b47e7"/>
    <p:sldId xmlns:r="http://schemas.openxmlformats.org/officeDocument/2006/relationships" id="277" r:id="Rd354c3c5900f480a"/>
    <p:sldId xmlns:r="http://schemas.openxmlformats.org/officeDocument/2006/relationships" id="278" r:id="R5ec445c323d1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5876f935484be9" /><Relationship Type="http://schemas.openxmlformats.org/officeDocument/2006/relationships/slideMaster" Target="/ppt/slideMasters/slideMaster1.xml" Id="Rce849a824a5c48bc" /><Relationship Type="http://schemas.openxmlformats.org/officeDocument/2006/relationships/notesMaster" Target="/ppt/notesMasters/notesMaster1.xml" Id="Rdfe09ac9863140e8" /><Relationship Type="http://schemas.openxmlformats.org/officeDocument/2006/relationships/presProps" Target="/ppt/presProps.xml" Id="R87b4c1d8df54452b" /><Relationship Type="http://schemas.openxmlformats.org/officeDocument/2006/relationships/tableStyles" Target="/ppt/tableStyles.xml" Id="R6244b68fdc524eed" /><Relationship Type="http://schemas.openxmlformats.org/officeDocument/2006/relationships/slide" Target="/ppt/slides/slide1.xml" Id="Re46f8d1eb9764a5d" /><Relationship Type="http://schemas.openxmlformats.org/officeDocument/2006/relationships/slide" Target="/ppt/slides/slide2.xml" Id="R0e9685d63a024706" /><Relationship Type="http://schemas.openxmlformats.org/officeDocument/2006/relationships/slide" Target="/ppt/slides/slide3.xml" Id="Rd7228f9aa0224f97" /><Relationship Type="http://schemas.openxmlformats.org/officeDocument/2006/relationships/slide" Target="/ppt/slides/slide4.xml" Id="R4ac06c48eda34a92" /><Relationship Type="http://schemas.openxmlformats.org/officeDocument/2006/relationships/slide" Target="/ppt/slides/slide5.xml" Id="Re57e654a52e3491f" /><Relationship Type="http://schemas.openxmlformats.org/officeDocument/2006/relationships/slide" Target="/ppt/slides/slide6.xml" Id="Rdecb2bc75051440a" /><Relationship Type="http://schemas.openxmlformats.org/officeDocument/2006/relationships/slide" Target="/ppt/slides/slide7.xml" Id="Rbd7eb053d2b44ee0" /><Relationship Type="http://schemas.openxmlformats.org/officeDocument/2006/relationships/slide" Target="/ppt/slides/slide8.xml" Id="R2a4dd7194245407f" /><Relationship Type="http://schemas.openxmlformats.org/officeDocument/2006/relationships/slide" Target="/ppt/slides/slide9.xml" Id="Rddcd840ee65045f1" /><Relationship Type="http://schemas.openxmlformats.org/officeDocument/2006/relationships/slide" Target="/ppt/slides/slide10.xml" Id="Rbf42a079eb254878" /><Relationship Type="http://schemas.openxmlformats.org/officeDocument/2006/relationships/slide" Target="/ppt/slides/slide11.xml" Id="R31952fe91e5d4f50" /><Relationship Type="http://schemas.openxmlformats.org/officeDocument/2006/relationships/slide" Target="/ppt/slides/slide12.xml" Id="Rd53a97920e5c4639" /><Relationship Type="http://schemas.openxmlformats.org/officeDocument/2006/relationships/slide" Target="/ppt/slides/slide13.xml" Id="R9d7842d11aab4027" /><Relationship Type="http://schemas.openxmlformats.org/officeDocument/2006/relationships/slide" Target="/ppt/slides/slide14.xml" Id="R4ef09f505da94ad4" /><Relationship Type="http://schemas.openxmlformats.org/officeDocument/2006/relationships/slide" Target="/ppt/slides/slide15.xml" Id="R46aa0d401486435a" /><Relationship Type="http://schemas.openxmlformats.org/officeDocument/2006/relationships/slide" Target="/ppt/slides/slide16.xml" Id="R17394dd81d0847e5" /><Relationship Type="http://schemas.openxmlformats.org/officeDocument/2006/relationships/slide" Target="/ppt/slides/slide17.xml" Id="Rf7970f17baa24829" /><Relationship Type="http://schemas.openxmlformats.org/officeDocument/2006/relationships/slide" Target="/ppt/slides/slide18.xml" Id="R59df215936a448bd" /><Relationship Type="http://schemas.openxmlformats.org/officeDocument/2006/relationships/slide" Target="/ppt/slides/slide19.xml" Id="R8a5dd50bdd604343" /><Relationship Type="http://schemas.openxmlformats.org/officeDocument/2006/relationships/slide" Target="/ppt/slides/slide20.xml" Id="Rd2a86d2750ed4a7c" /><Relationship Type="http://schemas.openxmlformats.org/officeDocument/2006/relationships/slide" Target="/ppt/slides/slide21.xml" Id="R09cd853afb8b47e7" /><Relationship Type="http://schemas.openxmlformats.org/officeDocument/2006/relationships/slide" Target="/ppt/slides/slide22.xml" Id="Rd354c3c5900f480a" /><Relationship Type="http://schemas.openxmlformats.org/officeDocument/2006/relationships/slide" Target="/ppt/slides/slide23.xml" Id="R5ec445c323d1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504407341c46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f2a38664544897" /><Relationship Type="http://schemas.openxmlformats.org/officeDocument/2006/relationships/notesMaster" Target="/ppt/notesMasters/notesMaster1.xml" Id="Rae30f952388a4b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5ae478dd84d9b" /><Relationship Type="http://schemas.openxmlformats.org/officeDocument/2006/relationships/notesMaster" Target="/ppt/notesMasters/notesMaster1.xml" Id="Rac7bc8b89e7141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c7951d811b41f6" /><Relationship Type="http://schemas.openxmlformats.org/officeDocument/2006/relationships/notesMaster" Target="/ppt/notesMasters/notesMaster1.xml" Id="R1dc3deac9b8947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1073cf63d9430d" /><Relationship Type="http://schemas.openxmlformats.org/officeDocument/2006/relationships/notesMaster" Target="/ppt/notesMasters/notesMaster1.xml" Id="R4d195961c22542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6fc72e640e4aca" /><Relationship Type="http://schemas.openxmlformats.org/officeDocument/2006/relationships/notesMaster" Target="/ppt/notesMasters/notesMaster1.xml" Id="R25ec2d9e89274f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feef5612844dfb" /><Relationship Type="http://schemas.openxmlformats.org/officeDocument/2006/relationships/notesMaster" Target="/ppt/notesMasters/notesMaster1.xml" Id="R88b8aced8b1f44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a14ec837494d7a" /><Relationship Type="http://schemas.openxmlformats.org/officeDocument/2006/relationships/notesMaster" Target="/ppt/notesMasters/notesMaster1.xml" Id="Racde762848b549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5fc3ba32574794" /><Relationship Type="http://schemas.openxmlformats.org/officeDocument/2006/relationships/notesMaster" Target="/ppt/notesMasters/notesMaster1.xml" Id="R5776e8c21dab4d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a2b00768c74254" /><Relationship Type="http://schemas.openxmlformats.org/officeDocument/2006/relationships/notesMaster" Target="/ppt/notesMasters/notesMaster1.xml" Id="R181a3ce8c57641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01807d756a4770" /><Relationship Type="http://schemas.openxmlformats.org/officeDocument/2006/relationships/notesMaster" Target="/ppt/notesMasters/notesMaster1.xml" Id="R39bde9ec16ae49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27fb1908b84de9" /><Relationship Type="http://schemas.openxmlformats.org/officeDocument/2006/relationships/notesMaster" Target="/ppt/notesMasters/notesMaster1.xml" Id="Ra37ddaa8f8b24e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11fb0a2225400a" /><Relationship Type="http://schemas.openxmlformats.org/officeDocument/2006/relationships/notesMaster" Target="/ppt/notesMasters/notesMaster1.xml" Id="Rdbf88290c4eb42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6f4623770e4df1" /><Relationship Type="http://schemas.openxmlformats.org/officeDocument/2006/relationships/notesMaster" Target="/ppt/notesMasters/notesMaster1.xml" Id="R02cf04dc34e944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7eca5e60414a10" /><Relationship Type="http://schemas.openxmlformats.org/officeDocument/2006/relationships/notesMaster" Target="/ppt/notesMasters/notesMaster1.xml" Id="R8760a819831046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9b7f659f2b49b7" /><Relationship Type="http://schemas.openxmlformats.org/officeDocument/2006/relationships/notesMaster" Target="/ppt/notesMasters/notesMaster1.xml" Id="R3615e459353c4b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dc78794f424713" /><Relationship Type="http://schemas.openxmlformats.org/officeDocument/2006/relationships/notesMaster" Target="/ppt/notesMasters/notesMaster1.xml" Id="R52ff79907a7948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3b066766ef452c" /><Relationship Type="http://schemas.openxmlformats.org/officeDocument/2006/relationships/notesMaster" Target="/ppt/notesMasters/notesMaster1.xml" Id="R278c196f99e34e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0e7a4351664a0d" /><Relationship Type="http://schemas.openxmlformats.org/officeDocument/2006/relationships/notesMaster" Target="/ppt/notesMasters/notesMaster1.xml" Id="R45d27c881fc646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d8241620214f9c" /><Relationship Type="http://schemas.openxmlformats.org/officeDocument/2006/relationships/notesMaster" Target="/ppt/notesMasters/notesMaster1.xml" Id="R987b06567b1d4a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3ebda2f29b49f6" /><Relationship Type="http://schemas.openxmlformats.org/officeDocument/2006/relationships/notesMaster" Target="/ppt/notesMasters/notesMaster1.xml" Id="R9466b4c4a6794b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0f02ff4c19400d" /><Relationship Type="http://schemas.openxmlformats.org/officeDocument/2006/relationships/notesMaster" Target="/ppt/notesMasters/notesMaster1.xml" Id="R057265de261b4c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594939f7bd41a0" /><Relationship Type="http://schemas.openxmlformats.org/officeDocument/2006/relationships/notesMaster" Target="/ppt/notesMasters/notesMaster1.xml" Id="R6b5b05e4901c4d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7ab8d1125e4976" /><Relationship Type="http://schemas.openxmlformats.org/officeDocument/2006/relationships/notesMaster" Target="/ppt/notesMasters/notesMaster1.xml" Id="Rb32dffeeca7e48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guided project overview for a learner with no technical background. The first part explains the practical purpose. Topic-name slides provide a study sequence, while these notes provide definitions. No actual patient data or credentials appear.</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problem framing, not a measured study of a specific hospital. A team may need patient identity, laboratory results, appointment details and documents before a visit. Our prototype checks configured information availability. It does not decide whether a patient is medically fit for care.</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stakeholders, not actual users enrolled in a pilot. Patients may face follow-up requests when information is incomplete. Staff need clear ownership and history. IT teams need consistent identifiers and secure access. We have tested a synthetic reviewer demonstration, not real operational benefit.</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viewer joins the supported records for two fictional patients. A configured glucose requirement checks a seven-day window before an appointment. A failure to retrieve data yields unable_to_assess, rather than pretending a record is missing. Synthetic PDF/image access is controlled. Analytics uses a copied snapshot, not a live clinical decision.</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HL7 is the standards organization, and HL7 v2 and FHIR are different standards from that organization. HL7 v2 messages describe events. FHIR defines structured resources and ways to exchange them. Our code supports a small ADT admission example and an ORU laboratory example. Conversion maps meaning, identifiers, units and time. It is not simply changing a file extension.</a:t>
            </a:r>
          </a:p>
          <a:p xmlns:a="http://schemas.openxmlformats.org/drawingml/2006/main">
            <a:r>
              <a:t>Sources: https://www.hl7.org/fhir/uv/v2mappings/message_maps.html</a:t>
            </a:r>
          </a:p>
          <a:p xmlns:a="http://schemas.openxmlformats.org/drawingml/2006/main">
            <a:r>
              <a:t>https://hl7.org/fhir/R4/resource.html</a:t>
            </a:r>
          </a:p>
          <a:p xmlns:a="http://schemas.openxmlformats.org/drawingml/2006/main">
            <a:r>
              <a:t>https://hl7.org/fhir/R4/http.html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systems and newer applications can use different exchange formats. FHIR resources and HTTP interactions offer a common model for supported information. A conversion bridge preserves meaning so a receiving app can interpret records consistently. This project is a narrow learning example, not a complete universal hospital interface.</a:t>
            </a:r>
          </a:p>
          <a:p xmlns:a="http://schemas.openxmlformats.org/drawingml/2006/main">
            <a:r>
              <a:t>Sources: https://www.hl7.org/fhir/uv/v2mappings/message_maps.html</a:t>
            </a:r>
          </a:p>
          <a:p xmlns:a="http://schemas.openxmlformats.org/drawingml/2006/main">
            <a:r>
              <a:t>https://hl7.org/fhir/R4/resource.html</a:t>
            </a:r>
          </a:p>
          <a:p xmlns:a="http://schemas.openxmlformats.org/drawingml/2006/main">
            <a:r>
              <a:t>https://hl7.org/fhir/R4/http.html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column first, then the right. A file path identifies where something lives. A process is a running program. A server responds to requests from a client. An IP identifies a network address, a port identifies a service, and DNS translates a hostname. These concepts explain most startup checks. No advanced algorithms are needed to begin.</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represents named values and nested structures. NDJSON puts a JSON record on each line. An identifier distinguishes one record, while a reference links records. SQL queries tables. A join connects related records using identity. Null means absent/unknown, not zero. Validation checks assumptions. Stable identity helps detect repeats. Advanced machine learning and statistics are not needed for the current milestone.</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 carries patient-related information, OBR describes an observation request/order, and OBX carries an observation/result. Exact interpretation depends on the message version and implementation. LOINC identifies a test or observation concept, and UCUM expresses units. Our supported lab result is numeric glucose with code 2345-7 and mg/dL. Follow the project code and fixtures when studying actual mappings.</a:t>
            </a:r>
          </a:p>
          <a:p xmlns:a="http://schemas.openxmlformats.org/drawingml/2006/main">
            <a:r>
              <a:t>Sources: https://www.hl7.org/fhir/uv/v2mappings/message_maps.html</a:t>
            </a:r>
          </a:p>
          <a:p xmlns:a="http://schemas.openxmlformats.org/drawingml/2006/main">
            <a:r>
              <a:t>https://hl7.org/fhir/R4/resource.html</a:t>
            </a:r>
          </a:p>
          <a:p xmlns:a="http://schemas.openxmlformats.org/drawingml/2006/main">
            <a:r>
              <a:t>https://hl7.org/fhir/R4/http.html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establishes identity. Authorization decides what that identity may access. OAuth controls delegated access, and OpenID Connect adds identity information. PKCE protects the authorization-code flow. HTTPS/TLS protects transport and verifies peers. A session is temporary state. Learn these topics before changing security configuration.</a:t>
            </a:r>
          </a:p>
          <a:p xmlns:a="http://schemas.openxmlformats.org/drawingml/2006/main">
            <a:r>
              <a:t>Sources: https://docs.fire.ly/projects/Firely-Server/en/latest/security/firely-auth/firely-auth.html</a:t>
            </a:r>
          </a:p>
          <a:p xmlns:a="http://schemas.openxmlformats.org/drawingml/2006/main">
            <a:r>
              <a:t>https://docs.aws.amazon.com/AmazonRDS/latest/UserGuide/SQLServer.Concepts.General.SSL.Using.html</a:t>
            </a:r>
          </a:p>
          <a:p xmlns:a="http://schemas.openxmlformats.org/drawingml/2006/main">
            <a:r>
              <a:t>https://docs.aws.amazon.com/IAM/latest/UserGuide/id_roles_common-scenarios_third-party.html</a:t>
            </a:r>
          </a:p>
          <a:p xmlns:a="http://schemas.openxmlformats.org/drawingml/2006/main">
            <a:r>
              <a:t>https://docs.docker.com/engine/</a:t>
            </a:r>
          </a:p>
          <a:p xmlns:a="http://schemas.openxmlformats.org/drawingml/2006/main">
            <a:r>
              <a:t>https://docs.docker.com/engine/storage/volumes/</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Firely Server stores/retrieves FHIR resources while Firely Auth provides the login/authorization provider. Docker runs those services locally. AWS hosts the SQL Server database and private objects. Python coordinates validation and viewer behavior. Snowflake stores a copy for analysis. Snowflake does not directly query RDS in this design.</a:t>
            </a:r>
          </a:p>
          <a:p xmlns:a="http://schemas.openxmlformats.org/drawingml/2006/main">
            <a:r>
              <a:t>Sources: https://docs.fire.ly/projects/Firely-Server/en/latest/security/firely-auth/firely-auth.html</a:t>
            </a:r>
          </a:p>
          <a:p xmlns:a="http://schemas.openxmlformats.org/drawingml/2006/main">
            <a:r>
              <a:t>https://docs.docker.com/engine/</a:t>
            </a:r>
          </a:p>
          <a:p xmlns:a="http://schemas.openxmlformats.org/drawingml/2006/main">
            <a:r>
              <a:t>https://docs.docker.com/engine/storage/volumes/</a:t>
            </a:r>
          </a:p>
          <a:p xmlns:a="http://schemas.openxmlformats.org/drawingml/2006/main">
            <a:r>
              <a:t>https://docs.aws.amazon.com/AmazonRDS/latest/UserGuide/SQLServer.Concepts.General.SSL.Using.html</a:t>
            </a:r>
          </a:p>
          <a:p xmlns:a="http://schemas.openxmlformats.org/drawingml/2006/main">
            <a:r>
              <a:t>https://docs.aws.amazon.com/IAM/latest/UserGuide/id_roles_common-scenarios_third-party.html</a:t>
            </a:r>
          </a:p>
          <a:p xmlns:a="http://schemas.openxmlformats.org/drawingml/2006/main">
            <a:r>
              <a:t>https://docs.snowflake.com/en/sql-reference/sql/copy-into-table</a:t>
            </a:r>
          </a:p>
          <a:p xmlns:a="http://schemas.openxmlformats.org/drawingml/2006/main">
            <a:r>
              <a:t>https://docs.snowflake.com/en/sql-reference/sql/create-stage</a:t>
            </a:r>
          </a:p>
          <a:p xmlns:a="http://schemas.openxmlformats.org/drawingml/2006/main">
            <a:r>
              <a:t>https://docs.snowflake.com/en/user-guide/warehouses-overview</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UUID5 creates a deterministic identifier from a stable name in a namespace. It is not a security hash. SQLite holds administrative workflow separately from clinical FHIR records. SHA-256 checks that file bytes match. Offline tests exercise controlled cases, while live checks use actual services. Topic names here correspond to the retained project implementation.</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image is a service template. A container is its running instance. Volumes and bind mounts preserve/access files outside disposable process state. Port publishing lets the Mac reach a service. The project reuses existing services and avoids rebuilding them during normal startup. The old Auth rollback container remains stopped because it shares storage with the active instance.</a:t>
            </a:r>
          </a:p>
          <a:p xmlns:a="http://schemas.openxmlformats.org/drawingml/2006/main">
            <a:r>
              <a:t>Sources: https://docs.docker.com/engine/</a:t>
            </a:r>
          </a:p>
          <a:p xmlns:a="http://schemas.openxmlformats.org/drawingml/2006/main">
            <a:r>
              <a:t>https://docs.docker.com/engine/storage/volumes/</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reads Patient, Observation, Appointment and DocumentReference. Pagination handles multiple result pages. Firely Server uses SQL Server storage. Firely Auth issues identity/access tokens. The Python viewer additionally validates tokens, state, nonce, identity and sessions. Do not attribute the entire Python session implementation to Firely. Readiness endpoint use is a project-specific operational check.</a:t>
            </a:r>
          </a:p>
          <a:p xmlns:a="http://schemas.openxmlformats.org/drawingml/2006/main">
            <a:r>
              <a:t>Sources: https://hl7.org/fhir/R4/resource.html</a:t>
            </a:r>
          </a:p>
          <a:p xmlns:a="http://schemas.openxmlformats.org/drawingml/2006/main">
            <a:r>
              <a:t>https://hl7.org/fhir/R4/http.html</a:t>
            </a:r>
          </a:p>
          <a:p xmlns:a="http://schemas.openxmlformats.org/drawingml/2006/main">
            <a:r>
              <a:t>https://docs.fire.ly/projects/Firely-Server/en/latest/security/firely-auth/firely-auth.html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/32 identifies a single IPv4 address. RDS is the managed database service. Encrypt=True and TrustServerCertificate=False remain enabled. IAM permissions describe allowed operations and trust policies describe who can assume a role. The external-ID condition remains in the dedicated Snowflake trust. Organization policy inspection was unavailable to the project session. No precise governing denial policy has been proved.</a:t>
            </a:r>
          </a:p>
          <a:p xmlns:a="http://schemas.openxmlformats.org/drawingml/2006/main">
            <a:r>
              <a:t>Sources: https://docs.aws.amazon.com/AmazonRDS/latest/UserGuide/SQLServer.Concepts.General.SSL.Using.html</a:t>
            </a:r>
          </a:p>
          <a:p xmlns:a="http://schemas.openxmlformats.org/drawingml/2006/main">
            <a:r>
              <a:t>https://docs.aws.amazon.com/IAM/latest/UserGuide/id_roles_common-scenarios_third-party.html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bucket stores objects and a prefix groups names. Private document retrieval passes through the viewer’s authorization gate. The exported three resource files plus a manifest were uploaded to the existing bucket and downloaded to compare hashes. These are live S3 results. They do not prove Snowflake can assume its AWS role. See local source scripts analytics/land_s3.py and document_viewer_server.py.</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stage is a file landing area, while a table holds queryable rows. VARIANT retains the structured JSON payload. COPY loads named files. Metadata records origin and row number. The internal-stage alternative passed actual loading and reconciliation. The separate external S3 stage and storage integration exist but LIST is denied. COPY duplicate skipping is bounded by Snowflake load metadata semantics, not a universal permanent deduplication guarantee.</a:t>
            </a:r>
          </a:p>
          <a:p xmlns:a="http://schemas.openxmlformats.org/drawingml/2006/main">
            <a:r>
              <a:t>Sources: https://docs.snowflake.com/en/sql-reference/sql/copy-into-table</a:t>
            </a:r>
          </a:p>
          <a:p xmlns:a="http://schemas.openxmlformats.org/drawingml/2006/main">
            <a:r>
              <a:t>https://docs.snowflake.com/en/sql-reference/sql/create-stage</a:t>
            </a:r>
          </a:p>
          <a:p xmlns:a="http://schemas.openxmlformats.org/drawingml/2006/main">
            <a:r>
              <a:t>https://docs.snowflake.com/en/user-guide/warehouses-overview</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Snowflake warehouse supplies compute, not the database data store. This dedicated warehouse consumes credits while running. Its final observed state was SUSPENDED. We loaded two patients, three observations and two appointments. Repeating the same load added zero rows. The typed-table transformation and three analytical reports are planned, not implemented.</a:t>
            </a:r>
          </a:p>
          <a:p xmlns:a="http://schemas.openxmlformats.org/drawingml/2006/main">
            <a:r>
              <a:t>Sources: https://docs.snowflake.com/en/sql-reference/sql/copy-into-table</a:t>
            </a:r>
          </a:p>
          <a:p xmlns:a="http://schemas.openxmlformats.org/drawingml/2006/main">
            <a:r>
              <a:t>https://docs.snowflake.com/en/sql-reference/sql/create-stage</a:t>
            </a:r>
          </a:p>
          <a:p xmlns:a="http://schemas.openxmlformats.org/drawingml/2006/main">
            <a:r>
              <a:t>https://docs.snowflake.com/en/user-guide/warehouses-overview</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30–October 1 historical foundation. Admission converter handles a bounded ADT A01 example, lab converter a bounded ORU R01 with one final numeric OBX. Identifier authority/system/value drives patient matching. UUID5 preserves stable identity where configured. File existence is not proof every sample was loaded into the current database.</a:t>
            </a:r>
          </a:p>
          <a:p xmlns:a="http://schemas.openxmlformats.org/drawingml/2006/main">
            <a:r>
              <a:t>Sources: https://www.hl7.org/fhir/uv/v2mappings/message_maps.html</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October 2. Requirement uses a seven-day pre-appointment window, inclusive start and exclusive appointment time. Qualifying statuses final/amended/corrected. Outcomes distinguish complete, gap, unable to assess and no configured requirements. Worklist history preserves creation, review and resolution. This is information availability, not clinical clearance. Local reports and policy provide evidence.</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October 3 reviewer milestone and October 4–5 operational recovery. Historical provider error access_denied stated that admin users may not request openid. Generic viewer message was not evidence of reviewer identity mismatch. Auth Development redirected to absent localhost:3000, corrected with existing image/storage. Scoped database ingress preserved TLS. Signing-key exposure during diagnostics prompted rotation. Live checks include correct reads, document denial, CSRF enforcement and old-cookie replay denial. The 15 live checks include six smoke checks and are not 15 different patients.</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October 4 export/S3 landing and October 5 internal-stage alternative. Two matching authorized extractions, bounded paging, manifest hashes and source preservation. AWS denies Snowflake sts:AssumeRole despite saved trust matching. User declined AWS upgrade, approved internal upload and requested new warehouse. Actual first COPY loaded 2 Patient, 3 Observation, 2 Appointment with zero errors. Repeat LOAD_SKIPPED all files, payloads unchanged. Exact credit usage unmeasured. Direct S3 integration remains blocked.</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milestone has not started. Use the seven accepted records in CHATGPT_LAB.FIRELY_RAW_5DD08717.FHIR_RESOURCE_INTERNAL on FIRELY_DEMO_WH. Preserve RAW. Learn MERGE, uniqueness validation, timestamp handling, nulls and joins as needed for typed transformations. Do not infer a fresh live source snapshot or automated S3 delivery from the existing internal load. Documentation exists for daily startup and handoff. No machine learning model is required for this scope.</a:t>
            </a:r>
          </a:p>
          <a:p xmlns:a="http://schemas.openxmlformats.org/drawingml/2006/main">
            <a:r>
              <a:t/>
            </a:r>
          </a:p>
          <a:p xmlns:a="http://schemas.openxmlformats.org/drawingml/2006/main">
            <a:r>
              <a:t>Project evidence: ~/firely-learning/CURRENT-PROGRESS-2026-10-05.md; ~/firely-learning/SNOWFLAKE-INTERNAL-RAW-MILESTONE-2026-10-05.md. Status reflects saved evidence through October 5, 2026. Prepared October 6, 2026. Synthetic records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27cb6a7d144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2c451b8c0344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519e11382f41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7d2d49b4bc44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d72b745b8643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1d1c5ff3ec47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75EF94-1074-4668-945B-D785996ED0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E7D58C-722C-4811-A523-58E19F048C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FA3429-7078-41A9-9329-1CB6A4CC27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43859-B947-4A5A-8EA3-C605A170FC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5CFF4E-535F-4DD0-B99F-E0D4B3F511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1C85E3-FAD7-489D-88D9-1C45770E95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860C2D-03BA-40AC-89E7-CFF8B8CB6C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DDE9B3-6A9C-461A-B865-C1B2B3AB18E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41C1C4-D797-4BCD-BAC5-3877E0C158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4A0D22-21C1-488E-81A1-A85A2FD556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26ab8dbfd4072" /><Relationship Type="http://schemas.openxmlformats.org/officeDocument/2006/relationships/slideLayout" Target="/ppt/slideLayouts/slideLayout1.xml" Id="R832117161a4c46a1" /><Relationship Type="http://schemas.openxmlformats.org/officeDocument/2006/relationships/slideLayout" Target="/ppt/slideLayouts/slideLayout2.xml" Id="R5f34b19a521247c9" /><Relationship Type="http://schemas.openxmlformats.org/officeDocument/2006/relationships/slideLayout" Target="/ppt/slideLayouts/slideLayout3.xml" Id="R3d270c0646b44b46" /><Relationship Type="http://schemas.openxmlformats.org/officeDocument/2006/relationships/slideLayout" Target="/ppt/slideLayouts/slideLayout4.xml" Id="R5c29604cbf82498e" /><Relationship Type="http://schemas.openxmlformats.org/officeDocument/2006/relationships/slideLayout" Target="/ppt/slideLayouts/slideLayout5.xml" Id="Rfa08896dc56b4fc8" /><Relationship Type="http://schemas.openxmlformats.org/officeDocument/2006/relationships/slideLayout" Target="/ppt/slideLayouts/slideLayout6.xml" Id="R4b086044af584a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2117161a4c46a1"/>
    <p:sldLayoutId xmlns:r="http://schemas.openxmlformats.org/officeDocument/2006/relationships" id="2147483650" r:id="R5f34b19a521247c9"/>
    <p:sldLayoutId xmlns:r="http://schemas.openxmlformats.org/officeDocument/2006/relationships" id="2147483651" r:id="R3d270c0646b44b46"/>
    <p:sldLayoutId xmlns:r="http://schemas.openxmlformats.org/officeDocument/2006/relationships" id="2147483652" r:id="R5c29604cbf82498e"/>
    <p:sldLayoutId xmlns:r="http://schemas.openxmlformats.org/officeDocument/2006/relationships" id="2147483653" r:id="Rfa08896dc56b4fc8"/>
    <p:sldLayoutId xmlns:r="http://schemas.openxmlformats.org/officeDocument/2006/relationships" id="2147483654" r:id="R4b086044af584a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ee07b9903b470d" /><Relationship Type="http://schemas.openxmlformats.org/officeDocument/2006/relationships/notesSlide" Target="/ppt/notesSlides/notesSlide1.xml" Id="R3bf23b40319f41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bb9615c0334004" /><Relationship Type="http://schemas.openxmlformats.org/officeDocument/2006/relationships/notesSlide" Target="/ppt/notesSlides/notesSlide2.xml" Id="R763e93626549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236ef0258c439a" /><Relationship Type="http://schemas.openxmlformats.org/officeDocument/2006/relationships/notesSlide" Target="/ppt/notesSlides/notesSlide3.xml" Id="R54155fc2a84642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36ba66e4cd4492" /><Relationship Type="http://schemas.openxmlformats.org/officeDocument/2006/relationships/notesSlide" Target="/ppt/notesSlides/notesSlide4.xml" Id="Rbea68e88a53c42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41dbdcee924a71" /><Relationship Type="http://schemas.openxmlformats.org/officeDocument/2006/relationships/notesSlide" Target="/ppt/notesSlides/notesSlide5.xml" Id="R9c8ed04c29ad4f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3e82d9a91e4d14" /><Relationship Type="http://schemas.openxmlformats.org/officeDocument/2006/relationships/notesSlide" Target="/ppt/notesSlides/notesSlide6.xml" Id="Rce0b78af0e6f45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e9a6f4f0a6440e" /><Relationship Type="http://schemas.openxmlformats.org/officeDocument/2006/relationships/notesSlide" Target="/ppt/notesSlides/notesSlide7.xml" Id="Ra6d4e00914e549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52c6a4ad6d4975" /><Relationship Type="http://schemas.openxmlformats.org/officeDocument/2006/relationships/notesSlide" Target="/ppt/notesSlides/notesSlide8.xml" Id="Rc6b3002a21f048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65476bc0d84a3c" /><Relationship Type="http://schemas.openxmlformats.org/officeDocument/2006/relationships/notesSlide" Target="/ppt/notesSlides/notesSlide9.xml" Id="Rd684520546d040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d47da13b674707" /><Relationship Type="http://schemas.openxmlformats.org/officeDocument/2006/relationships/notesSlide" Target="/ppt/notesSlides/notesSlide10.xml" Id="R9da6b5aaa7974f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08e470784548cf" /><Relationship Type="http://schemas.openxmlformats.org/officeDocument/2006/relationships/notesSlide" Target="/ppt/notesSlides/notesSlide11.xml" Id="Reab7caee7f1f48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941d6a5d2d4c80" /><Relationship Type="http://schemas.openxmlformats.org/officeDocument/2006/relationships/notesSlide" Target="/ppt/notesSlides/notesSlide12.xml" Id="Rb479070dfbb746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fda37567264eaf" /><Relationship Type="http://schemas.openxmlformats.org/officeDocument/2006/relationships/notesSlide" Target="/ppt/notesSlides/notesSlide13.xml" Id="R6f0a3d1986554f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06782d413c4b53" /><Relationship Type="http://schemas.openxmlformats.org/officeDocument/2006/relationships/notesSlide" Target="/ppt/notesSlides/notesSlide14.xml" Id="Rb2f3e523791c42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22769f19d34e76" /><Relationship Type="http://schemas.openxmlformats.org/officeDocument/2006/relationships/notesSlide" Target="/ppt/notesSlides/notesSlide15.xml" Id="Rfdc2235d70ed44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de2c9dc0854be4" /><Relationship Type="http://schemas.openxmlformats.org/officeDocument/2006/relationships/notesSlide" Target="/ppt/notesSlides/notesSlide16.xml" Id="Rc6144307c8a843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2bf1c6123e4519" /><Relationship Type="http://schemas.openxmlformats.org/officeDocument/2006/relationships/notesSlide" Target="/ppt/notesSlides/notesSlide17.xml" Id="R4bf7290aee7c444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656b58610d4871" /><Relationship Type="http://schemas.openxmlformats.org/officeDocument/2006/relationships/notesSlide" Target="/ppt/notesSlides/notesSlide18.xml" Id="R5b6ce49bbdd746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65df122b3b34eba" /><Relationship Type="http://schemas.openxmlformats.org/officeDocument/2006/relationships/notesSlide" Target="/ppt/notesSlides/notesSlide19.xml" Id="R2580991ea1ca4f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6c351f785094d3b" /><Relationship Type="http://schemas.openxmlformats.org/officeDocument/2006/relationships/notesSlide" Target="/ppt/notesSlides/notesSlide20.xml" Id="R971344e2f4de4c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b325c1e623140d3" /><Relationship Type="http://schemas.openxmlformats.org/officeDocument/2006/relationships/notesSlide" Target="/ppt/notesSlides/notesSlide21.xml" Id="R437e4d07aab34f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099a46d92045f5" /><Relationship Type="http://schemas.openxmlformats.org/officeDocument/2006/relationships/notesSlide" Target="/ppt/notesSlides/notesSlide22.xml" Id="R2884ca6985d04f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68048a60c374451" /><Relationship Type="http://schemas.openxmlformats.org/officeDocument/2006/relationships/notesSlide" Target="/ppt/notesSlides/notesSlide23.xml" Id="R56679a24cfa74a62" /></Relationships>
</file>

<file path=ppt/slides/slide1.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1B6884-267D-4385-8553-D5497597A26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FFFFFF"/>
                </a:solidFill>
                <a:latin typeface="Helvetica Neue"/>
                <a:ea typeface="Helvetica Neue"/>
                <a:cs typeface="Helvetica Neue"/>
              </a:defRPr>
            </a:def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Clinical Data Reliability</a:t>
            </a:r>
          </a:p>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and Visit Readiness</a:t>
            </a:r>
          </a:p>
        </p:txBody>
      </p:sp>
      <p:sp>
        <p:nvSpPr>
          <p:cNvPr id="2" name="">
            <a:extLst xmlns:a="http://schemas.openxmlformats.org/drawingml/2006/main">
              <a:ext uri="{FF2B5EF4-FFF2-40B4-BE49-F238E27FC236}">
                <a16:creationId xmlns:a16="http://schemas.microsoft.com/office/drawing/2014/main" id="{CD88CB44-D9BE-42F3-97C2-29F63A34B1B2}"/>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8CDD8"/>
                </a:solidFill>
                <a:latin typeface="Helvetica Neue"/>
                <a:ea typeface="Helvetica Neue"/>
                <a:cs typeface="Helvetica Neue"/>
              </a:defRPr>
            </a:defPPr>
          </a:lstStyle>
          <a:p xmlns:a="http://schemas.openxmlformats.org/drawingml/2006/main">
            <a:pPr>
              <a:defRPr sz="1200" b="0">
                <a:solidFill>
                  <a:srgbClr val="B8CDD8"/>
                </a:solidFill>
                <a:latin typeface="Helvetica Neue"/>
                <a:ea typeface="Helvetica Neue"/>
                <a:cs typeface="Helvetica Neue"/>
              </a:defRPr>
            </a:pPr>
            <a:r>
              <a:rPr sz="1200" b="0">
                <a:solidFill>
                  <a:srgbClr val="B8CDD8"/>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9FCEB34D-817B-4463-A06A-7DADBB32D4B9}"/>
              </a:ext>
            </a:extLst>
          </p:cNvPr>
          <p:cNvSpPr>
            <a:spLocks xmlns:a="http://schemas.openxmlformats.org/drawingml/2006/main" noGrp="1"/>
          </p:cNvSpPr>
          <p:nvPr/>
        </p:nvSpPr>
        <p:spPr>
          <a:xfrm xmlns:a="http://schemas.openxmlformats.org/drawingml/2006/main">
            <a:off x="714375" y="2952750"/>
            <a:ext cx="981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D3E4E8"/>
                </a:solidFill>
                <a:latin typeface="Helvetica Neue"/>
                <a:ea typeface="Helvetica Neue"/>
                <a:cs typeface="Helvetica Neue"/>
              </a:defRPr>
            </a:defPPr>
          </a:lstStyle>
          <a:p xmlns:a="http://schemas.openxmlformats.org/drawingml/2006/main">
            <a:pPr>
              <a:defRPr sz="2700" b="0">
                <a:solidFill>
                  <a:srgbClr val="D3E4E8"/>
                </a:solidFill>
                <a:latin typeface="Helvetica Neue"/>
                <a:ea typeface="Helvetica Neue"/>
                <a:cs typeface="Helvetica Neue"/>
              </a:defRPr>
            </a:pPr>
            <a:r>
              <a:rPr sz="2700" b="0">
                <a:solidFill>
                  <a:srgbClr val="D3E4E8"/>
                </a:solidFill>
                <a:latin typeface="Helvetica Neue"/>
                <a:ea typeface="Helvetica Neue"/>
                <a:cs typeface="Helvetica Neue"/>
              </a:rPr>
              <a:t>A beginner’s guide to the problem,</a:t>
            </a:r>
          </a:p>
          <a:p xmlns:a="http://schemas.openxmlformats.org/drawingml/2006/main">
            <a:pPr>
              <a:defRPr sz="2700" b="0">
                <a:solidFill>
                  <a:srgbClr val="D3E4E8"/>
                </a:solidFill>
                <a:latin typeface="Helvetica Neue"/>
                <a:ea typeface="Helvetica Neue"/>
                <a:cs typeface="Helvetica Neue"/>
              </a:defRPr>
            </a:pPr>
            <a:r>
              <a:rPr sz="2700" b="0">
                <a:solidFill>
                  <a:srgbClr val="D3E4E8"/>
                </a:solidFill>
                <a:latin typeface="Helvetica Neue"/>
                <a:ea typeface="Helvetica Neue"/>
                <a:cs typeface="Helvetica Neue"/>
              </a:rPr>
              <a:t>the tools and our progress</a:t>
            </a:r>
          </a:p>
        </p:txBody>
      </p:sp>
      <p:sp>
        <p:nvSpPr>
          <p:cNvPr id="4" name="">
            <a:extLst xmlns:a="http://schemas.openxmlformats.org/drawingml/2006/main">
              <a:ext uri="{FF2B5EF4-FFF2-40B4-BE49-F238E27FC236}">
                <a16:creationId xmlns:a16="http://schemas.microsoft.com/office/drawing/2014/main" id="{AE126DDA-246B-435B-8A3A-E34E12A95F0E}"/>
              </a:ext>
            </a:extLst>
          </p:cNvPr>
          <p:cNvSpPr>
            <a:spLocks xmlns:a="http://schemas.openxmlformats.org/drawingml/2006/main" noGrp="1"/>
          </p:cNvSpPr>
          <p:nvPr/>
        </p:nvSpPr>
        <p:spPr>
          <a:xfrm xmlns:a="http://schemas.openxmlformats.org/drawingml/2006/main">
            <a:off x="714375" y="54292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A9C9D1"/>
                </a:solidFill>
                <a:latin typeface="Helvetica Neue"/>
                <a:ea typeface="Helvetica Neue"/>
                <a:cs typeface="Helvetica Neue"/>
              </a:defRPr>
            </a:defPPr>
          </a:lstStyle>
          <a:p xmlns:a="http://schemas.openxmlformats.org/drawingml/2006/main">
            <a:pPr>
              <a:defRPr sz="1725" b="0">
                <a:solidFill>
                  <a:srgbClr val="A9C9D1"/>
                </a:solidFill>
                <a:latin typeface="Helvetica Neue"/>
                <a:ea typeface="Helvetica Neue"/>
                <a:cs typeface="Helvetica Neue"/>
              </a:defRPr>
            </a:pPr>
            <a:r>
              <a:rPr sz="1725" b="0">
                <a:solidFill>
                  <a:srgbClr val="A9C9D1"/>
                </a:solidFill>
                <a:latin typeface="Helvetica Neue"/>
                <a:ea typeface="Helvetica Neue"/>
                <a:cs typeface="Helvetica Neue"/>
              </a:rPr>
              <a:t>Synthetic learning project • October 2026</a:t>
            </a:r>
          </a:p>
        </p:txBody>
      </p:sp>
    </p:spTree>
    <p:extLst>
      <p:ext uri="{BB962C8B-B14F-4D97-AF65-F5344CB8AC3E}">
        <p14:creationId xmlns:p14="http://schemas.microsoft.com/office/powerpoint/2010/main" val="1975567904"/>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C385AA-7465-4A82-94CF-8C4F8631168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The problem we are solving</a:t>
            </a:r>
          </a:p>
        </p:txBody>
      </p:sp>
      <p:sp>
        <p:nvSpPr>
          <p:cNvPr id="2" name="">
            <a:extLst xmlns:a="http://schemas.openxmlformats.org/drawingml/2006/main">
              <a:ext uri="{FF2B5EF4-FFF2-40B4-BE49-F238E27FC236}">
                <a16:creationId xmlns:a16="http://schemas.microsoft.com/office/drawing/2014/main" id="{21C8118D-A724-4B87-A632-3B7B34E7E39A}"/>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10E6452-C0DA-412B-B098-77B28CF751A2}"/>
              </a:ext>
            </a:extLst>
          </p:cNvPr>
          <p:cNvSpPr>
            <a:spLocks xmlns:a="http://schemas.openxmlformats.org/drawingml/2006/main" noGrp="1"/>
          </p:cNvSpPr>
          <p:nvPr/>
        </p:nvSpPr>
        <p:spPr>
          <a:xfrm xmlns:a="http://schemas.openxmlformats.org/drawingml/2006/main">
            <a:off x="762000" y="1952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Patient information lives in different places</a:t>
            </a:r>
          </a:p>
        </p:txBody>
      </p:sp>
      <p:sp>
        <p:nvSpPr>
          <p:cNvPr id="4" name="">
            <a:extLst xmlns:a="http://schemas.openxmlformats.org/drawingml/2006/main">
              <a:ext uri="{FF2B5EF4-FFF2-40B4-BE49-F238E27FC236}">
                <a16:creationId xmlns:a16="http://schemas.microsoft.com/office/drawing/2014/main" id="{1E8AF172-7AFD-4BD3-9F9C-244BD7B2610E}"/>
              </a:ext>
            </a:extLst>
          </p:cNvPr>
          <p:cNvSpPr>
            <a:spLocks xmlns:a="http://schemas.openxmlformats.org/drawingml/2006/main" noGrp="1"/>
          </p:cNvSpPr>
          <p:nvPr/>
        </p:nvSpPr>
        <p:spPr>
          <a:xfrm xmlns:a="http://schemas.openxmlformats.org/drawingml/2006/main">
            <a:off x="762000" y="2581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A scheduled visit needs particular records</a:t>
            </a:r>
          </a:p>
        </p:txBody>
      </p:sp>
      <p:sp>
        <p:nvSpPr>
          <p:cNvPr id="5" name="">
            <a:extLst xmlns:a="http://schemas.openxmlformats.org/drawingml/2006/main">
              <a:ext uri="{FF2B5EF4-FFF2-40B4-BE49-F238E27FC236}">
                <a16:creationId xmlns:a16="http://schemas.microsoft.com/office/drawing/2014/main" id="{13C1CD68-8D54-419D-B8E9-464C08317829}"/>
              </a:ext>
            </a:extLst>
          </p:cNvPr>
          <p:cNvSpPr>
            <a:spLocks xmlns:a="http://schemas.openxmlformats.org/drawingml/2006/main" noGrp="1"/>
          </p:cNvSpPr>
          <p:nvPr/>
        </p:nvSpPr>
        <p:spPr>
          <a:xfrm xmlns:a="http://schemas.openxmlformats.org/drawingml/2006/main">
            <a:off x="762000" y="32099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Staff need to know what is missing</a:t>
            </a:r>
          </a:p>
        </p:txBody>
      </p:sp>
      <p:sp>
        <p:nvSpPr>
          <p:cNvPr id="6" name="">
            <a:extLst xmlns:a="http://schemas.openxmlformats.org/drawingml/2006/main">
              <a:ext uri="{FF2B5EF4-FFF2-40B4-BE49-F238E27FC236}">
                <a16:creationId xmlns:a16="http://schemas.microsoft.com/office/drawing/2014/main" id="{4C1E107A-6BA9-4495-B005-C019B06A52FE}"/>
              </a:ext>
            </a:extLst>
          </p:cNvPr>
          <p:cNvSpPr>
            <a:spLocks xmlns:a="http://schemas.openxmlformats.org/drawingml/2006/main" noGrp="1"/>
          </p:cNvSpPr>
          <p:nvPr/>
        </p:nvSpPr>
        <p:spPr>
          <a:xfrm xmlns:a="http://schemas.openxmlformats.org/drawingml/2006/main">
            <a:off x="762000" y="3838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Failed access can look like missing information</a:t>
            </a:r>
          </a:p>
        </p:txBody>
      </p:sp>
    </p:spTree>
    <p:extLst>
      <p:ext uri="{BB962C8B-B14F-4D97-AF65-F5344CB8AC3E}">
        <p14:creationId xmlns:p14="http://schemas.microsoft.com/office/powerpoint/2010/main" val="1569988756"/>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CD6D53-939E-432F-96D7-D00CE06DEC6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Who is affected</a:t>
            </a:r>
          </a:p>
        </p:txBody>
      </p:sp>
      <p:sp>
        <p:nvSpPr>
          <p:cNvPr id="2" name="">
            <a:extLst xmlns:a="http://schemas.openxmlformats.org/drawingml/2006/main">
              <a:ext uri="{FF2B5EF4-FFF2-40B4-BE49-F238E27FC236}">
                <a16:creationId xmlns:a16="http://schemas.microsoft.com/office/drawing/2014/main" id="{B2567BA7-A551-48A7-9252-400D5D933D7E}"/>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944FF33-375C-4C46-924A-EC0C1632BA13}"/>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People who could benefit</a:t>
            </a:r>
          </a:p>
        </p:txBody>
      </p:sp>
      <p:sp>
        <p:nvSpPr>
          <p:cNvPr id="4" name="">
            <a:extLst xmlns:a="http://schemas.openxmlformats.org/drawingml/2006/main">
              <a:ext uri="{FF2B5EF4-FFF2-40B4-BE49-F238E27FC236}">
                <a16:creationId xmlns:a16="http://schemas.microsoft.com/office/drawing/2014/main" id="{331ED9EE-ACEB-4FFC-BC72-C644FDD0222D}"/>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People who manage the process</a:t>
            </a:r>
          </a:p>
        </p:txBody>
      </p:sp>
      <p:sp>
        <p:nvSpPr>
          <p:cNvPr id="5" name="">
            <a:extLst xmlns:a="http://schemas.openxmlformats.org/drawingml/2006/main">
              <a:ext uri="{FF2B5EF4-FFF2-40B4-BE49-F238E27FC236}">
                <a16:creationId xmlns:a16="http://schemas.microsoft.com/office/drawing/2014/main" id="{38A44CA9-71EF-464C-AF04-2B7D6A05F939}"/>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Patients and caregivers</a:t>
            </a:r>
          </a:p>
        </p:txBody>
      </p:sp>
      <p:sp>
        <p:nvSpPr>
          <p:cNvPr id="6" name="">
            <a:extLst xmlns:a="http://schemas.openxmlformats.org/drawingml/2006/main">
              <a:ext uri="{FF2B5EF4-FFF2-40B4-BE49-F238E27FC236}">
                <a16:creationId xmlns:a16="http://schemas.microsoft.com/office/drawing/2014/main" id="{D5D1BB8C-0740-43A3-BE29-692699E4BE70}"/>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Clinicians</a:t>
            </a:r>
          </a:p>
        </p:txBody>
      </p:sp>
      <p:sp>
        <p:nvSpPr>
          <p:cNvPr id="7" name="">
            <a:extLst xmlns:a="http://schemas.openxmlformats.org/drawingml/2006/main">
              <a:ext uri="{FF2B5EF4-FFF2-40B4-BE49-F238E27FC236}">
                <a16:creationId xmlns:a16="http://schemas.microsoft.com/office/drawing/2014/main" id="{7D8B084D-F7D1-40CE-97FD-6A61FAB416FB}"/>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Appointment coordinators</a:t>
            </a:r>
          </a:p>
        </p:txBody>
      </p:sp>
      <p:sp>
        <p:nvSpPr>
          <p:cNvPr id="8" name="">
            <a:extLst xmlns:a="http://schemas.openxmlformats.org/drawingml/2006/main">
              <a:ext uri="{FF2B5EF4-FFF2-40B4-BE49-F238E27FC236}">
                <a16:creationId xmlns:a16="http://schemas.microsoft.com/office/drawing/2014/main" id="{69D0ABF7-7400-4475-9464-6005B2816DFC}"/>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Records and laboratory staff</a:t>
            </a:r>
          </a:p>
        </p:txBody>
      </p:sp>
      <p:sp>
        <p:nvSpPr>
          <p:cNvPr id="9" name="">
            <a:extLst xmlns:a="http://schemas.openxmlformats.org/drawingml/2006/main">
              <a:ext uri="{FF2B5EF4-FFF2-40B4-BE49-F238E27FC236}">
                <a16:creationId xmlns:a16="http://schemas.microsoft.com/office/drawing/2014/main" id="{1EEDD5D1-687F-4CAD-B4E1-4BF14D652256}"/>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Data and IT teams</a:t>
            </a:r>
          </a:p>
        </p:txBody>
      </p:sp>
      <p:sp>
        <p:nvSpPr>
          <p:cNvPr id="10" name="">
            <a:extLst xmlns:a="http://schemas.openxmlformats.org/drawingml/2006/main">
              <a:ext uri="{FF2B5EF4-FFF2-40B4-BE49-F238E27FC236}">
                <a16:creationId xmlns:a16="http://schemas.microsoft.com/office/drawing/2014/main" id="{F6C87709-8A50-42DD-A391-78BA2FB2E4D5}"/>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Reviewers and supervisors</a:t>
            </a:r>
          </a:p>
        </p:txBody>
      </p:sp>
    </p:spTree>
    <p:extLst>
      <p:ext uri="{BB962C8B-B14F-4D97-AF65-F5344CB8AC3E}">
        <p14:creationId xmlns:p14="http://schemas.microsoft.com/office/powerpoint/2010/main" val="570001683"/>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EC6602-C4C4-4904-B371-66F6B3C913F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What we are doing in everyday terms</a:t>
            </a:r>
          </a:p>
        </p:txBody>
      </p:sp>
      <p:sp>
        <p:nvSpPr>
          <p:cNvPr id="2" name="">
            <a:extLst xmlns:a="http://schemas.openxmlformats.org/drawingml/2006/main">
              <a:ext uri="{FF2B5EF4-FFF2-40B4-BE49-F238E27FC236}">
                <a16:creationId xmlns:a16="http://schemas.microsoft.com/office/drawing/2014/main" id="{43F7BA45-BC8C-4E1E-A7BE-D7E92A72E98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59D452C-A616-45D4-A88E-ADBF26D6DA31}"/>
              </a:ext>
            </a:extLst>
          </p:cNvPr>
          <p:cNvSpPr>
            <a:spLocks xmlns:a="http://schemas.openxmlformats.org/drawingml/2006/main" noGrp="1"/>
          </p:cNvSpPr>
          <p:nvPr/>
        </p:nvSpPr>
        <p:spPr>
          <a:xfrm xmlns:a="http://schemas.openxmlformats.org/drawingml/2006/main">
            <a:off x="762000" y="1952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Gather the records for the right person</a:t>
            </a:r>
          </a:p>
        </p:txBody>
      </p:sp>
      <p:sp>
        <p:nvSpPr>
          <p:cNvPr id="4" name="">
            <a:extLst xmlns:a="http://schemas.openxmlformats.org/drawingml/2006/main">
              <a:ext uri="{FF2B5EF4-FFF2-40B4-BE49-F238E27FC236}">
                <a16:creationId xmlns:a16="http://schemas.microsoft.com/office/drawing/2014/main" id="{02015611-D162-4F42-A993-F02F05C80EAC}"/>
              </a:ext>
            </a:extLst>
          </p:cNvPr>
          <p:cNvSpPr>
            <a:spLocks xmlns:a="http://schemas.openxmlformats.org/drawingml/2006/main" noGrp="1"/>
          </p:cNvSpPr>
          <p:nvPr/>
        </p:nvSpPr>
        <p:spPr>
          <a:xfrm xmlns:a="http://schemas.openxmlformats.org/drawingml/2006/main">
            <a:off x="762000" y="2581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Check the information needed for a visit</a:t>
            </a:r>
          </a:p>
        </p:txBody>
      </p:sp>
      <p:sp>
        <p:nvSpPr>
          <p:cNvPr id="5" name="">
            <a:extLst xmlns:a="http://schemas.openxmlformats.org/drawingml/2006/main">
              <a:ext uri="{FF2B5EF4-FFF2-40B4-BE49-F238E27FC236}">
                <a16:creationId xmlns:a16="http://schemas.microsoft.com/office/drawing/2014/main" id="{A0FA61F3-D19C-4810-96FC-9A0A5C68035D}"/>
              </a:ext>
            </a:extLst>
          </p:cNvPr>
          <p:cNvSpPr>
            <a:spLocks xmlns:a="http://schemas.openxmlformats.org/drawingml/2006/main" noGrp="1"/>
          </p:cNvSpPr>
          <p:nvPr/>
        </p:nvSpPr>
        <p:spPr>
          <a:xfrm xmlns:a="http://schemas.openxmlformats.org/drawingml/2006/main">
            <a:off x="762000" y="32099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Show gaps and give staff a worklist</a:t>
            </a:r>
          </a:p>
        </p:txBody>
      </p:sp>
      <p:sp>
        <p:nvSpPr>
          <p:cNvPr id="6" name="">
            <a:extLst xmlns:a="http://schemas.openxmlformats.org/drawingml/2006/main">
              <a:ext uri="{FF2B5EF4-FFF2-40B4-BE49-F238E27FC236}">
                <a16:creationId xmlns:a16="http://schemas.microsoft.com/office/drawing/2014/main" id="{025861C1-B289-48CF-86F5-8332C7A8FC11}"/>
              </a:ext>
            </a:extLst>
          </p:cNvPr>
          <p:cNvSpPr>
            <a:spLocks xmlns:a="http://schemas.openxmlformats.org/drawingml/2006/main" noGrp="1"/>
          </p:cNvSpPr>
          <p:nvPr/>
        </p:nvSpPr>
        <p:spPr>
          <a:xfrm xmlns:a="http://schemas.openxmlformats.org/drawingml/2006/main">
            <a:off x="762000" y="3838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Keep a history of reviews and resolutions</a:t>
            </a:r>
          </a:p>
        </p:txBody>
      </p:sp>
      <p:sp>
        <p:nvSpPr>
          <p:cNvPr id="7" name="">
            <a:extLst xmlns:a="http://schemas.openxmlformats.org/drawingml/2006/main">
              <a:ext uri="{FF2B5EF4-FFF2-40B4-BE49-F238E27FC236}">
                <a16:creationId xmlns:a16="http://schemas.microsoft.com/office/drawing/2014/main" id="{692CF1EF-73EE-4A98-8475-9E566984DE35}"/>
              </a:ext>
            </a:extLst>
          </p:cNvPr>
          <p:cNvSpPr>
            <a:spLocks xmlns:a="http://schemas.openxmlformats.org/drawingml/2006/main" noGrp="1"/>
          </p:cNvSpPr>
          <p:nvPr/>
        </p:nvSpPr>
        <p:spPr>
          <a:xfrm xmlns:a="http://schemas.openxmlformats.org/drawingml/2006/main">
            <a:off x="762000" y="44672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Copy a small verified dataset for analysis</a:t>
            </a:r>
          </a:p>
        </p:txBody>
      </p:sp>
    </p:spTree>
    <p:extLst>
      <p:ext uri="{BB962C8B-B14F-4D97-AF65-F5344CB8AC3E}">
        <p14:creationId xmlns:p14="http://schemas.microsoft.com/office/powerpoint/2010/main" val="377713621"/>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348F76-0F4E-4537-BF24-97AE8A32370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HL7 v2 and FHIR in everyday terms</a:t>
            </a:r>
          </a:p>
        </p:txBody>
      </p:sp>
      <p:sp>
        <p:nvSpPr>
          <p:cNvPr id="2" name="">
            <a:extLst xmlns:a="http://schemas.openxmlformats.org/drawingml/2006/main">
              <a:ext uri="{FF2B5EF4-FFF2-40B4-BE49-F238E27FC236}">
                <a16:creationId xmlns:a16="http://schemas.microsoft.com/office/drawing/2014/main" id="{EF849FA0-E641-43B0-98C4-F7D5896238D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FA75891-96BF-4061-B4C4-F4F0121F76DB}"/>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HL7 v2</a:t>
            </a:r>
          </a:p>
        </p:txBody>
      </p:sp>
      <p:sp>
        <p:nvSpPr>
          <p:cNvPr id="4" name="">
            <a:extLst xmlns:a="http://schemas.openxmlformats.org/drawingml/2006/main">
              <a:ext uri="{FF2B5EF4-FFF2-40B4-BE49-F238E27FC236}">
                <a16:creationId xmlns:a16="http://schemas.microsoft.com/office/drawing/2014/main" id="{F4809108-EBBC-4CC9-9ED8-B0A56B5781A6}"/>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FHIR R4</a:t>
            </a:r>
          </a:p>
        </p:txBody>
      </p:sp>
      <p:sp>
        <p:nvSpPr>
          <p:cNvPr id="5" name="">
            <a:extLst xmlns:a="http://schemas.openxmlformats.org/drawingml/2006/main">
              <a:ext uri="{FF2B5EF4-FFF2-40B4-BE49-F238E27FC236}">
                <a16:creationId xmlns:a16="http://schemas.microsoft.com/office/drawing/2014/main" id="{35A1BBE0-F337-48FF-9106-EC91E16B36DF}"/>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 message about an event</a:t>
            </a:r>
          </a:p>
        </p:txBody>
      </p:sp>
      <p:sp>
        <p:nvSpPr>
          <p:cNvPr id="6" name="">
            <a:extLst xmlns:a="http://schemas.openxmlformats.org/drawingml/2006/main">
              <a:ext uri="{FF2B5EF4-FFF2-40B4-BE49-F238E27FC236}">
                <a16:creationId xmlns:a16="http://schemas.microsoft.com/office/drawing/2014/main" id="{86BC3298-52D5-48BF-B630-D842F2482298}"/>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Admission or laboratory result</a:t>
            </a:r>
          </a:p>
        </p:txBody>
      </p:sp>
      <p:sp>
        <p:nvSpPr>
          <p:cNvPr id="7" name="">
            <a:extLst xmlns:a="http://schemas.openxmlformats.org/drawingml/2006/main">
              <a:ext uri="{FF2B5EF4-FFF2-40B4-BE49-F238E27FC236}">
                <a16:creationId xmlns:a16="http://schemas.microsoft.com/office/drawing/2014/main" id="{0195EB20-574C-42C5-B363-235106337E71}"/>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Fields inside named segments</a:t>
            </a:r>
          </a:p>
        </p:txBody>
      </p:sp>
      <p:sp>
        <p:nvSpPr>
          <p:cNvPr id="8" name="">
            <a:extLst xmlns:a="http://schemas.openxmlformats.org/drawingml/2006/main">
              <a:ext uri="{FF2B5EF4-FFF2-40B4-BE49-F238E27FC236}">
                <a16:creationId xmlns:a16="http://schemas.microsoft.com/office/drawing/2014/main" id="{0BC757BC-DB36-40D8-A621-5EC2A1D163A1}"/>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 standard resource for each entity</a:t>
            </a:r>
          </a:p>
        </p:txBody>
      </p:sp>
      <p:sp>
        <p:nvSpPr>
          <p:cNvPr id="9" name="">
            <a:extLst xmlns:a="http://schemas.openxmlformats.org/drawingml/2006/main">
              <a:ext uri="{FF2B5EF4-FFF2-40B4-BE49-F238E27FC236}">
                <a16:creationId xmlns:a16="http://schemas.microsoft.com/office/drawing/2014/main" id="{D739F933-9FC8-4B2A-ABA6-360246060ADA}"/>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Patient, Observation, Appointment</a:t>
            </a:r>
          </a:p>
        </p:txBody>
      </p:sp>
      <p:sp>
        <p:nvSpPr>
          <p:cNvPr id="10" name="">
            <a:extLst xmlns:a="http://schemas.openxmlformats.org/drawingml/2006/main">
              <a:ext uri="{FF2B5EF4-FFF2-40B4-BE49-F238E27FC236}">
                <a16:creationId xmlns:a16="http://schemas.microsoft.com/office/drawing/2014/main" id="{68E91BDB-EE9D-43F2-B8B4-460B56090C70}"/>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Linked records through web APIs</a:t>
            </a:r>
          </a:p>
        </p:txBody>
      </p:sp>
    </p:spTree>
    <p:extLst>
      <p:ext uri="{BB962C8B-B14F-4D97-AF65-F5344CB8AC3E}">
        <p14:creationId xmlns:p14="http://schemas.microsoft.com/office/powerpoint/2010/main" val="70938470"/>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70624-90B9-471C-8444-305C5DFBD36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Why conversion matters today</a:t>
            </a:r>
          </a:p>
        </p:txBody>
      </p:sp>
      <p:sp>
        <p:nvSpPr>
          <p:cNvPr id="2" name="">
            <a:extLst xmlns:a="http://schemas.openxmlformats.org/drawingml/2006/main">
              <a:ext uri="{FF2B5EF4-FFF2-40B4-BE49-F238E27FC236}">
                <a16:creationId xmlns:a16="http://schemas.microsoft.com/office/drawing/2014/main" id="{47BA8CB5-ED54-48B5-897C-340B8E2EE16B}"/>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D884EA1A-54B0-4534-BCCF-66C03A8E767D}"/>
              </a:ext>
            </a:extLst>
          </p:cNvPr>
          <p:cNvSpPr>
            <a:spLocks xmlns:a="http://schemas.openxmlformats.org/drawingml/2006/main" noGrp="1"/>
          </p:cNvSpPr>
          <p:nvPr/>
        </p:nvSpPr>
        <p:spPr>
          <a:xfrm xmlns:a="http://schemas.openxmlformats.org/drawingml/2006/main">
            <a:off x="762000" y="1952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Existing healthcare messages</a:t>
            </a:r>
          </a:p>
        </p:txBody>
      </p:sp>
      <p:sp>
        <p:nvSpPr>
          <p:cNvPr id="4" name="">
            <a:extLst xmlns:a="http://schemas.openxmlformats.org/drawingml/2006/main">
              <a:ext uri="{FF2B5EF4-FFF2-40B4-BE49-F238E27FC236}">
                <a16:creationId xmlns:a16="http://schemas.microsoft.com/office/drawing/2014/main" id="{3ABD3867-5881-4567-BCBC-25BC9B0BD54C}"/>
              </a:ext>
            </a:extLst>
          </p:cNvPr>
          <p:cNvSpPr>
            <a:spLocks xmlns:a="http://schemas.openxmlformats.org/drawingml/2006/main" noGrp="1"/>
          </p:cNvSpPr>
          <p:nvPr/>
        </p:nvSpPr>
        <p:spPr>
          <a:xfrm xmlns:a="http://schemas.openxmlformats.org/drawingml/2006/main">
            <a:off x="762000" y="2581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Common resource structure</a:t>
            </a:r>
          </a:p>
        </p:txBody>
      </p:sp>
      <p:sp>
        <p:nvSpPr>
          <p:cNvPr id="5" name="">
            <a:extLst xmlns:a="http://schemas.openxmlformats.org/drawingml/2006/main">
              <a:ext uri="{FF2B5EF4-FFF2-40B4-BE49-F238E27FC236}">
                <a16:creationId xmlns:a16="http://schemas.microsoft.com/office/drawing/2014/main" id="{489C53D6-DA45-4CA0-A568-DD9A9FBDFE81}"/>
              </a:ext>
            </a:extLst>
          </p:cNvPr>
          <p:cNvSpPr>
            <a:spLocks xmlns:a="http://schemas.openxmlformats.org/drawingml/2006/main" noGrp="1"/>
          </p:cNvSpPr>
          <p:nvPr/>
        </p:nvSpPr>
        <p:spPr>
          <a:xfrm xmlns:a="http://schemas.openxmlformats.org/drawingml/2006/main">
            <a:off x="762000" y="32099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Consistent patient identity</a:t>
            </a:r>
          </a:p>
        </p:txBody>
      </p:sp>
      <p:sp>
        <p:nvSpPr>
          <p:cNvPr id="6" name="">
            <a:extLst xmlns:a="http://schemas.openxmlformats.org/drawingml/2006/main">
              <a:ext uri="{FF2B5EF4-FFF2-40B4-BE49-F238E27FC236}">
                <a16:creationId xmlns:a16="http://schemas.microsoft.com/office/drawing/2014/main" id="{568056AE-C6E7-46B6-94F6-628523A30A85}"/>
              </a:ext>
            </a:extLst>
          </p:cNvPr>
          <p:cNvSpPr>
            <a:spLocks xmlns:a="http://schemas.openxmlformats.org/drawingml/2006/main" noGrp="1"/>
          </p:cNvSpPr>
          <p:nvPr/>
        </p:nvSpPr>
        <p:spPr>
          <a:xfrm xmlns:a="http://schemas.openxmlformats.org/drawingml/2006/main">
            <a:off x="762000" y="3838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Shared clinical codes and units</a:t>
            </a:r>
          </a:p>
        </p:txBody>
      </p:sp>
      <p:sp>
        <p:nvSpPr>
          <p:cNvPr id="7" name="">
            <a:extLst xmlns:a="http://schemas.openxmlformats.org/drawingml/2006/main">
              <a:ext uri="{FF2B5EF4-FFF2-40B4-BE49-F238E27FC236}">
                <a16:creationId xmlns:a16="http://schemas.microsoft.com/office/drawing/2014/main" id="{0BCC98E9-5755-4EF9-A4E5-8AF3933E8BC7}"/>
              </a:ext>
            </a:extLst>
          </p:cNvPr>
          <p:cNvSpPr>
            <a:spLocks xmlns:a="http://schemas.openxmlformats.org/drawingml/2006/main" noGrp="1"/>
          </p:cNvSpPr>
          <p:nvPr/>
        </p:nvSpPr>
        <p:spPr>
          <a:xfrm xmlns:a="http://schemas.openxmlformats.org/drawingml/2006/main">
            <a:off x="762000" y="44672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Web-based access for applications</a:t>
            </a:r>
          </a:p>
        </p:txBody>
      </p:sp>
    </p:spTree>
    <p:extLst>
      <p:ext uri="{BB962C8B-B14F-4D97-AF65-F5344CB8AC3E}">
        <p14:creationId xmlns:p14="http://schemas.microsoft.com/office/powerpoint/2010/main" val="1914595776"/>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DDC803-50C8-4C31-AD20-6B1E1EAB82FE}"/>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Learning order 1: computer basics</a:t>
            </a:r>
          </a:p>
        </p:txBody>
      </p:sp>
      <p:sp>
        <p:nvSpPr>
          <p:cNvPr id="2" name="">
            <a:extLst xmlns:a="http://schemas.openxmlformats.org/drawingml/2006/main">
              <a:ext uri="{FF2B5EF4-FFF2-40B4-BE49-F238E27FC236}">
                <a16:creationId xmlns:a16="http://schemas.microsoft.com/office/drawing/2014/main" id="{308F4767-46B6-4DF4-9CF6-198945119B24}"/>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53DFCABF-36AA-4D2F-B36E-DCCA887125E2}"/>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1. Working with a computer</a:t>
            </a:r>
          </a:p>
        </p:txBody>
      </p:sp>
      <p:sp>
        <p:nvSpPr>
          <p:cNvPr id="4" name="">
            <a:extLst xmlns:a="http://schemas.openxmlformats.org/drawingml/2006/main">
              <a:ext uri="{FF2B5EF4-FFF2-40B4-BE49-F238E27FC236}">
                <a16:creationId xmlns:a16="http://schemas.microsoft.com/office/drawing/2014/main" id="{EBBB26B1-F973-4DD7-A9E0-3C161D77D248}"/>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2. Programming and networks</a:t>
            </a:r>
          </a:p>
        </p:txBody>
      </p:sp>
      <p:sp>
        <p:nvSpPr>
          <p:cNvPr id="5" name="">
            <a:extLst xmlns:a="http://schemas.openxmlformats.org/drawingml/2006/main">
              <a:ext uri="{FF2B5EF4-FFF2-40B4-BE49-F238E27FC236}">
                <a16:creationId xmlns:a16="http://schemas.microsoft.com/office/drawing/2014/main" id="{8AFAB338-F0FB-499A-B52D-252AAC0F1825}"/>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Files, folders and paths</a:t>
            </a:r>
          </a:p>
        </p:txBody>
      </p:sp>
      <p:sp>
        <p:nvSpPr>
          <p:cNvPr id="6" name="">
            <a:extLst xmlns:a="http://schemas.openxmlformats.org/drawingml/2006/main">
              <a:ext uri="{FF2B5EF4-FFF2-40B4-BE49-F238E27FC236}">
                <a16:creationId xmlns:a16="http://schemas.microsoft.com/office/drawing/2014/main" id="{63E0ACCA-AB04-409C-9863-C1B3C7FF69DF}"/>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Terminal commands</a:t>
            </a:r>
          </a:p>
        </p:txBody>
      </p:sp>
      <p:sp>
        <p:nvSpPr>
          <p:cNvPr id="7" name="">
            <a:extLst xmlns:a="http://schemas.openxmlformats.org/drawingml/2006/main">
              <a:ext uri="{FF2B5EF4-FFF2-40B4-BE49-F238E27FC236}">
                <a16:creationId xmlns:a16="http://schemas.microsoft.com/office/drawing/2014/main" id="{E4CB97E6-170A-4F2A-8CE6-39B492F938B5}"/>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Programs and processes</a:t>
            </a:r>
          </a:p>
        </p:txBody>
      </p:sp>
      <p:sp>
        <p:nvSpPr>
          <p:cNvPr id="8" name="">
            <a:extLst xmlns:a="http://schemas.openxmlformats.org/drawingml/2006/main">
              <a:ext uri="{FF2B5EF4-FFF2-40B4-BE49-F238E27FC236}">
                <a16:creationId xmlns:a16="http://schemas.microsoft.com/office/drawing/2014/main" id="{6EB994CE-C703-4996-A73A-6A9DE965645B}"/>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Configuration and environment</a:t>
            </a:r>
          </a:p>
        </p:txBody>
      </p:sp>
      <p:sp>
        <p:nvSpPr>
          <p:cNvPr id="9" name="">
            <a:extLst xmlns:a="http://schemas.openxmlformats.org/drawingml/2006/main">
              <a:ext uri="{FF2B5EF4-FFF2-40B4-BE49-F238E27FC236}">
                <a16:creationId xmlns:a16="http://schemas.microsoft.com/office/drawing/2014/main" id="{FE401F6F-5AB0-42A3-ACAB-A5B9020A23C8}"/>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Python and functions</a:t>
            </a:r>
          </a:p>
        </p:txBody>
      </p:sp>
      <p:sp>
        <p:nvSpPr>
          <p:cNvPr id="10" name="">
            <a:extLst xmlns:a="http://schemas.openxmlformats.org/drawingml/2006/main">
              <a:ext uri="{FF2B5EF4-FFF2-40B4-BE49-F238E27FC236}">
                <a16:creationId xmlns:a16="http://schemas.microsoft.com/office/drawing/2014/main" id="{AEC33112-A24C-4ED3-A014-3FE7B81074A0}"/>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Lists and dictionaries</a:t>
            </a:r>
          </a:p>
        </p:txBody>
      </p:sp>
      <p:sp>
        <p:nvSpPr>
          <p:cNvPr id="11" name="">
            <a:extLst xmlns:a="http://schemas.openxmlformats.org/drawingml/2006/main">
              <a:ext uri="{FF2B5EF4-FFF2-40B4-BE49-F238E27FC236}">
                <a16:creationId xmlns:a16="http://schemas.microsoft.com/office/drawing/2014/main" id="{3E41ADC7-FB66-44E9-A850-C5872D56A164}"/>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Client and server</a:t>
            </a:r>
          </a:p>
        </p:txBody>
      </p:sp>
      <p:sp>
        <p:nvSpPr>
          <p:cNvPr id="12" name="">
            <a:extLst xmlns:a="http://schemas.openxmlformats.org/drawingml/2006/main">
              <a:ext uri="{FF2B5EF4-FFF2-40B4-BE49-F238E27FC236}">
                <a16:creationId xmlns:a16="http://schemas.microsoft.com/office/drawing/2014/main" id="{02F5D2FF-C5E6-44BD-8551-35212B060854}"/>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IP addresses, ports and DNS</a:t>
            </a:r>
          </a:p>
        </p:txBody>
      </p:sp>
    </p:spTree>
    <p:extLst>
      <p:ext uri="{BB962C8B-B14F-4D97-AF65-F5344CB8AC3E}">
        <p14:creationId xmlns:p14="http://schemas.microsoft.com/office/powerpoint/2010/main" val="267307251"/>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11A4C1-6515-4D03-A051-648F3826BF1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Learning order 2: data fundamentals</a:t>
            </a:r>
          </a:p>
        </p:txBody>
      </p:sp>
      <p:sp>
        <p:nvSpPr>
          <p:cNvPr id="2" name="">
            <a:extLst xmlns:a="http://schemas.openxmlformats.org/drawingml/2006/main">
              <a:ext uri="{FF2B5EF4-FFF2-40B4-BE49-F238E27FC236}">
                <a16:creationId xmlns:a16="http://schemas.microsoft.com/office/drawing/2014/main" id="{9A633B51-22B8-49B7-814E-04A4AE70DB03}"/>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743B88C0-219E-4056-86ED-440DC6347237}"/>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3. Data representation</a:t>
            </a:r>
          </a:p>
        </p:txBody>
      </p:sp>
      <p:sp>
        <p:nvSpPr>
          <p:cNvPr id="4" name="">
            <a:extLst xmlns:a="http://schemas.openxmlformats.org/drawingml/2006/main">
              <a:ext uri="{FF2B5EF4-FFF2-40B4-BE49-F238E27FC236}">
                <a16:creationId xmlns:a16="http://schemas.microsoft.com/office/drawing/2014/main" id="{C08A2752-3939-4087-81CE-251E061D0238}"/>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4. Databases and quality</a:t>
            </a:r>
          </a:p>
        </p:txBody>
      </p:sp>
      <p:sp>
        <p:nvSpPr>
          <p:cNvPr id="5" name="">
            <a:extLst xmlns:a="http://schemas.openxmlformats.org/drawingml/2006/main">
              <a:ext uri="{FF2B5EF4-FFF2-40B4-BE49-F238E27FC236}">
                <a16:creationId xmlns:a16="http://schemas.microsoft.com/office/drawing/2014/main" id="{855AABE0-C6D2-47E1-AC22-01D34DC25BC4}"/>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Strings, numbers and nulls</a:t>
            </a:r>
          </a:p>
        </p:txBody>
      </p:sp>
      <p:sp>
        <p:nvSpPr>
          <p:cNvPr id="6" name="">
            <a:extLst xmlns:a="http://schemas.openxmlformats.org/drawingml/2006/main">
              <a:ext uri="{FF2B5EF4-FFF2-40B4-BE49-F238E27FC236}">
                <a16:creationId xmlns:a16="http://schemas.microsoft.com/office/drawing/2014/main" id="{3B947881-1D14-4AA2-B1AA-CBF5AE057C54}"/>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JSON and NDJSON</a:t>
            </a:r>
          </a:p>
        </p:txBody>
      </p:sp>
      <p:sp>
        <p:nvSpPr>
          <p:cNvPr id="7" name="">
            <a:extLst xmlns:a="http://schemas.openxmlformats.org/drawingml/2006/main">
              <a:ext uri="{FF2B5EF4-FFF2-40B4-BE49-F238E27FC236}">
                <a16:creationId xmlns:a16="http://schemas.microsoft.com/office/drawing/2014/main" id="{08D83341-A851-4BF2-8637-06C4782F1305}"/>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Identifiers and references</a:t>
            </a:r>
          </a:p>
        </p:txBody>
      </p:sp>
      <p:sp>
        <p:nvSpPr>
          <p:cNvPr id="8" name="">
            <a:extLst xmlns:a="http://schemas.openxmlformats.org/drawingml/2006/main">
              <a:ext uri="{FF2B5EF4-FFF2-40B4-BE49-F238E27FC236}">
                <a16:creationId xmlns:a16="http://schemas.microsoft.com/office/drawing/2014/main" id="{5F43B217-2752-4148-98FD-FD6FF831A2A4}"/>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Dates, time zones and units</a:t>
            </a:r>
          </a:p>
        </p:txBody>
      </p:sp>
      <p:sp>
        <p:nvSpPr>
          <p:cNvPr id="9" name="">
            <a:extLst xmlns:a="http://schemas.openxmlformats.org/drawingml/2006/main">
              <a:ext uri="{FF2B5EF4-FFF2-40B4-BE49-F238E27FC236}">
                <a16:creationId xmlns:a16="http://schemas.microsoft.com/office/drawing/2014/main" id="{B1A847BA-1048-420D-90B2-722ADEDED53E}"/>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Tables, rows and columns</a:t>
            </a:r>
          </a:p>
        </p:txBody>
      </p:sp>
      <p:sp>
        <p:nvSpPr>
          <p:cNvPr id="10" name="">
            <a:extLst xmlns:a="http://schemas.openxmlformats.org/drawingml/2006/main">
              <a:ext uri="{FF2B5EF4-FFF2-40B4-BE49-F238E27FC236}">
                <a16:creationId xmlns:a16="http://schemas.microsoft.com/office/drawing/2014/main" id="{ECAE059B-78A3-404D-A7FD-F2CA3EA8B7DC}"/>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Keys and joins</a:t>
            </a:r>
          </a:p>
        </p:txBody>
      </p:sp>
      <p:sp>
        <p:nvSpPr>
          <p:cNvPr id="11" name="">
            <a:extLst xmlns:a="http://schemas.openxmlformats.org/drawingml/2006/main">
              <a:ext uri="{FF2B5EF4-FFF2-40B4-BE49-F238E27FC236}">
                <a16:creationId xmlns:a16="http://schemas.microsoft.com/office/drawing/2014/main" id="{CB341C66-7270-4B74-B3F2-6FC62E474C21}"/>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SQL filters and counts</a:t>
            </a:r>
          </a:p>
        </p:txBody>
      </p:sp>
      <p:sp>
        <p:nvSpPr>
          <p:cNvPr id="12" name="">
            <a:extLst xmlns:a="http://schemas.openxmlformats.org/drawingml/2006/main">
              <a:ext uri="{FF2B5EF4-FFF2-40B4-BE49-F238E27FC236}">
                <a16:creationId xmlns:a16="http://schemas.microsoft.com/office/drawing/2014/main" id="{9A742065-2630-4DBC-8AA9-98AE906CA80D}"/>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Validation and duplicate prevention</a:t>
            </a:r>
          </a:p>
        </p:txBody>
      </p:sp>
    </p:spTree>
    <p:extLst>
      <p:ext uri="{BB962C8B-B14F-4D97-AF65-F5344CB8AC3E}">
        <p14:creationId xmlns:p14="http://schemas.microsoft.com/office/powerpoint/2010/main" val="20741625"/>
      </p:ext>
    </p:extLst>
  </p:cSld>
</p:sld>
</file>

<file path=ppt/slides/slide9.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2BF81E-9980-4A72-A8E4-75F4E597697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Learning order 3: healthcare standards</a:t>
            </a:r>
          </a:p>
        </p:txBody>
      </p:sp>
      <p:sp>
        <p:nvSpPr>
          <p:cNvPr id="2" name="">
            <a:extLst xmlns:a="http://schemas.openxmlformats.org/drawingml/2006/main">
              <a:ext uri="{FF2B5EF4-FFF2-40B4-BE49-F238E27FC236}">
                <a16:creationId xmlns:a16="http://schemas.microsoft.com/office/drawing/2014/main" id="{BCC4BA72-2B87-4377-8911-8E37AD478796}"/>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2C3CE953-7CFE-4E1B-B884-131C18098FB5}"/>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5. Messages</a:t>
            </a:r>
          </a:p>
        </p:txBody>
      </p:sp>
      <p:sp>
        <p:nvSpPr>
          <p:cNvPr id="4" name="">
            <a:extLst xmlns:a="http://schemas.openxmlformats.org/drawingml/2006/main">
              <a:ext uri="{FF2B5EF4-FFF2-40B4-BE49-F238E27FC236}">
                <a16:creationId xmlns:a16="http://schemas.microsoft.com/office/drawing/2014/main" id="{2DEBD5FD-03C1-4770-903A-DB715DD7C76D}"/>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6. Resources and terminology</a:t>
            </a:r>
          </a:p>
        </p:txBody>
      </p:sp>
      <p:sp>
        <p:nvSpPr>
          <p:cNvPr id="5" name="">
            <a:extLst xmlns:a="http://schemas.openxmlformats.org/drawingml/2006/main">
              <a:ext uri="{FF2B5EF4-FFF2-40B4-BE49-F238E27FC236}">
                <a16:creationId xmlns:a16="http://schemas.microsoft.com/office/drawing/2014/main" id="{4F16A430-DC61-45A6-8FCB-4D0DC67CD591}"/>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HL7 v2</a:t>
            </a:r>
          </a:p>
        </p:txBody>
      </p:sp>
      <p:sp>
        <p:nvSpPr>
          <p:cNvPr id="6" name="">
            <a:extLst xmlns:a="http://schemas.openxmlformats.org/drawingml/2006/main">
              <a:ext uri="{FF2B5EF4-FFF2-40B4-BE49-F238E27FC236}">
                <a16:creationId xmlns:a16="http://schemas.microsoft.com/office/drawing/2014/main" id="{CFE2B1FA-6952-419D-BC2E-C4DD9A5C4F9D}"/>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ADT^A01 and ORU^R01</a:t>
            </a:r>
          </a:p>
        </p:txBody>
      </p:sp>
      <p:sp>
        <p:nvSpPr>
          <p:cNvPr id="7" name="">
            <a:extLst xmlns:a="http://schemas.openxmlformats.org/drawingml/2006/main">
              <a:ext uri="{FF2B5EF4-FFF2-40B4-BE49-F238E27FC236}">
                <a16:creationId xmlns:a16="http://schemas.microsoft.com/office/drawing/2014/main" id="{9C347E84-4ED4-4162-8483-C484E4FF4BFF}"/>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PID, OBR and OBX</a:t>
            </a:r>
          </a:p>
        </p:txBody>
      </p:sp>
      <p:sp>
        <p:nvSpPr>
          <p:cNvPr id="8" name="">
            <a:extLst xmlns:a="http://schemas.openxmlformats.org/drawingml/2006/main">
              <a:ext uri="{FF2B5EF4-FFF2-40B4-BE49-F238E27FC236}">
                <a16:creationId xmlns:a16="http://schemas.microsoft.com/office/drawing/2014/main" id="{955C685F-6D93-4487-9221-225870A0B185}"/>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Field mapping</a:t>
            </a:r>
          </a:p>
        </p:txBody>
      </p:sp>
      <p:sp>
        <p:nvSpPr>
          <p:cNvPr id="9" name="">
            <a:extLst xmlns:a="http://schemas.openxmlformats.org/drawingml/2006/main">
              <a:ext uri="{FF2B5EF4-FFF2-40B4-BE49-F238E27FC236}">
                <a16:creationId xmlns:a16="http://schemas.microsoft.com/office/drawing/2014/main" id="{A20164F3-FDCD-4B27-86C0-532BAD97E514}"/>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FHIR R4 and resource IDs</a:t>
            </a:r>
          </a:p>
        </p:txBody>
      </p:sp>
      <p:sp>
        <p:nvSpPr>
          <p:cNvPr id="10" name="">
            <a:extLst xmlns:a="http://schemas.openxmlformats.org/drawingml/2006/main">
              <a:ext uri="{FF2B5EF4-FFF2-40B4-BE49-F238E27FC236}">
                <a16:creationId xmlns:a16="http://schemas.microsoft.com/office/drawing/2014/main" id="{0D293832-4BF3-43E3-96AB-DEC1BDA5B8F3}"/>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Patient and Observation</a:t>
            </a:r>
          </a:p>
        </p:txBody>
      </p:sp>
      <p:sp>
        <p:nvSpPr>
          <p:cNvPr id="11" name="">
            <a:extLst xmlns:a="http://schemas.openxmlformats.org/drawingml/2006/main">
              <a:ext uri="{FF2B5EF4-FFF2-40B4-BE49-F238E27FC236}">
                <a16:creationId xmlns:a16="http://schemas.microsoft.com/office/drawing/2014/main" id="{04693565-21D6-41FC-8E5D-2BE807B81AE2}"/>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Appointment and DocumentReference</a:t>
            </a:r>
          </a:p>
        </p:txBody>
      </p:sp>
      <p:sp>
        <p:nvSpPr>
          <p:cNvPr id="12" name="">
            <a:extLst xmlns:a="http://schemas.openxmlformats.org/drawingml/2006/main">
              <a:ext uri="{FF2B5EF4-FFF2-40B4-BE49-F238E27FC236}">
                <a16:creationId xmlns:a16="http://schemas.microsoft.com/office/drawing/2014/main" id="{D925987F-5E87-4BA5-AFB6-D4F6BFA074A7}"/>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LOINC and UCUM</a:t>
            </a:r>
          </a:p>
        </p:txBody>
      </p:sp>
    </p:spTree>
    <p:extLst>
      <p:ext uri="{BB962C8B-B14F-4D97-AF65-F5344CB8AC3E}">
        <p14:creationId xmlns:p14="http://schemas.microsoft.com/office/powerpoint/2010/main" val="916247152"/>
      </p:ext>
    </p:extLst>
  </p:cSld>
</p:sld>
</file>

<file path=ppt/slides/slide10.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E24DE9-4AEA-454D-A8F9-1FBE6F112B92}"/>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Learning order 4: secure systems</a:t>
            </a:r>
          </a:p>
        </p:txBody>
      </p:sp>
      <p:sp>
        <p:nvSpPr>
          <p:cNvPr id="2" name="">
            <a:extLst xmlns:a="http://schemas.openxmlformats.org/drawingml/2006/main">
              <a:ext uri="{FF2B5EF4-FFF2-40B4-BE49-F238E27FC236}">
                <a16:creationId xmlns:a16="http://schemas.microsoft.com/office/drawing/2014/main" id="{DF7D4564-5A78-4BA3-9F94-0117FB15A7C2}"/>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FFB4F7FF-735F-4666-B5E4-90CD1E917291}"/>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7. Application access</a:t>
            </a:r>
          </a:p>
        </p:txBody>
      </p:sp>
      <p:sp>
        <p:nvSpPr>
          <p:cNvPr id="4" name="">
            <a:extLst xmlns:a="http://schemas.openxmlformats.org/drawingml/2006/main">
              <a:ext uri="{FF2B5EF4-FFF2-40B4-BE49-F238E27FC236}">
                <a16:creationId xmlns:a16="http://schemas.microsoft.com/office/drawing/2014/main" id="{E0433C01-9AAB-4B81-8937-D8D6480524D5}"/>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8. Reliable operations</a:t>
            </a:r>
          </a:p>
        </p:txBody>
      </p:sp>
      <p:sp>
        <p:nvSpPr>
          <p:cNvPr id="5" name="">
            <a:extLst xmlns:a="http://schemas.openxmlformats.org/drawingml/2006/main">
              <a:ext uri="{FF2B5EF4-FFF2-40B4-BE49-F238E27FC236}">
                <a16:creationId xmlns:a16="http://schemas.microsoft.com/office/drawing/2014/main" id="{879943F4-7EEB-4BDA-B380-FDF48F18AA25}"/>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HTTP, HTTPS and REST APIs</a:t>
            </a:r>
          </a:p>
        </p:txBody>
      </p:sp>
      <p:sp>
        <p:nvSpPr>
          <p:cNvPr id="6" name="">
            <a:extLst xmlns:a="http://schemas.openxmlformats.org/drawingml/2006/main">
              <a:ext uri="{FF2B5EF4-FFF2-40B4-BE49-F238E27FC236}">
                <a16:creationId xmlns:a16="http://schemas.microsoft.com/office/drawing/2014/main" id="{C99CAD0F-93C0-4C8C-BE83-98FBB43D1C85}"/>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Authentication and authorization</a:t>
            </a:r>
          </a:p>
        </p:txBody>
      </p:sp>
      <p:sp>
        <p:nvSpPr>
          <p:cNvPr id="7" name="">
            <a:extLst xmlns:a="http://schemas.openxmlformats.org/drawingml/2006/main">
              <a:ext uri="{FF2B5EF4-FFF2-40B4-BE49-F238E27FC236}">
                <a16:creationId xmlns:a16="http://schemas.microsoft.com/office/drawing/2014/main" id="{137EAE7F-CADA-40B5-A7F3-E63A108F0C5F}"/>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OAuth 2.0 and OpenID Connect</a:t>
            </a:r>
          </a:p>
        </p:txBody>
      </p:sp>
      <p:sp>
        <p:nvSpPr>
          <p:cNvPr id="8" name="">
            <a:extLst xmlns:a="http://schemas.openxmlformats.org/drawingml/2006/main">
              <a:ext uri="{FF2B5EF4-FFF2-40B4-BE49-F238E27FC236}">
                <a16:creationId xmlns:a16="http://schemas.microsoft.com/office/drawing/2014/main" id="{E6B906C9-D081-46D4-B553-7A0EB9744C5F}"/>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PKCE, tokens and sessions</a:t>
            </a:r>
          </a:p>
        </p:txBody>
      </p:sp>
      <p:sp>
        <p:nvSpPr>
          <p:cNvPr id="9" name="">
            <a:extLst xmlns:a="http://schemas.openxmlformats.org/drawingml/2006/main">
              <a:ext uri="{FF2B5EF4-FFF2-40B4-BE49-F238E27FC236}">
                <a16:creationId xmlns:a16="http://schemas.microsoft.com/office/drawing/2014/main" id="{3C32407F-B578-4453-8592-8C0279DC5BE6}"/>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Containers and persistent storage</a:t>
            </a:r>
          </a:p>
        </p:txBody>
      </p:sp>
      <p:sp>
        <p:nvSpPr>
          <p:cNvPr id="10" name="">
            <a:extLst xmlns:a="http://schemas.openxmlformats.org/drawingml/2006/main">
              <a:ext uri="{FF2B5EF4-FFF2-40B4-BE49-F238E27FC236}">
                <a16:creationId xmlns:a16="http://schemas.microsoft.com/office/drawing/2014/main" id="{42C85F72-DEC9-4911-853D-D839057332AA}"/>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IAM roles and least privilege</a:t>
            </a:r>
          </a:p>
        </p:txBody>
      </p:sp>
      <p:sp>
        <p:nvSpPr>
          <p:cNvPr id="11" name="">
            <a:extLst xmlns:a="http://schemas.openxmlformats.org/drawingml/2006/main">
              <a:ext uri="{FF2B5EF4-FFF2-40B4-BE49-F238E27FC236}">
                <a16:creationId xmlns:a16="http://schemas.microsoft.com/office/drawing/2014/main" id="{4499C488-55CD-4ED3-8449-54A34B1E9713}"/>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Logs and readiness checks</a:t>
            </a:r>
          </a:p>
        </p:txBody>
      </p:sp>
      <p:sp>
        <p:nvSpPr>
          <p:cNvPr id="12" name="">
            <a:extLst xmlns:a="http://schemas.openxmlformats.org/drawingml/2006/main">
              <a:ext uri="{FF2B5EF4-FFF2-40B4-BE49-F238E27FC236}">
                <a16:creationId xmlns:a16="http://schemas.microsoft.com/office/drawing/2014/main" id="{8E48CC24-1EB5-43FA-AFE4-243647460492}"/>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Live tests and checkpoints</a:t>
            </a:r>
          </a:p>
        </p:txBody>
      </p:sp>
    </p:spTree>
    <p:extLst>
      <p:ext uri="{BB962C8B-B14F-4D97-AF65-F5344CB8AC3E}">
        <p14:creationId xmlns:p14="http://schemas.microsoft.com/office/powerpoint/2010/main" val="879630599"/>
      </p:ext>
    </p:extLst>
  </p:cSld>
</p:sld>
</file>

<file path=ppt/slides/slide1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EB736F-01B5-4447-9F81-B0B934351700}"/>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The tools and their roles</a:t>
            </a:r>
          </a:p>
        </p:txBody>
      </p:sp>
      <p:sp>
        <p:nvSpPr>
          <p:cNvPr id="2" name="">
            <a:extLst xmlns:a="http://schemas.openxmlformats.org/drawingml/2006/main">
              <a:ext uri="{FF2B5EF4-FFF2-40B4-BE49-F238E27FC236}">
                <a16:creationId xmlns:a16="http://schemas.microsoft.com/office/drawing/2014/main" id="{5D8DCC8F-5217-416A-9239-83A4B0AD7099}"/>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09A4C07E-3080-45A0-AD8B-0F9F25154AE1}"/>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Operational application</a:t>
            </a:r>
          </a:p>
        </p:txBody>
      </p:sp>
      <p:sp>
        <p:nvSpPr>
          <p:cNvPr id="4" name="">
            <a:extLst xmlns:a="http://schemas.openxmlformats.org/drawingml/2006/main">
              <a:ext uri="{FF2B5EF4-FFF2-40B4-BE49-F238E27FC236}">
                <a16:creationId xmlns:a16="http://schemas.microsoft.com/office/drawing/2014/main" id="{DF1C39D7-2934-4384-86BB-49FD5C6F2379}"/>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Storage and analysis</a:t>
            </a:r>
          </a:p>
        </p:txBody>
      </p:sp>
      <p:sp>
        <p:nvSpPr>
          <p:cNvPr id="5" name="">
            <a:extLst xmlns:a="http://schemas.openxmlformats.org/drawingml/2006/main">
              <a:ext uri="{FF2B5EF4-FFF2-40B4-BE49-F238E27FC236}">
                <a16:creationId xmlns:a16="http://schemas.microsoft.com/office/drawing/2014/main" id="{51117AAA-6528-4A25-83A1-735F3329F72F}"/>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Python: conversion and viewer logic</a:t>
            </a:r>
          </a:p>
        </p:txBody>
      </p:sp>
      <p:sp>
        <p:nvSpPr>
          <p:cNvPr id="6" name="">
            <a:extLst xmlns:a="http://schemas.openxmlformats.org/drawingml/2006/main">
              <a:ext uri="{FF2B5EF4-FFF2-40B4-BE49-F238E27FC236}">
                <a16:creationId xmlns:a16="http://schemas.microsoft.com/office/drawing/2014/main" id="{9D345D45-3E84-4B7A-A454-2F478B938F8C}"/>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Firely: FHIR records and reviewer login</a:t>
            </a:r>
          </a:p>
        </p:txBody>
      </p:sp>
      <p:sp>
        <p:nvSpPr>
          <p:cNvPr id="7" name="">
            <a:extLst xmlns:a="http://schemas.openxmlformats.org/drawingml/2006/main">
              <a:ext uri="{FF2B5EF4-FFF2-40B4-BE49-F238E27FC236}">
                <a16:creationId xmlns:a16="http://schemas.microsoft.com/office/drawing/2014/main" id="{0DC4BF8D-2914-4072-BAC4-881E2D46FD72}"/>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Docker: local service execution</a:t>
            </a:r>
          </a:p>
        </p:txBody>
      </p:sp>
      <p:sp>
        <p:nvSpPr>
          <p:cNvPr id="8" name="">
            <a:extLst xmlns:a="http://schemas.openxmlformats.org/drawingml/2006/main">
              <a:ext uri="{FF2B5EF4-FFF2-40B4-BE49-F238E27FC236}">
                <a16:creationId xmlns:a16="http://schemas.microsoft.com/office/drawing/2014/main" id="{2E0C664C-5041-4692-999D-22A37242A43E}"/>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AWS RDS: clinical backing database</a:t>
            </a:r>
          </a:p>
        </p:txBody>
      </p:sp>
      <p:sp>
        <p:nvSpPr>
          <p:cNvPr id="9" name="">
            <a:extLst xmlns:a="http://schemas.openxmlformats.org/drawingml/2006/main">
              <a:ext uri="{FF2B5EF4-FFF2-40B4-BE49-F238E27FC236}">
                <a16:creationId xmlns:a16="http://schemas.microsoft.com/office/drawing/2014/main" id="{3C43867A-E162-4F9A-83C3-6B3974390CD5}"/>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AWS S3: private files and exports</a:t>
            </a:r>
          </a:p>
        </p:txBody>
      </p:sp>
      <p:sp>
        <p:nvSpPr>
          <p:cNvPr id="10" name="">
            <a:extLst xmlns:a="http://schemas.openxmlformats.org/drawingml/2006/main">
              <a:ext uri="{FF2B5EF4-FFF2-40B4-BE49-F238E27FC236}">
                <a16:creationId xmlns:a16="http://schemas.microsoft.com/office/drawing/2014/main" id="{5AD1D15A-E98C-4C68-B96D-EE70C8D282C6}"/>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Snowflake: copied data for SQL analysis</a:t>
            </a:r>
          </a:p>
        </p:txBody>
      </p:sp>
    </p:spTree>
    <p:extLst>
      <p:ext uri="{BB962C8B-B14F-4D97-AF65-F5344CB8AC3E}">
        <p14:creationId xmlns:p14="http://schemas.microsoft.com/office/powerpoint/2010/main" val="1554441403"/>
      </p:ext>
    </p:extLst>
  </p:cSld>
</p:sld>
</file>

<file path=ppt/slides/slide1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2F7976-5776-40B0-A14D-B5E3399F10D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Python features used</a:t>
            </a:r>
          </a:p>
        </p:txBody>
      </p:sp>
      <p:sp>
        <p:nvSpPr>
          <p:cNvPr id="2" name="">
            <a:extLst xmlns:a="http://schemas.openxmlformats.org/drawingml/2006/main">
              <a:ext uri="{FF2B5EF4-FFF2-40B4-BE49-F238E27FC236}">
                <a16:creationId xmlns:a16="http://schemas.microsoft.com/office/drawing/2014/main" id="{323620B8-080A-4DC7-968A-9ABDE8776AE4}"/>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3C641DDB-1561-4DAB-87CE-33F740CA228F}"/>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Conversion and application</a:t>
            </a:r>
          </a:p>
        </p:txBody>
      </p:sp>
      <p:sp>
        <p:nvSpPr>
          <p:cNvPr id="4" name="">
            <a:extLst xmlns:a="http://schemas.openxmlformats.org/drawingml/2006/main">
              <a:ext uri="{FF2B5EF4-FFF2-40B4-BE49-F238E27FC236}">
                <a16:creationId xmlns:a16="http://schemas.microsoft.com/office/drawing/2014/main" id="{519EDD2D-D389-48AD-8BA4-B067B5393421}"/>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Validation and persistence</a:t>
            </a:r>
          </a:p>
        </p:txBody>
      </p:sp>
      <p:sp>
        <p:nvSpPr>
          <p:cNvPr id="5" name="">
            <a:extLst xmlns:a="http://schemas.openxmlformats.org/drawingml/2006/main">
              <a:ext uri="{FF2B5EF4-FFF2-40B4-BE49-F238E27FC236}">
                <a16:creationId xmlns:a16="http://schemas.microsoft.com/office/drawing/2014/main" id="{1E07C1A0-17A9-420E-A6DA-24759B8CFA69}"/>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hl7apy parsing</a:t>
            </a:r>
          </a:p>
        </p:txBody>
      </p:sp>
      <p:sp>
        <p:nvSpPr>
          <p:cNvPr id="6" name="">
            <a:extLst xmlns:a="http://schemas.openxmlformats.org/drawingml/2006/main">
              <a:ext uri="{FF2B5EF4-FFF2-40B4-BE49-F238E27FC236}">
                <a16:creationId xmlns:a16="http://schemas.microsoft.com/office/drawing/2014/main" id="{84F0947D-E0D7-4429-8F9A-4D988B065326}"/>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FHIR JSON generation</a:t>
            </a:r>
          </a:p>
        </p:txBody>
      </p:sp>
      <p:sp>
        <p:nvSpPr>
          <p:cNvPr id="7" name="">
            <a:extLst xmlns:a="http://schemas.openxmlformats.org/drawingml/2006/main">
              <a:ext uri="{FF2B5EF4-FFF2-40B4-BE49-F238E27FC236}">
                <a16:creationId xmlns:a16="http://schemas.microsoft.com/office/drawing/2014/main" id="{9C17B229-E870-4704-980C-EE9C796FE845}"/>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Deterministic UUID5 identifiers</a:t>
            </a:r>
          </a:p>
        </p:txBody>
      </p:sp>
      <p:sp>
        <p:nvSpPr>
          <p:cNvPr id="8" name="">
            <a:extLst xmlns:a="http://schemas.openxmlformats.org/drawingml/2006/main">
              <a:ext uri="{FF2B5EF4-FFF2-40B4-BE49-F238E27FC236}">
                <a16:creationId xmlns:a16="http://schemas.microsoft.com/office/drawing/2014/main" id="{3206F0EE-A5A3-43D6-8367-F6F4AA4B9D72}"/>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HTTPS viewer and FHIR requests</a:t>
            </a:r>
          </a:p>
        </p:txBody>
      </p:sp>
      <p:sp>
        <p:nvSpPr>
          <p:cNvPr id="9" name="">
            <a:extLst xmlns:a="http://schemas.openxmlformats.org/drawingml/2006/main">
              <a:ext uri="{FF2B5EF4-FFF2-40B4-BE49-F238E27FC236}">
                <a16:creationId xmlns:a16="http://schemas.microsoft.com/office/drawing/2014/main" id="{E76C78D3-F644-498E-8F83-305D9B912875}"/>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Policy-driven readiness rules</a:t>
            </a:r>
          </a:p>
        </p:txBody>
      </p:sp>
      <p:sp>
        <p:nvSpPr>
          <p:cNvPr id="10" name="">
            <a:extLst xmlns:a="http://schemas.openxmlformats.org/drawingml/2006/main">
              <a:ext uri="{FF2B5EF4-FFF2-40B4-BE49-F238E27FC236}">
                <a16:creationId xmlns:a16="http://schemas.microsoft.com/office/drawing/2014/main" id="{8CD9ED22-8A86-4EE5-8C73-B18EABCDBCF5}"/>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SQLite worklist and history</a:t>
            </a:r>
          </a:p>
        </p:txBody>
      </p:sp>
      <p:sp>
        <p:nvSpPr>
          <p:cNvPr id="11" name="">
            <a:extLst xmlns:a="http://schemas.openxmlformats.org/drawingml/2006/main">
              <a:ext uri="{FF2B5EF4-FFF2-40B4-BE49-F238E27FC236}">
                <a16:creationId xmlns:a16="http://schemas.microsoft.com/office/drawing/2014/main" id="{83ED7E0B-22C0-4BF8-A795-D844BB6E5D4A}"/>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SHA-256 integrity checks</a:t>
            </a:r>
          </a:p>
        </p:txBody>
      </p:sp>
      <p:sp>
        <p:nvSpPr>
          <p:cNvPr id="12" name="">
            <a:extLst xmlns:a="http://schemas.openxmlformats.org/drawingml/2006/main">
              <a:ext uri="{FF2B5EF4-FFF2-40B4-BE49-F238E27FC236}">
                <a16:creationId xmlns:a16="http://schemas.microsoft.com/office/drawing/2014/main" id="{72AA0267-B3C0-4754-B660-720B517973A5}"/>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Unit tests and live verification</a:t>
            </a:r>
          </a:p>
        </p:txBody>
      </p:sp>
    </p:spTree>
    <p:extLst>
      <p:ext uri="{BB962C8B-B14F-4D97-AF65-F5344CB8AC3E}">
        <p14:creationId xmlns:p14="http://schemas.microsoft.com/office/powerpoint/2010/main" val="1047274668"/>
      </p:ext>
    </p:extLst>
  </p:cSld>
</p:sld>
</file>

<file path=ppt/slides/slide1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DA618A-5643-44DD-9CA6-6F7CAA55D269}"/>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Docker features used</a:t>
            </a:r>
          </a:p>
        </p:txBody>
      </p:sp>
      <p:sp>
        <p:nvSpPr>
          <p:cNvPr id="2" name="">
            <a:extLst xmlns:a="http://schemas.openxmlformats.org/drawingml/2006/main">
              <a:ext uri="{FF2B5EF4-FFF2-40B4-BE49-F238E27FC236}">
                <a16:creationId xmlns:a16="http://schemas.microsoft.com/office/drawing/2014/main" id="{74E63059-99D3-4D54-9CE4-FD5F329435D2}"/>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1C82FA3C-DA67-44E3-B983-4CA5D85934E6}"/>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Service execution</a:t>
            </a:r>
          </a:p>
        </p:txBody>
      </p:sp>
      <p:sp>
        <p:nvSpPr>
          <p:cNvPr id="4" name="">
            <a:extLst xmlns:a="http://schemas.openxmlformats.org/drawingml/2006/main">
              <a:ext uri="{FF2B5EF4-FFF2-40B4-BE49-F238E27FC236}">
                <a16:creationId xmlns:a16="http://schemas.microsoft.com/office/drawing/2014/main" id="{5E583FF0-2E84-4772-ADFE-F4AF98A75D59}"/>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State and operations</a:t>
            </a:r>
          </a:p>
        </p:txBody>
      </p:sp>
      <p:sp>
        <p:nvSpPr>
          <p:cNvPr id="5" name="">
            <a:extLst xmlns:a="http://schemas.openxmlformats.org/drawingml/2006/main">
              <a:ext uri="{FF2B5EF4-FFF2-40B4-BE49-F238E27FC236}">
                <a16:creationId xmlns:a16="http://schemas.microsoft.com/office/drawing/2014/main" id="{7EDC1986-6F56-4E98-88CB-B8B851FA6B9A}"/>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Docker Desktop and context</a:t>
            </a:r>
          </a:p>
        </p:txBody>
      </p:sp>
      <p:sp>
        <p:nvSpPr>
          <p:cNvPr id="6" name="">
            <a:extLst xmlns:a="http://schemas.openxmlformats.org/drawingml/2006/main">
              <a:ext uri="{FF2B5EF4-FFF2-40B4-BE49-F238E27FC236}">
                <a16:creationId xmlns:a16="http://schemas.microsoft.com/office/drawing/2014/main" id="{9BEBE3BB-9795-4D88-95C9-E8E25B5779B3}"/>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Images and existing containers</a:t>
            </a:r>
          </a:p>
        </p:txBody>
      </p:sp>
      <p:sp>
        <p:nvSpPr>
          <p:cNvPr id="7" name="">
            <a:extLst xmlns:a="http://schemas.openxmlformats.org/drawingml/2006/main">
              <a:ext uri="{FF2B5EF4-FFF2-40B4-BE49-F238E27FC236}">
                <a16:creationId xmlns:a16="http://schemas.microsoft.com/office/drawing/2014/main" id="{9268BC28-2BE3-41B0-B938-9C6BFDAB3AFB}"/>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Port publishing on localhost</a:t>
            </a:r>
          </a:p>
        </p:txBody>
      </p:sp>
      <p:sp>
        <p:nvSpPr>
          <p:cNvPr id="8" name="">
            <a:extLst xmlns:a="http://schemas.openxmlformats.org/drawingml/2006/main">
              <a:ext uri="{FF2B5EF4-FFF2-40B4-BE49-F238E27FC236}">
                <a16:creationId xmlns:a16="http://schemas.microsoft.com/office/drawing/2014/main" id="{344F0779-8306-4DCA-8B6B-C4DF1899577A}"/>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Container network and DNS alias</a:t>
            </a:r>
          </a:p>
        </p:txBody>
      </p:sp>
      <p:sp>
        <p:nvSpPr>
          <p:cNvPr id="9" name="">
            <a:extLst xmlns:a="http://schemas.openxmlformats.org/drawingml/2006/main">
              <a:ext uri="{FF2B5EF4-FFF2-40B4-BE49-F238E27FC236}">
                <a16:creationId xmlns:a16="http://schemas.microsoft.com/office/drawing/2014/main" id="{03B6B78C-BC5E-4A69-9925-A6008F2EF03A}"/>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Named volumes and bind mounts</a:t>
            </a:r>
          </a:p>
        </p:txBody>
      </p:sp>
      <p:sp>
        <p:nvSpPr>
          <p:cNvPr id="10" name="">
            <a:extLst xmlns:a="http://schemas.openxmlformats.org/drawingml/2006/main">
              <a:ext uri="{FF2B5EF4-FFF2-40B4-BE49-F238E27FC236}">
                <a16:creationId xmlns:a16="http://schemas.microsoft.com/office/drawing/2014/main" id="{88205FA0-D642-467E-BEC0-553266FD7C50}"/>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Environment configuration</a:t>
            </a:r>
          </a:p>
        </p:txBody>
      </p:sp>
      <p:sp>
        <p:nvSpPr>
          <p:cNvPr id="11" name="">
            <a:extLst xmlns:a="http://schemas.openxmlformats.org/drawingml/2006/main">
              <a:ext uri="{FF2B5EF4-FFF2-40B4-BE49-F238E27FC236}">
                <a16:creationId xmlns:a16="http://schemas.microsoft.com/office/drawing/2014/main" id="{24A8E1CD-8E66-443C-A760-5E377EB03FF5}"/>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Status inspection and restart</a:t>
            </a:r>
          </a:p>
        </p:txBody>
      </p:sp>
      <p:sp>
        <p:nvSpPr>
          <p:cNvPr id="12" name="">
            <a:extLst xmlns:a="http://schemas.openxmlformats.org/drawingml/2006/main">
              <a:ext uri="{FF2B5EF4-FFF2-40B4-BE49-F238E27FC236}">
                <a16:creationId xmlns:a16="http://schemas.microsoft.com/office/drawing/2014/main" id="{E52C3424-FB37-4EEC-A5A3-F1740A64D3C5}"/>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Preserved rollback container</a:t>
            </a:r>
          </a:p>
        </p:txBody>
      </p:sp>
    </p:spTree>
    <p:extLst>
      <p:ext uri="{BB962C8B-B14F-4D97-AF65-F5344CB8AC3E}">
        <p14:creationId xmlns:p14="http://schemas.microsoft.com/office/powerpoint/2010/main" val="413821172"/>
      </p:ext>
    </p:extLst>
  </p:cSld>
</p:sld>
</file>

<file path=ppt/slides/slide1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43845E-3BAF-4294-8ED5-9E172E5A244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Firely Server and Firely Auth features</a:t>
            </a:r>
          </a:p>
        </p:txBody>
      </p:sp>
      <p:sp>
        <p:nvSpPr>
          <p:cNvPr id="2" name="">
            <a:extLst xmlns:a="http://schemas.openxmlformats.org/drawingml/2006/main">
              <a:ext uri="{FF2B5EF4-FFF2-40B4-BE49-F238E27FC236}">
                <a16:creationId xmlns:a16="http://schemas.microsoft.com/office/drawing/2014/main" id="{516BACBA-9C0B-4269-92E1-7A162249BE3D}"/>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1DFCDD58-1953-412E-84A4-4B36CAC4C91A}"/>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FHIR Server</a:t>
            </a:r>
          </a:p>
        </p:txBody>
      </p:sp>
      <p:sp>
        <p:nvSpPr>
          <p:cNvPr id="4" name="">
            <a:extLst xmlns:a="http://schemas.openxmlformats.org/drawingml/2006/main">
              <a:ext uri="{FF2B5EF4-FFF2-40B4-BE49-F238E27FC236}">
                <a16:creationId xmlns:a16="http://schemas.microsoft.com/office/drawing/2014/main" id="{53B60F2F-EF61-4E14-89B2-E8AD307D2C6E}"/>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Authentication provider</a:t>
            </a:r>
          </a:p>
        </p:txBody>
      </p:sp>
      <p:sp>
        <p:nvSpPr>
          <p:cNvPr id="5" name="">
            <a:extLst xmlns:a="http://schemas.openxmlformats.org/drawingml/2006/main">
              <a:ext uri="{FF2B5EF4-FFF2-40B4-BE49-F238E27FC236}">
                <a16:creationId xmlns:a16="http://schemas.microsoft.com/office/drawing/2014/main" id="{108421EA-3908-422E-9D70-7E3BA387EE13}"/>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FHIR R4 resources</a:t>
            </a:r>
          </a:p>
        </p:txBody>
      </p:sp>
      <p:sp>
        <p:nvSpPr>
          <p:cNvPr id="6" name="">
            <a:extLst xmlns:a="http://schemas.openxmlformats.org/drawingml/2006/main">
              <a:ext uri="{FF2B5EF4-FFF2-40B4-BE49-F238E27FC236}">
                <a16:creationId xmlns:a16="http://schemas.microsoft.com/office/drawing/2014/main" id="{431D935A-7C76-41BC-A18A-056A2BFE0B5C}"/>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Read and search interactions</a:t>
            </a:r>
          </a:p>
        </p:txBody>
      </p:sp>
      <p:sp>
        <p:nvSpPr>
          <p:cNvPr id="7" name="">
            <a:extLst xmlns:a="http://schemas.openxmlformats.org/drawingml/2006/main">
              <a:ext uri="{FF2B5EF4-FFF2-40B4-BE49-F238E27FC236}">
                <a16:creationId xmlns:a16="http://schemas.microsoft.com/office/drawing/2014/main" id="{10395B8B-B8A6-4A5C-9D8C-8F3802BD5621}"/>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Bundle pagination</a:t>
            </a:r>
          </a:p>
        </p:txBody>
      </p:sp>
      <p:sp>
        <p:nvSpPr>
          <p:cNvPr id="8" name="">
            <a:extLst xmlns:a="http://schemas.openxmlformats.org/drawingml/2006/main">
              <a:ext uri="{FF2B5EF4-FFF2-40B4-BE49-F238E27FC236}">
                <a16:creationId xmlns:a16="http://schemas.microsoft.com/office/drawing/2014/main" id="{D4662937-B5AD-48B2-9AF2-3DA1BFCF9363}"/>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SQL Server persistence</a:t>
            </a:r>
          </a:p>
        </p:txBody>
      </p:sp>
      <p:sp>
        <p:nvSpPr>
          <p:cNvPr id="9" name="">
            <a:extLst xmlns:a="http://schemas.openxmlformats.org/drawingml/2006/main">
              <a:ext uri="{FF2B5EF4-FFF2-40B4-BE49-F238E27FC236}">
                <a16:creationId xmlns:a16="http://schemas.microsoft.com/office/drawing/2014/main" id="{0B73624E-9367-4151-9D64-A2CF1CDCC025}"/>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SMART on FHIR scopes</a:t>
            </a:r>
          </a:p>
        </p:txBody>
      </p:sp>
      <p:sp>
        <p:nvSpPr>
          <p:cNvPr id="10" name="">
            <a:extLst xmlns:a="http://schemas.openxmlformats.org/drawingml/2006/main">
              <a:ext uri="{FF2B5EF4-FFF2-40B4-BE49-F238E27FC236}">
                <a16:creationId xmlns:a16="http://schemas.microsoft.com/office/drawing/2014/main" id="{1CE857BD-B559-4529-8EA7-33E2594E8842}"/>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OIDC authorization-code flow</a:t>
            </a:r>
          </a:p>
        </p:txBody>
      </p:sp>
      <p:sp>
        <p:nvSpPr>
          <p:cNvPr id="11" name="">
            <a:extLst xmlns:a="http://schemas.openxmlformats.org/drawingml/2006/main">
              <a:ext uri="{FF2B5EF4-FFF2-40B4-BE49-F238E27FC236}">
                <a16:creationId xmlns:a16="http://schemas.microsoft.com/office/drawing/2014/main" id="{BE2C1E6A-5C2B-4B97-859E-2FB9A09BA172}"/>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PKCE and consent</a:t>
            </a:r>
          </a:p>
        </p:txBody>
      </p:sp>
      <p:sp>
        <p:nvSpPr>
          <p:cNvPr id="12" name="">
            <a:extLst xmlns:a="http://schemas.openxmlformats.org/drawingml/2006/main">
              <a:ext uri="{FF2B5EF4-FFF2-40B4-BE49-F238E27FC236}">
                <a16:creationId xmlns:a16="http://schemas.microsoft.com/office/drawing/2014/main" id="{B9EE3B84-1E0E-4BB4-8899-C710D2013F14}"/>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JWT signing keys and discovery</a:t>
            </a:r>
          </a:p>
        </p:txBody>
      </p:sp>
    </p:spTree>
    <p:extLst>
      <p:ext uri="{BB962C8B-B14F-4D97-AF65-F5344CB8AC3E}">
        <p14:creationId xmlns:p14="http://schemas.microsoft.com/office/powerpoint/2010/main" val="1393052138"/>
      </p:ext>
    </p:extLst>
  </p:cSld>
</p:sld>
</file>

<file path=ppt/slides/slide1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977800-E5AC-4670-9019-1CBF46A8303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AWS features used: database and access</a:t>
            </a:r>
          </a:p>
        </p:txBody>
      </p:sp>
      <p:sp>
        <p:nvSpPr>
          <p:cNvPr id="2" name="">
            <a:extLst xmlns:a="http://schemas.openxmlformats.org/drawingml/2006/main">
              <a:ext uri="{FF2B5EF4-FFF2-40B4-BE49-F238E27FC236}">
                <a16:creationId xmlns:a16="http://schemas.microsoft.com/office/drawing/2014/main" id="{AC963140-420F-4806-9DC1-3C1A95359EFF}"/>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C8754A17-5894-4C24-A906-0AFF8B75D010}"/>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Database connection</a:t>
            </a:r>
          </a:p>
        </p:txBody>
      </p:sp>
      <p:sp>
        <p:nvSpPr>
          <p:cNvPr id="4" name="">
            <a:extLst xmlns:a="http://schemas.openxmlformats.org/drawingml/2006/main">
              <a:ext uri="{FF2B5EF4-FFF2-40B4-BE49-F238E27FC236}">
                <a16:creationId xmlns:a16="http://schemas.microsoft.com/office/drawing/2014/main" id="{066FC9C1-500F-4433-BE84-31CBE549080C}"/>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Access management</a:t>
            </a:r>
          </a:p>
        </p:txBody>
      </p:sp>
      <p:sp>
        <p:nvSpPr>
          <p:cNvPr id="5" name="">
            <a:extLst xmlns:a="http://schemas.openxmlformats.org/drawingml/2006/main">
              <a:ext uri="{FF2B5EF4-FFF2-40B4-BE49-F238E27FC236}">
                <a16:creationId xmlns:a16="http://schemas.microsoft.com/office/drawing/2014/main" id="{955963E6-1089-4FD7-BECB-E7C9E31B559C}"/>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RDS for SQL Server</a:t>
            </a:r>
          </a:p>
        </p:txBody>
      </p:sp>
      <p:sp>
        <p:nvSpPr>
          <p:cNvPr id="6" name="">
            <a:extLst xmlns:a="http://schemas.openxmlformats.org/drawingml/2006/main">
              <a:ext uri="{FF2B5EF4-FFF2-40B4-BE49-F238E27FC236}">
                <a16:creationId xmlns:a16="http://schemas.microsoft.com/office/drawing/2014/main" id="{154A32CF-A097-4A26-9066-093E67547A42}"/>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Endpoint and TCP 1433</a:t>
            </a:r>
          </a:p>
        </p:txBody>
      </p:sp>
      <p:sp>
        <p:nvSpPr>
          <p:cNvPr id="7" name="">
            <a:extLst xmlns:a="http://schemas.openxmlformats.org/drawingml/2006/main">
              <a:ext uri="{FF2B5EF4-FFF2-40B4-BE49-F238E27FC236}">
                <a16:creationId xmlns:a16="http://schemas.microsoft.com/office/drawing/2014/main" id="{2A6F09AF-319E-49B6-8336-8FADEF0F2335}"/>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Security-group IPv4 /32 ingress</a:t>
            </a:r>
          </a:p>
        </p:txBody>
      </p:sp>
      <p:sp>
        <p:nvSpPr>
          <p:cNvPr id="8" name="">
            <a:extLst xmlns:a="http://schemas.openxmlformats.org/drawingml/2006/main">
              <a:ext uri="{FF2B5EF4-FFF2-40B4-BE49-F238E27FC236}">
                <a16:creationId xmlns:a16="http://schemas.microsoft.com/office/drawing/2014/main" id="{BD8569D3-5091-4BB0-9C27-A62843E3DF82}"/>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TLS certificate validation</a:t>
            </a:r>
          </a:p>
        </p:txBody>
      </p:sp>
      <p:sp>
        <p:nvSpPr>
          <p:cNvPr id="9" name="">
            <a:extLst xmlns:a="http://schemas.openxmlformats.org/drawingml/2006/main">
              <a:ext uri="{FF2B5EF4-FFF2-40B4-BE49-F238E27FC236}">
                <a16:creationId xmlns:a16="http://schemas.microsoft.com/office/drawing/2014/main" id="{296D8EE6-308E-46B1-BC66-7444F41BF296}"/>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AWS CLI profile and login session</a:t>
            </a:r>
          </a:p>
        </p:txBody>
      </p:sp>
      <p:sp>
        <p:nvSpPr>
          <p:cNvPr id="10" name="">
            <a:extLst xmlns:a="http://schemas.openxmlformats.org/drawingml/2006/main">
              <a:ext uri="{FF2B5EF4-FFF2-40B4-BE49-F238E27FC236}">
                <a16:creationId xmlns:a16="http://schemas.microsoft.com/office/drawing/2014/main" id="{BCC68DD7-C84D-481E-A762-15F273573E26}"/>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IAM role and permission policy</a:t>
            </a:r>
          </a:p>
        </p:txBody>
      </p:sp>
      <p:sp>
        <p:nvSpPr>
          <p:cNvPr id="11" name="">
            <a:extLst xmlns:a="http://schemas.openxmlformats.org/drawingml/2006/main">
              <a:ext uri="{FF2B5EF4-FFF2-40B4-BE49-F238E27FC236}">
                <a16:creationId xmlns:a16="http://schemas.microsoft.com/office/drawing/2014/main" id="{508D3FC6-BDEA-4286-9800-D8ADC1114B6B}"/>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Trust policy and external ID</a:t>
            </a:r>
          </a:p>
        </p:txBody>
      </p:sp>
      <p:sp>
        <p:nvSpPr>
          <p:cNvPr id="12" name="">
            <a:extLst xmlns:a="http://schemas.openxmlformats.org/drawingml/2006/main">
              <a:ext uri="{FF2B5EF4-FFF2-40B4-BE49-F238E27FC236}">
                <a16:creationId xmlns:a16="http://schemas.microsoft.com/office/drawing/2014/main" id="{1B3D9D33-31A4-4239-ADC8-4E9AD72B85DE}"/>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STS AssumeRole diagnostics</a:t>
            </a:r>
          </a:p>
        </p:txBody>
      </p:sp>
    </p:spTree>
    <p:extLst>
      <p:ext uri="{BB962C8B-B14F-4D97-AF65-F5344CB8AC3E}">
        <p14:creationId xmlns:p14="http://schemas.microsoft.com/office/powerpoint/2010/main" val="1200632855"/>
      </p:ext>
    </p:extLst>
  </p:cSld>
</p:sld>
</file>

<file path=ppt/slides/slide1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327B10-6373-4BD8-9B2B-7CB27B7AC13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AWS features used: private object storage</a:t>
            </a:r>
          </a:p>
        </p:txBody>
      </p:sp>
      <p:sp>
        <p:nvSpPr>
          <p:cNvPr id="2" name="">
            <a:extLst xmlns:a="http://schemas.openxmlformats.org/drawingml/2006/main">
              <a:ext uri="{FF2B5EF4-FFF2-40B4-BE49-F238E27FC236}">
                <a16:creationId xmlns:a16="http://schemas.microsoft.com/office/drawing/2014/main" id="{F805A968-26EC-4F7C-AEAF-BF6B5A05A5E1}"/>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DF303E9C-F4A0-4EBD-BDB5-9E7155410130}"/>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S3 storage</a:t>
            </a:r>
          </a:p>
        </p:txBody>
      </p:sp>
      <p:sp>
        <p:nvSpPr>
          <p:cNvPr id="4" name="">
            <a:extLst xmlns:a="http://schemas.openxmlformats.org/drawingml/2006/main">
              <a:ext uri="{FF2B5EF4-FFF2-40B4-BE49-F238E27FC236}">
                <a16:creationId xmlns:a16="http://schemas.microsoft.com/office/drawing/2014/main" id="{7D038979-F2DC-480D-AFF3-A1B52878F52F}"/>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File integrity and permissions</a:t>
            </a:r>
          </a:p>
        </p:txBody>
      </p:sp>
      <p:sp>
        <p:nvSpPr>
          <p:cNvPr id="5" name="">
            <a:extLst xmlns:a="http://schemas.openxmlformats.org/drawingml/2006/main">
              <a:ext uri="{FF2B5EF4-FFF2-40B4-BE49-F238E27FC236}">
                <a16:creationId xmlns:a16="http://schemas.microsoft.com/office/drawing/2014/main" id="{A49BE0D4-3886-4114-BF3C-5A9BB28C5C17}"/>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Private bucket and object prefixes</a:t>
            </a:r>
          </a:p>
        </p:txBody>
      </p:sp>
      <p:sp>
        <p:nvSpPr>
          <p:cNvPr id="6" name="">
            <a:extLst xmlns:a="http://schemas.openxmlformats.org/drawingml/2006/main">
              <a:ext uri="{FF2B5EF4-FFF2-40B4-BE49-F238E27FC236}">
                <a16:creationId xmlns:a16="http://schemas.microsoft.com/office/drawing/2014/main" id="{6EEE4FFC-1C46-4EB3-973C-99486BF99316}"/>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PDF and PNG objects</a:t>
            </a:r>
          </a:p>
        </p:txBody>
      </p:sp>
      <p:sp>
        <p:nvSpPr>
          <p:cNvPr id="7" name="">
            <a:extLst xmlns:a="http://schemas.openxmlformats.org/drawingml/2006/main">
              <a:ext uri="{FF2B5EF4-FFF2-40B4-BE49-F238E27FC236}">
                <a16:creationId xmlns:a16="http://schemas.microsoft.com/office/drawing/2014/main" id="{5CFBD311-F7CA-4C77-A3C6-DA4BA9950465}"/>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NDJSON export and manifest</a:t>
            </a:r>
          </a:p>
        </p:txBody>
      </p:sp>
      <p:sp>
        <p:nvSpPr>
          <p:cNvPr id="8" name="">
            <a:extLst xmlns:a="http://schemas.openxmlformats.org/drawingml/2006/main">
              <a:ext uri="{FF2B5EF4-FFF2-40B4-BE49-F238E27FC236}">
                <a16:creationId xmlns:a16="http://schemas.microsoft.com/office/drawing/2014/main" id="{7D898F5D-01A6-4A94-8B05-F935A1583D01}"/>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Public Access Block</a:t>
            </a:r>
          </a:p>
        </p:txBody>
      </p:sp>
      <p:sp>
        <p:nvSpPr>
          <p:cNvPr id="9" name="">
            <a:extLst xmlns:a="http://schemas.openxmlformats.org/drawingml/2006/main">
              <a:ext uri="{FF2B5EF4-FFF2-40B4-BE49-F238E27FC236}">
                <a16:creationId xmlns:a16="http://schemas.microsoft.com/office/drawing/2014/main" id="{A29334BB-DADF-4EDF-BE9D-C9A2D87406C7}"/>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AES256 server-side encryption</a:t>
            </a:r>
          </a:p>
        </p:txBody>
      </p:sp>
      <p:sp>
        <p:nvSpPr>
          <p:cNvPr id="10" name="">
            <a:extLst xmlns:a="http://schemas.openxmlformats.org/drawingml/2006/main">
              <a:ext uri="{FF2B5EF4-FFF2-40B4-BE49-F238E27FC236}">
                <a16:creationId xmlns:a16="http://schemas.microsoft.com/office/drawing/2014/main" id="{ABA293D5-2639-4AED-B370-A80BAFF23343}"/>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Conditional uploads without overwrite</a:t>
            </a:r>
          </a:p>
        </p:txBody>
      </p:sp>
      <p:sp>
        <p:nvSpPr>
          <p:cNvPr id="11" name="">
            <a:extLst xmlns:a="http://schemas.openxmlformats.org/drawingml/2006/main">
              <a:ext uri="{FF2B5EF4-FFF2-40B4-BE49-F238E27FC236}">
                <a16:creationId xmlns:a16="http://schemas.microsoft.com/office/drawing/2014/main" id="{781B9CED-4BC7-423D-B63D-AEDB5BE5237B}"/>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Restricted list/read policy</a:t>
            </a:r>
          </a:p>
        </p:txBody>
      </p:sp>
      <p:sp>
        <p:nvSpPr>
          <p:cNvPr id="12" name="">
            <a:extLst xmlns:a="http://schemas.openxmlformats.org/drawingml/2006/main">
              <a:ext uri="{FF2B5EF4-FFF2-40B4-BE49-F238E27FC236}">
                <a16:creationId xmlns:a16="http://schemas.microsoft.com/office/drawing/2014/main" id="{45609E96-7CE2-4E66-8224-17D724784B01}"/>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Downloaded SHA-256 comparison</a:t>
            </a:r>
          </a:p>
        </p:txBody>
      </p:sp>
    </p:spTree>
    <p:extLst>
      <p:ext uri="{BB962C8B-B14F-4D97-AF65-F5344CB8AC3E}">
        <p14:creationId xmlns:p14="http://schemas.microsoft.com/office/powerpoint/2010/main" val="564813298"/>
      </p:ext>
    </p:extLst>
  </p:cSld>
</p:sld>
</file>

<file path=ppt/slides/slide1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0323B-A1D1-43A7-A659-E6791780C6C9}"/>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Snowflake features used: storage and loading</a:t>
            </a:r>
          </a:p>
        </p:txBody>
      </p:sp>
      <p:sp>
        <p:nvSpPr>
          <p:cNvPr id="2" name="">
            <a:extLst xmlns:a="http://schemas.openxmlformats.org/drawingml/2006/main">
              <a:ext uri="{FF2B5EF4-FFF2-40B4-BE49-F238E27FC236}">
                <a16:creationId xmlns:a16="http://schemas.microsoft.com/office/drawing/2014/main" id="{49FF04DD-8B1D-445B-8A4B-E61180C18A7F}"/>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EE06AABF-D69D-46E4-90EB-9305C9F9CE37}"/>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Objects and formats</a:t>
            </a:r>
          </a:p>
        </p:txBody>
      </p:sp>
      <p:sp>
        <p:nvSpPr>
          <p:cNvPr id="4" name="">
            <a:extLst xmlns:a="http://schemas.openxmlformats.org/drawingml/2006/main">
              <a:ext uri="{FF2B5EF4-FFF2-40B4-BE49-F238E27FC236}">
                <a16:creationId xmlns:a16="http://schemas.microsoft.com/office/drawing/2014/main" id="{B6551EB7-7EB8-4821-92F4-D916B4C3F6E8}"/>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Ingestion and evidence</a:t>
            </a:r>
          </a:p>
        </p:txBody>
      </p:sp>
      <p:sp>
        <p:nvSpPr>
          <p:cNvPr id="5" name="">
            <a:extLst xmlns:a="http://schemas.openxmlformats.org/drawingml/2006/main">
              <a:ext uri="{FF2B5EF4-FFF2-40B4-BE49-F238E27FC236}">
                <a16:creationId xmlns:a16="http://schemas.microsoft.com/office/drawing/2014/main" id="{7B24E059-D2DB-4D38-8FE4-6ABA4A4D85A5}"/>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Database and dedicated schema</a:t>
            </a:r>
          </a:p>
        </p:txBody>
      </p:sp>
      <p:sp>
        <p:nvSpPr>
          <p:cNvPr id="6" name="">
            <a:extLst xmlns:a="http://schemas.openxmlformats.org/drawingml/2006/main">
              <a:ext uri="{FF2B5EF4-FFF2-40B4-BE49-F238E27FC236}">
                <a16:creationId xmlns:a16="http://schemas.microsoft.com/office/drawing/2014/main" id="{90B06D8D-A112-491D-BBB3-86065FE9004D}"/>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JSON file format</a:t>
            </a:r>
          </a:p>
        </p:txBody>
      </p:sp>
      <p:sp>
        <p:nvSpPr>
          <p:cNvPr id="7" name="">
            <a:extLst xmlns:a="http://schemas.openxmlformats.org/drawingml/2006/main">
              <a:ext uri="{FF2B5EF4-FFF2-40B4-BE49-F238E27FC236}">
                <a16:creationId xmlns:a16="http://schemas.microsoft.com/office/drawing/2014/main" id="{1F157468-98A0-451E-AFE1-9CB61B0B5F1C}"/>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Internal stage and file upload</a:t>
            </a:r>
          </a:p>
        </p:txBody>
      </p:sp>
      <p:sp>
        <p:nvSpPr>
          <p:cNvPr id="8" name="">
            <a:extLst xmlns:a="http://schemas.openxmlformats.org/drawingml/2006/main">
              <a:ext uri="{FF2B5EF4-FFF2-40B4-BE49-F238E27FC236}">
                <a16:creationId xmlns:a16="http://schemas.microsoft.com/office/drawing/2014/main" id="{CC70768D-F698-4D5E-A06C-6E08E866087C}"/>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RAW table with VARIANT payload</a:t>
            </a:r>
          </a:p>
        </p:txBody>
      </p:sp>
      <p:sp>
        <p:nvSpPr>
          <p:cNvPr id="9" name="">
            <a:extLst xmlns:a="http://schemas.openxmlformats.org/drawingml/2006/main">
              <a:ext uri="{FF2B5EF4-FFF2-40B4-BE49-F238E27FC236}">
                <a16:creationId xmlns:a16="http://schemas.microsoft.com/office/drawing/2014/main" id="{D1528338-AF21-41F3-80B1-D3DB3406217E}"/>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COPY INTO</a:t>
            </a:r>
          </a:p>
        </p:txBody>
      </p:sp>
      <p:sp>
        <p:nvSpPr>
          <p:cNvPr id="10" name="">
            <a:extLst xmlns:a="http://schemas.openxmlformats.org/drawingml/2006/main">
              <a:ext uri="{FF2B5EF4-FFF2-40B4-BE49-F238E27FC236}">
                <a16:creationId xmlns:a16="http://schemas.microsoft.com/office/drawing/2014/main" id="{57A169E6-DD81-45E8-A1D7-E83043DC50B8}"/>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File names and row metadata</a:t>
            </a:r>
          </a:p>
        </p:txBody>
      </p:sp>
      <p:sp>
        <p:nvSpPr>
          <p:cNvPr id="11" name="">
            <a:extLst xmlns:a="http://schemas.openxmlformats.org/drawingml/2006/main">
              <a:ext uri="{FF2B5EF4-FFF2-40B4-BE49-F238E27FC236}">
                <a16:creationId xmlns:a16="http://schemas.microsoft.com/office/drawing/2014/main" id="{FA0C9863-203A-433E-94CF-9C43A660625B}"/>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FORCE=FALSE and PURGE=FALSE</a:t>
            </a:r>
          </a:p>
        </p:txBody>
      </p:sp>
      <p:sp>
        <p:nvSpPr>
          <p:cNvPr id="12" name="">
            <a:extLst xmlns:a="http://schemas.openxmlformats.org/drawingml/2006/main">
              <a:ext uri="{FF2B5EF4-FFF2-40B4-BE49-F238E27FC236}">
                <a16:creationId xmlns:a16="http://schemas.microsoft.com/office/drawing/2014/main" id="{E3FF8073-737A-4434-A0A1-1D604BC2AEB2}"/>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Query IDs and CSV result downloads</a:t>
            </a:r>
          </a:p>
        </p:txBody>
      </p:sp>
    </p:spTree>
    <p:extLst>
      <p:ext uri="{BB962C8B-B14F-4D97-AF65-F5344CB8AC3E}">
        <p14:creationId xmlns:p14="http://schemas.microsoft.com/office/powerpoint/2010/main" val="291689702"/>
      </p:ext>
    </p:extLst>
  </p:cSld>
</p:sld>
</file>

<file path=ppt/slides/slide1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B67DE6-12FB-4550-9E89-26CBA41B0C3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Snowflake features used: compute and checks</a:t>
            </a:r>
          </a:p>
        </p:txBody>
      </p:sp>
      <p:sp>
        <p:nvSpPr>
          <p:cNvPr id="2" name="">
            <a:extLst xmlns:a="http://schemas.openxmlformats.org/drawingml/2006/main">
              <a:ext uri="{FF2B5EF4-FFF2-40B4-BE49-F238E27FC236}">
                <a16:creationId xmlns:a16="http://schemas.microsoft.com/office/drawing/2014/main" id="{7F7FC8C8-2B8E-4E5E-B77C-5FB37CE5E71B}"/>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791ACD5A-4929-445E-8649-790CAF7A6A1A}"/>
              </a:ext>
            </a:extLst>
          </p:cNvPr>
          <p:cNvSpPr>
            <a:spLocks xmlns:a="http://schemas.openxmlformats.org/drawingml/2006/main" noGrp="1"/>
          </p:cNvSpPr>
          <p:nvPr/>
        </p:nvSpPr>
        <p:spPr>
          <a:xfrm xmlns:a="http://schemas.openxmlformats.org/drawingml/2006/main">
            <a:off x="685800" y="1952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Warehouse operation</a:t>
            </a:r>
          </a:p>
        </p:txBody>
      </p:sp>
      <p:sp>
        <p:nvSpPr>
          <p:cNvPr id="4" name="">
            <a:extLst xmlns:a="http://schemas.openxmlformats.org/drawingml/2006/main">
              <a:ext uri="{FF2B5EF4-FFF2-40B4-BE49-F238E27FC236}">
                <a16:creationId xmlns:a16="http://schemas.microsoft.com/office/drawing/2014/main" id="{8F0CF766-87C7-4300-9D38-D6CEA10CCF9C}"/>
              </a:ext>
            </a:extLst>
          </p:cNvPr>
          <p:cNvSpPr>
            <a:spLocks xmlns:a="http://schemas.openxmlformats.org/drawingml/2006/main" noGrp="1"/>
          </p:cNvSpPr>
          <p:nvPr/>
        </p:nvSpPr>
        <p:spPr>
          <a:xfrm xmlns:a="http://schemas.openxmlformats.org/drawingml/2006/main">
            <a:off x="6572250" y="1952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67C86"/>
                </a:solidFill>
                <a:latin typeface="Helvetica Neue"/>
                <a:ea typeface="Helvetica Neue"/>
                <a:cs typeface="Helvetica Neue"/>
              </a:defRPr>
            </a:defPPr>
          </a:lstStyle>
          <a:p xmlns:a="http://schemas.openxmlformats.org/drawingml/2006/main">
            <a:pPr>
              <a:defRPr sz="1875" b="1">
                <a:solidFill>
                  <a:srgbClr val="167C86"/>
                </a:solidFill>
                <a:latin typeface="Helvetica Neue"/>
                <a:ea typeface="Helvetica Neue"/>
                <a:cs typeface="Helvetica Neue"/>
              </a:defRPr>
            </a:pPr>
            <a:r>
              <a:rPr sz="1875" b="1">
                <a:solidFill>
                  <a:srgbClr val="167C86"/>
                </a:solidFill>
                <a:latin typeface="Helvetica Neue"/>
                <a:ea typeface="Helvetica Neue"/>
                <a:cs typeface="Helvetica Neue"/>
              </a:rPr>
              <a:t>Verification</a:t>
            </a:r>
          </a:p>
        </p:txBody>
      </p:sp>
      <p:sp>
        <p:nvSpPr>
          <p:cNvPr id="5" name="">
            <a:extLst xmlns:a="http://schemas.openxmlformats.org/drawingml/2006/main">
              <a:ext uri="{FF2B5EF4-FFF2-40B4-BE49-F238E27FC236}">
                <a16:creationId xmlns:a16="http://schemas.microsoft.com/office/drawing/2014/main" id="{A875F5F6-8031-4869-B289-608E6A5A7550}"/>
              </a:ext>
            </a:extLst>
          </p:cNvPr>
          <p:cNvSpPr>
            <a:spLocks xmlns:a="http://schemas.openxmlformats.org/drawingml/2006/main" noGrp="1"/>
          </p:cNvSpPr>
          <p:nvPr/>
        </p:nvSpPr>
        <p:spPr>
          <a:xfrm xmlns:a="http://schemas.openxmlformats.org/drawingml/2006/main">
            <a:off x="685800" y="25241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Dedicated FIRELY_DEMO_WH</a:t>
            </a:r>
          </a:p>
        </p:txBody>
      </p:sp>
      <p:sp>
        <p:nvSpPr>
          <p:cNvPr id="6" name="">
            <a:extLst xmlns:a="http://schemas.openxmlformats.org/drawingml/2006/main">
              <a:ext uri="{FF2B5EF4-FFF2-40B4-BE49-F238E27FC236}">
                <a16:creationId xmlns:a16="http://schemas.microsoft.com/office/drawing/2014/main" id="{E84B26B2-B4DA-4324-9D2C-4A20FB719583}"/>
              </a:ext>
            </a:extLst>
          </p:cNvPr>
          <p:cNvSpPr>
            <a:spLocks xmlns:a="http://schemas.openxmlformats.org/drawingml/2006/main" noGrp="1"/>
          </p:cNvSpPr>
          <p:nvPr/>
        </p:nvSpPr>
        <p:spPr>
          <a:xfrm xmlns:a="http://schemas.openxmlformats.org/drawingml/2006/main">
            <a:off x="685800" y="30670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X-Small compute</a:t>
            </a:r>
          </a:p>
        </p:txBody>
      </p:sp>
      <p:sp>
        <p:nvSpPr>
          <p:cNvPr id="7" name="">
            <a:extLst xmlns:a="http://schemas.openxmlformats.org/drawingml/2006/main">
              <a:ext uri="{FF2B5EF4-FFF2-40B4-BE49-F238E27FC236}">
                <a16:creationId xmlns:a16="http://schemas.microsoft.com/office/drawing/2014/main" id="{3A687D02-F397-4D63-918C-A29929B3738B}"/>
              </a:ext>
            </a:extLst>
          </p:cNvPr>
          <p:cNvSpPr>
            <a:spLocks xmlns:a="http://schemas.openxmlformats.org/drawingml/2006/main" noGrp="1"/>
          </p:cNvSpPr>
          <p:nvPr/>
        </p:nvSpPr>
        <p:spPr>
          <a:xfrm xmlns:a="http://schemas.openxmlformats.org/drawingml/2006/main">
            <a:off x="685800" y="3609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Auto-resume</a:t>
            </a:r>
          </a:p>
        </p:txBody>
      </p:sp>
      <p:sp>
        <p:nvSpPr>
          <p:cNvPr id="8" name="">
            <a:extLst xmlns:a="http://schemas.openxmlformats.org/drawingml/2006/main">
              <a:ext uri="{FF2B5EF4-FFF2-40B4-BE49-F238E27FC236}">
                <a16:creationId xmlns:a16="http://schemas.microsoft.com/office/drawing/2014/main" id="{54953CFA-4D13-4F4A-AA78-8F8DF0F11877}"/>
              </a:ext>
            </a:extLst>
          </p:cNvPr>
          <p:cNvSpPr>
            <a:spLocks xmlns:a="http://schemas.openxmlformats.org/drawingml/2006/main" noGrp="1"/>
          </p:cNvSpPr>
          <p:nvPr/>
        </p:nvSpPr>
        <p:spPr>
          <a:xfrm xmlns:a="http://schemas.openxmlformats.org/drawingml/2006/main">
            <a:off x="685800" y="41529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60-second auto-suspend</a:t>
            </a:r>
          </a:p>
        </p:txBody>
      </p:sp>
      <p:sp>
        <p:nvSpPr>
          <p:cNvPr id="9" name="">
            <a:extLst xmlns:a="http://schemas.openxmlformats.org/drawingml/2006/main">
              <a:ext uri="{FF2B5EF4-FFF2-40B4-BE49-F238E27FC236}">
                <a16:creationId xmlns:a16="http://schemas.microsoft.com/office/drawing/2014/main" id="{08F0762C-C8E3-4FB2-8735-82E22F69BF2E}"/>
              </a:ext>
            </a:extLst>
          </p:cNvPr>
          <p:cNvSpPr>
            <a:spLocks xmlns:a="http://schemas.openxmlformats.org/drawingml/2006/main" noGrp="1"/>
          </p:cNvSpPr>
          <p:nvPr/>
        </p:nvSpPr>
        <p:spPr>
          <a:xfrm xmlns:a="http://schemas.openxmlformats.org/drawingml/2006/main">
            <a:off x="6572250" y="2524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SQL counts and distinct IDs</a:t>
            </a:r>
          </a:p>
        </p:txBody>
      </p:sp>
      <p:sp>
        <p:nvSpPr>
          <p:cNvPr id="10" name="">
            <a:extLst xmlns:a="http://schemas.openxmlformats.org/drawingml/2006/main">
              <a:ext uri="{FF2B5EF4-FFF2-40B4-BE49-F238E27FC236}">
                <a16:creationId xmlns:a16="http://schemas.microsoft.com/office/drawing/2014/main" id="{0E332491-9BE1-4EEC-A82A-32D8E63CB728}"/>
              </a:ext>
            </a:extLst>
          </p:cNvPr>
          <p:cNvSpPr>
            <a:spLocks xmlns:a="http://schemas.openxmlformats.org/drawingml/2006/main" noGrp="1"/>
          </p:cNvSpPr>
          <p:nvPr/>
        </p:nvSpPr>
        <p:spPr>
          <a:xfrm xmlns:a="http://schemas.openxmlformats.org/drawingml/2006/main">
            <a:off x="6572250" y="306705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Full JSON payload comparison</a:t>
            </a:r>
          </a:p>
        </p:txBody>
      </p:sp>
      <p:sp>
        <p:nvSpPr>
          <p:cNvPr id="11" name="">
            <a:extLst xmlns:a="http://schemas.openxmlformats.org/drawingml/2006/main">
              <a:ext uri="{FF2B5EF4-FFF2-40B4-BE49-F238E27FC236}">
                <a16:creationId xmlns:a16="http://schemas.microsoft.com/office/drawing/2014/main" id="{9CE6600B-E39E-4025-80AC-60F076EF0305}"/>
              </a:ext>
            </a:extLst>
          </p:cNvPr>
          <p:cNvSpPr>
            <a:spLocks xmlns:a="http://schemas.openxmlformats.org/drawingml/2006/main" noGrp="1"/>
          </p:cNvSpPr>
          <p:nvPr/>
        </p:nvSpPr>
        <p:spPr>
          <a:xfrm xmlns:a="http://schemas.openxmlformats.org/drawingml/2006/main">
            <a:off x="6572250" y="36099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Patient-reference reconciliation</a:t>
            </a:r>
          </a:p>
        </p:txBody>
      </p:sp>
      <p:sp>
        <p:nvSpPr>
          <p:cNvPr id="12" name="">
            <a:extLst xmlns:a="http://schemas.openxmlformats.org/drawingml/2006/main">
              <a:ext uri="{FF2B5EF4-FFF2-40B4-BE49-F238E27FC236}">
                <a16:creationId xmlns:a16="http://schemas.microsoft.com/office/drawing/2014/main" id="{C5C3E06C-9A21-4136-A94C-E4E3FA3CE26B}"/>
              </a:ext>
            </a:extLst>
          </p:cNvPr>
          <p:cNvSpPr>
            <a:spLocks xmlns:a="http://schemas.openxmlformats.org/drawingml/2006/main" noGrp="1"/>
          </p:cNvSpPr>
          <p:nvPr/>
        </p:nvSpPr>
        <p:spPr>
          <a:xfrm xmlns:a="http://schemas.openxmlformats.org/drawingml/2006/main">
            <a:off x="6572250" y="4152900"/>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93548"/>
                </a:solidFill>
                <a:latin typeface="Helvetica Neue"/>
                <a:ea typeface="Helvetica Neue"/>
                <a:cs typeface="Helvetica Neue"/>
              </a:defRPr>
            </a:defPPr>
          </a:lstStyle>
          <a:p xmlns:a="http://schemas.openxmlformats.org/drawingml/2006/main">
            <a:pPr>
              <a:defRPr sz="2025" b="0">
                <a:solidFill>
                  <a:srgbClr val="193548"/>
                </a:solidFill>
                <a:latin typeface="Helvetica Neue"/>
                <a:ea typeface="Helvetica Neue"/>
                <a:cs typeface="Helvetica Neue"/>
              </a:defRPr>
            </a:pPr>
            <a:r>
              <a:rPr sz="2025" b="0">
                <a:solidFill>
                  <a:srgbClr val="193548"/>
                </a:solidFill>
                <a:latin typeface="Helvetica Neue"/>
                <a:ea typeface="Helvetica Neue"/>
                <a:cs typeface="Helvetica Neue"/>
              </a:rPr>
              <a:t>Repeated COPY with LOAD_SKIPPED</a:t>
            </a:r>
          </a:p>
        </p:txBody>
      </p:sp>
    </p:spTree>
    <p:extLst>
      <p:ext uri="{BB962C8B-B14F-4D97-AF65-F5344CB8AC3E}">
        <p14:creationId xmlns:p14="http://schemas.microsoft.com/office/powerpoint/2010/main" val="815653376"/>
      </p:ext>
    </p:extLst>
  </p:cSld>
</p:sld>
</file>

<file path=ppt/slides/slide19.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1BAB7B-7EC5-4421-A8B1-26A12DCABCC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Phase 1: supported messages and identity</a:t>
            </a:r>
          </a:p>
        </p:txBody>
      </p:sp>
      <p:sp>
        <p:nvSpPr>
          <p:cNvPr id="2" name="">
            <a:extLst xmlns:a="http://schemas.openxmlformats.org/drawingml/2006/main">
              <a:ext uri="{FF2B5EF4-FFF2-40B4-BE49-F238E27FC236}">
                <a16:creationId xmlns:a16="http://schemas.microsoft.com/office/drawing/2014/main" id="{118CAFDF-8237-464E-B907-1EE8A5F16E61}"/>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00EA8A11-3EBC-40E8-AD0D-4F79316A81BC}"/>
              </a:ext>
            </a:extLst>
          </p:cNvPr>
          <p:cNvSpPr>
            <a:spLocks xmlns:a="http://schemas.openxmlformats.org/drawingml/2006/main" noGrp="1"/>
          </p:cNvSpPr>
          <p:nvPr/>
        </p:nvSpPr>
        <p:spPr>
          <a:xfrm xmlns:a="http://schemas.openxmlformats.org/drawingml/2006/main">
            <a:off x="68580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Approach</a:t>
            </a:r>
          </a:p>
        </p:txBody>
      </p:sp>
      <p:sp>
        <p:nvSpPr>
          <p:cNvPr id="4" name="">
            <a:extLst xmlns:a="http://schemas.openxmlformats.org/drawingml/2006/main">
              <a:ext uri="{FF2B5EF4-FFF2-40B4-BE49-F238E27FC236}">
                <a16:creationId xmlns:a16="http://schemas.microsoft.com/office/drawing/2014/main" id="{B58631E3-1B71-4D78-BFE1-27E828576A18}"/>
              </a:ext>
            </a:extLst>
          </p:cNvPr>
          <p:cNvSpPr>
            <a:spLocks xmlns:a="http://schemas.openxmlformats.org/drawingml/2006/main" noGrp="1"/>
          </p:cNvSpPr>
          <p:nvPr/>
        </p:nvSpPr>
        <p:spPr>
          <a:xfrm xmlns:a="http://schemas.openxmlformats.org/drawingml/2006/main">
            <a:off x="68580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Parse admission and lab examples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Map them to FHIR resources</a:t>
            </a:r>
          </a:p>
        </p:txBody>
      </p:sp>
      <p:sp>
        <p:nvSpPr>
          <p:cNvPr id="5" name="">
            <a:extLst xmlns:a="http://schemas.openxmlformats.org/drawingml/2006/main">
              <a:ext uri="{FF2B5EF4-FFF2-40B4-BE49-F238E27FC236}">
                <a16:creationId xmlns:a16="http://schemas.microsoft.com/office/drawing/2014/main" id="{307F6FF2-DCAD-4987-90BC-FE7DDFD26DC0}"/>
              </a:ext>
            </a:extLst>
          </p:cNvPr>
          <p:cNvSpPr>
            <a:spLocks xmlns:a="http://schemas.openxmlformats.org/drawingml/2006/main" noGrp="1"/>
          </p:cNvSpPr>
          <p:nvPr/>
        </p:nvSpPr>
        <p:spPr>
          <a:xfrm xmlns:a="http://schemas.openxmlformats.org/drawingml/2006/main">
            <a:off x="4524375"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Result</a:t>
            </a:r>
          </a:p>
        </p:txBody>
      </p:sp>
      <p:sp>
        <p:nvSpPr>
          <p:cNvPr id="6" name="">
            <a:extLst xmlns:a="http://schemas.openxmlformats.org/drawingml/2006/main">
              <a:ext uri="{FF2B5EF4-FFF2-40B4-BE49-F238E27FC236}">
                <a16:creationId xmlns:a16="http://schemas.microsoft.com/office/drawing/2014/main" id="{E05B4B10-9D5E-48B1-B378-2B8816BD4C11}"/>
              </a:ext>
            </a:extLst>
          </p:cNvPr>
          <p:cNvSpPr>
            <a:spLocks xmlns:a="http://schemas.openxmlformats.org/drawingml/2006/main" noGrp="1"/>
          </p:cNvSpPr>
          <p:nvPr/>
        </p:nvSpPr>
        <p:spPr>
          <a:xfrm xmlns:a="http://schemas.openxmlformats.org/drawingml/2006/main">
            <a:off x="4524375"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Patient and Observation converters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Stable record identifiers</a:t>
            </a:r>
          </a:p>
        </p:txBody>
      </p:sp>
      <p:sp>
        <p:nvSpPr>
          <p:cNvPr id="7" name="">
            <a:extLst xmlns:a="http://schemas.openxmlformats.org/drawingml/2006/main">
              <a:ext uri="{FF2B5EF4-FFF2-40B4-BE49-F238E27FC236}">
                <a16:creationId xmlns:a16="http://schemas.microsoft.com/office/drawing/2014/main" id="{CE70F17D-6B09-4A79-8C1F-FC01F630C813}"/>
              </a:ext>
            </a:extLst>
          </p:cNvPr>
          <p:cNvSpPr>
            <a:spLocks xmlns:a="http://schemas.openxmlformats.org/drawingml/2006/main" noGrp="1"/>
          </p:cNvSpPr>
          <p:nvPr/>
        </p:nvSpPr>
        <p:spPr>
          <a:xfrm xmlns:a="http://schemas.openxmlformats.org/drawingml/2006/main">
            <a:off x="836295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Challenge</a:t>
            </a:r>
          </a:p>
        </p:txBody>
      </p:sp>
      <p:sp>
        <p:nvSpPr>
          <p:cNvPr id="8" name="">
            <a:extLst xmlns:a="http://schemas.openxmlformats.org/drawingml/2006/main">
              <a:ext uri="{FF2B5EF4-FFF2-40B4-BE49-F238E27FC236}">
                <a16:creationId xmlns:a16="http://schemas.microsoft.com/office/drawing/2014/main" id="{059F7FE3-E11B-47BB-BD84-A698132C8133}"/>
              </a:ext>
            </a:extLst>
          </p:cNvPr>
          <p:cNvSpPr>
            <a:spLocks xmlns:a="http://schemas.openxmlformats.org/drawingml/2006/main" noGrp="1"/>
          </p:cNvSpPr>
          <p:nvPr/>
        </p:nvSpPr>
        <p:spPr>
          <a:xfrm xmlns:a="http://schemas.openxmlformats.org/drawingml/2006/main">
            <a:off x="836295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Ambiguous identity, units and time</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Reject unsupported input</a:t>
            </a:r>
          </a:p>
        </p:txBody>
      </p:sp>
    </p:spTree>
    <p:extLst>
      <p:ext uri="{BB962C8B-B14F-4D97-AF65-F5344CB8AC3E}">
        <p14:creationId xmlns:p14="http://schemas.microsoft.com/office/powerpoint/2010/main" val="502815351"/>
      </p:ext>
    </p:extLst>
  </p:cSld>
</p:sld>
</file>

<file path=ppt/slides/slide20.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160575-403F-4641-A4F4-E4652503756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Phase 2: visit information and workflow</a:t>
            </a:r>
          </a:p>
        </p:txBody>
      </p:sp>
      <p:sp>
        <p:nvSpPr>
          <p:cNvPr id="2" name="">
            <a:extLst xmlns:a="http://schemas.openxmlformats.org/drawingml/2006/main">
              <a:ext uri="{FF2B5EF4-FFF2-40B4-BE49-F238E27FC236}">
                <a16:creationId xmlns:a16="http://schemas.microsoft.com/office/drawing/2014/main" id="{70BBC9D0-A7B9-4231-B1F4-40C5458B2C6E}"/>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A29B4F4F-1E67-4B14-A373-C60247690E9C}"/>
              </a:ext>
            </a:extLst>
          </p:cNvPr>
          <p:cNvSpPr>
            <a:spLocks xmlns:a="http://schemas.openxmlformats.org/drawingml/2006/main" noGrp="1"/>
          </p:cNvSpPr>
          <p:nvPr/>
        </p:nvSpPr>
        <p:spPr>
          <a:xfrm xmlns:a="http://schemas.openxmlformats.org/drawingml/2006/main">
            <a:off x="68580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Approach</a:t>
            </a:r>
          </a:p>
        </p:txBody>
      </p:sp>
      <p:sp>
        <p:nvSpPr>
          <p:cNvPr id="4" name="">
            <a:extLst xmlns:a="http://schemas.openxmlformats.org/drawingml/2006/main">
              <a:ext uri="{FF2B5EF4-FFF2-40B4-BE49-F238E27FC236}">
                <a16:creationId xmlns:a16="http://schemas.microsoft.com/office/drawing/2014/main" id="{7429AB23-9F46-40A6-97DC-3C55D819160B}"/>
              </a:ext>
            </a:extLst>
          </p:cNvPr>
          <p:cNvSpPr>
            <a:spLocks xmlns:a="http://schemas.openxmlformats.org/drawingml/2006/main" noGrp="1"/>
          </p:cNvSpPr>
          <p:nvPr/>
        </p:nvSpPr>
        <p:spPr>
          <a:xfrm xmlns:a="http://schemas.openxmlformats.org/drawingml/2006/main">
            <a:off x="68580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Check a configured glucose requirement</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Track gaps and review actions</a:t>
            </a:r>
          </a:p>
        </p:txBody>
      </p:sp>
      <p:sp>
        <p:nvSpPr>
          <p:cNvPr id="5" name="">
            <a:extLst xmlns:a="http://schemas.openxmlformats.org/drawingml/2006/main">
              <a:ext uri="{FF2B5EF4-FFF2-40B4-BE49-F238E27FC236}">
                <a16:creationId xmlns:a16="http://schemas.microsoft.com/office/drawing/2014/main" id="{B8786BAC-394B-4D44-AEE2-1ED713545A2A}"/>
              </a:ext>
            </a:extLst>
          </p:cNvPr>
          <p:cNvSpPr>
            <a:spLocks xmlns:a="http://schemas.openxmlformats.org/drawingml/2006/main" noGrp="1"/>
          </p:cNvSpPr>
          <p:nvPr/>
        </p:nvSpPr>
        <p:spPr>
          <a:xfrm xmlns:a="http://schemas.openxmlformats.org/drawingml/2006/main">
            <a:off x="4524375"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Result</a:t>
            </a:r>
          </a:p>
        </p:txBody>
      </p:sp>
      <p:sp>
        <p:nvSpPr>
          <p:cNvPr id="6" name="">
            <a:extLst xmlns:a="http://schemas.openxmlformats.org/drawingml/2006/main">
              <a:ext uri="{FF2B5EF4-FFF2-40B4-BE49-F238E27FC236}">
                <a16:creationId xmlns:a16="http://schemas.microsoft.com/office/drawing/2014/main" id="{7C3D6B63-E40B-48CF-A8C2-7973C21EE73B}"/>
              </a:ext>
            </a:extLst>
          </p:cNvPr>
          <p:cNvSpPr>
            <a:spLocks xmlns:a="http://schemas.openxmlformats.org/drawingml/2006/main" noGrp="1"/>
          </p:cNvSpPr>
          <p:nvPr/>
        </p:nvSpPr>
        <p:spPr>
          <a:xfrm xmlns:a="http://schemas.openxmlformats.org/drawingml/2006/main">
            <a:off x="4524375"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Readiness outcomes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Resolved work item with history</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13 offline assessment cases passed</a:t>
            </a:r>
          </a:p>
        </p:txBody>
      </p:sp>
      <p:sp>
        <p:nvSpPr>
          <p:cNvPr id="7" name="">
            <a:extLst xmlns:a="http://schemas.openxmlformats.org/drawingml/2006/main">
              <a:ext uri="{FF2B5EF4-FFF2-40B4-BE49-F238E27FC236}">
                <a16:creationId xmlns:a16="http://schemas.microsoft.com/office/drawing/2014/main" id="{85A67D86-8195-42D8-9442-BCAED53D773B}"/>
              </a:ext>
            </a:extLst>
          </p:cNvPr>
          <p:cNvSpPr>
            <a:spLocks xmlns:a="http://schemas.openxmlformats.org/drawingml/2006/main" noGrp="1"/>
          </p:cNvSpPr>
          <p:nvPr/>
        </p:nvSpPr>
        <p:spPr>
          <a:xfrm xmlns:a="http://schemas.openxmlformats.org/drawingml/2006/main">
            <a:off x="836295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Challenge</a:t>
            </a:r>
          </a:p>
        </p:txBody>
      </p:sp>
      <p:sp>
        <p:nvSpPr>
          <p:cNvPr id="8" name="">
            <a:extLst xmlns:a="http://schemas.openxmlformats.org/drawingml/2006/main">
              <a:ext uri="{FF2B5EF4-FFF2-40B4-BE49-F238E27FC236}">
                <a16:creationId xmlns:a16="http://schemas.microsoft.com/office/drawing/2014/main" id="{D41D167E-E654-4FE3-A810-952E84A693DA}"/>
              </a:ext>
            </a:extLst>
          </p:cNvPr>
          <p:cNvSpPr>
            <a:spLocks xmlns:a="http://schemas.openxmlformats.org/drawingml/2006/main" noGrp="1"/>
          </p:cNvSpPr>
          <p:nvPr/>
        </p:nvSpPr>
        <p:spPr>
          <a:xfrm xmlns:a="http://schemas.openxmlformats.org/drawingml/2006/main">
            <a:off x="836295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Missing record versus failed retrieval</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Fresh assessment before resolution</a:t>
            </a:r>
          </a:p>
        </p:txBody>
      </p:sp>
    </p:spTree>
    <p:extLst>
      <p:ext uri="{BB962C8B-B14F-4D97-AF65-F5344CB8AC3E}">
        <p14:creationId xmlns:p14="http://schemas.microsoft.com/office/powerpoint/2010/main" val="1098856919"/>
      </p:ext>
    </p:extLst>
  </p:cSld>
</p:sld>
</file>

<file path=ppt/slides/slide2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25EC22-E72D-435F-9C2F-B2633026C01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Phase 3: authenticated reviewer demo</a:t>
            </a:r>
          </a:p>
        </p:txBody>
      </p:sp>
      <p:sp>
        <p:nvSpPr>
          <p:cNvPr id="2" name="">
            <a:extLst xmlns:a="http://schemas.openxmlformats.org/drawingml/2006/main">
              <a:ext uri="{FF2B5EF4-FFF2-40B4-BE49-F238E27FC236}">
                <a16:creationId xmlns:a16="http://schemas.microsoft.com/office/drawing/2014/main" id="{74D9B06F-4024-487D-9655-E6C6C9B39B33}"/>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56E9C69E-26A6-4F65-8686-D83F76868DB1}"/>
              </a:ext>
            </a:extLst>
          </p:cNvPr>
          <p:cNvSpPr>
            <a:spLocks xmlns:a="http://schemas.openxmlformats.org/drawingml/2006/main" noGrp="1"/>
          </p:cNvSpPr>
          <p:nvPr/>
        </p:nvSpPr>
        <p:spPr>
          <a:xfrm xmlns:a="http://schemas.openxmlformats.org/drawingml/2006/main">
            <a:off x="68580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Approach</a:t>
            </a:r>
          </a:p>
        </p:txBody>
      </p:sp>
      <p:sp>
        <p:nvSpPr>
          <p:cNvPr id="4" name="">
            <a:extLst xmlns:a="http://schemas.openxmlformats.org/drawingml/2006/main">
              <a:ext uri="{FF2B5EF4-FFF2-40B4-BE49-F238E27FC236}">
                <a16:creationId xmlns:a16="http://schemas.microsoft.com/office/drawing/2014/main" id="{73A9518C-1A22-4BF1-86B7-9228EFA58190}"/>
              </a:ext>
            </a:extLst>
          </p:cNvPr>
          <p:cNvSpPr>
            <a:spLocks xmlns:a="http://schemas.openxmlformats.org/drawingml/2006/main" noGrp="1"/>
          </p:cNvSpPr>
          <p:nvPr/>
        </p:nvSpPr>
        <p:spPr>
          <a:xfrm xmlns:a="http://schemas.openxmlformats.org/drawingml/2006/main">
            <a:off x="68580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Restore database access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Validate login and document permissions</a:t>
            </a:r>
          </a:p>
        </p:txBody>
      </p:sp>
      <p:sp>
        <p:nvSpPr>
          <p:cNvPr id="5" name="">
            <a:extLst xmlns:a="http://schemas.openxmlformats.org/drawingml/2006/main">
              <a:ext uri="{FF2B5EF4-FFF2-40B4-BE49-F238E27FC236}">
                <a16:creationId xmlns:a16="http://schemas.microsoft.com/office/drawing/2014/main" id="{E81AAD97-6265-4201-8B1E-64E49673EC5F}"/>
              </a:ext>
            </a:extLst>
          </p:cNvPr>
          <p:cNvSpPr>
            <a:spLocks xmlns:a="http://schemas.openxmlformats.org/drawingml/2006/main" noGrp="1"/>
          </p:cNvSpPr>
          <p:nvPr/>
        </p:nvSpPr>
        <p:spPr>
          <a:xfrm xmlns:a="http://schemas.openxmlformats.org/drawingml/2006/main">
            <a:off x="4524375"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Result</a:t>
            </a:r>
          </a:p>
        </p:txBody>
      </p:sp>
      <p:sp>
        <p:nvSpPr>
          <p:cNvPr id="6" name="">
            <a:extLst xmlns:a="http://schemas.openxmlformats.org/drawingml/2006/main">
              <a:ext uri="{FF2B5EF4-FFF2-40B4-BE49-F238E27FC236}">
                <a16:creationId xmlns:a16="http://schemas.microsoft.com/office/drawing/2014/main" id="{FDC6A197-3229-417A-BE2D-105745E441E0}"/>
              </a:ext>
            </a:extLst>
          </p:cNvPr>
          <p:cNvSpPr>
            <a:spLocks xmlns:a="http://schemas.openxmlformats.org/drawingml/2006/main" noGrp="1"/>
          </p:cNvSpPr>
          <p:nvPr/>
        </p:nvSpPr>
        <p:spPr>
          <a:xfrm xmlns:a="http://schemas.openxmlformats.org/drawingml/2006/main">
            <a:off x="4524375"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15 live reviewer checks passed</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PDF/image and logout verified</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34 offline checks passed</a:t>
            </a:r>
          </a:p>
        </p:txBody>
      </p:sp>
      <p:sp>
        <p:nvSpPr>
          <p:cNvPr id="7" name="">
            <a:extLst xmlns:a="http://schemas.openxmlformats.org/drawingml/2006/main">
              <a:ext uri="{FF2B5EF4-FFF2-40B4-BE49-F238E27FC236}">
                <a16:creationId xmlns:a16="http://schemas.microsoft.com/office/drawing/2014/main" id="{916F959E-EF25-4A98-B92D-A035B2C66B67}"/>
              </a:ext>
            </a:extLst>
          </p:cNvPr>
          <p:cNvSpPr>
            <a:spLocks xmlns:a="http://schemas.openxmlformats.org/drawingml/2006/main" noGrp="1"/>
          </p:cNvSpPr>
          <p:nvPr/>
        </p:nvSpPr>
        <p:spPr>
          <a:xfrm xmlns:a="http://schemas.openxmlformats.org/drawingml/2006/main">
            <a:off x="836295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Challenge</a:t>
            </a:r>
          </a:p>
        </p:txBody>
      </p:sp>
      <p:sp>
        <p:nvSpPr>
          <p:cNvPr id="8" name="">
            <a:extLst xmlns:a="http://schemas.openxmlformats.org/drawingml/2006/main">
              <a:ext uri="{FF2B5EF4-FFF2-40B4-BE49-F238E27FC236}">
                <a16:creationId xmlns:a16="http://schemas.microsoft.com/office/drawing/2014/main" id="{FFC97E1D-2FE1-4814-B9D2-6A99EEA149B9}"/>
              </a:ext>
            </a:extLst>
          </p:cNvPr>
          <p:cNvSpPr>
            <a:spLocks xmlns:a="http://schemas.openxmlformats.org/drawingml/2006/main" noGrp="1"/>
          </p:cNvSpPr>
          <p:nvPr/>
        </p:nvSpPr>
        <p:spPr>
          <a:xfrm xmlns:a="http://schemas.openxmlformats.org/drawingml/2006/main">
            <a:off x="836295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Provider error and UI redirect</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Changing client IP</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Expired sessions</a:t>
            </a:r>
          </a:p>
        </p:txBody>
      </p:sp>
    </p:spTree>
    <p:extLst>
      <p:ext uri="{BB962C8B-B14F-4D97-AF65-F5344CB8AC3E}">
        <p14:creationId xmlns:p14="http://schemas.microsoft.com/office/powerpoint/2010/main" val="2092834111"/>
      </p:ext>
    </p:extLst>
  </p:cSld>
</p:sld>
</file>

<file path=ppt/slides/slide2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8186CF-CDC5-41EA-ACF4-685A0F132A5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Phase 4: verified Snowflake RAW copy</a:t>
            </a:r>
          </a:p>
        </p:txBody>
      </p:sp>
      <p:sp>
        <p:nvSpPr>
          <p:cNvPr id="2" name="">
            <a:extLst xmlns:a="http://schemas.openxmlformats.org/drawingml/2006/main">
              <a:ext uri="{FF2B5EF4-FFF2-40B4-BE49-F238E27FC236}">
                <a16:creationId xmlns:a16="http://schemas.microsoft.com/office/drawing/2014/main" id="{E00ADD97-1ABE-40A7-AF3D-E747349D0C1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8F8892C7-AC9B-4A86-A06A-91F09DC80D96}"/>
              </a:ext>
            </a:extLst>
          </p:cNvPr>
          <p:cNvSpPr>
            <a:spLocks xmlns:a="http://schemas.openxmlformats.org/drawingml/2006/main" noGrp="1"/>
          </p:cNvSpPr>
          <p:nvPr/>
        </p:nvSpPr>
        <p:spPr>
          <a:xfrm xmlns:a="http://schemas.openxmlformats.org/drawingml/2006/main">
            <a:off x="68580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Approach</a:t>
            </a:r>
          </a:p>
        </p:txBody>
      </p:sp>
      <p:sp>
        <p:nvSpPr>
          <p:cNvPr id="4" name="">
            <a:extLst xmlns:a="http://schemas.openxmlformats.org/drawingml/2006/main">
              <a:ext uri="{FF2B5EF4-FFF2-40B4-BE49-F238E27FC236}">
                <a16:creationId xmlns:a16="http://schemas.microsoft.com/office/drawing/2014/main" id="{488FE5DD-CBA7-4FBA-9A70-7EB853F7DFAC}"/>
              </a:ext>
            </a:extLst>
          </p:cNvPr>
          <p:cNvSpPr>
            <a:spLocks xmlns:a="http://schemas.openxmlformats.org/drawingml/2006/main" noGrp="1"/>
          </p:cNvSpPr>
          <p:nvPr/>
        </p:nvSpPr>
        <p:spPr>
          <a:xfrm xmlns:a="http://schemas.openxmlformats.org/drawingml/2006/main">
            <a:off x="68580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Export two synthetic patients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Upload the saved files to an internal stage</a:t>
            </a:r>
          </a:p>
        </p:txBody>
      </p:sp>
      <p:sp>
        <p:nvSpPr>
          <p:cNvPr id="5" name="">
            <a:extLst xmlns:a="http://schemas.openxmlformats.org/drawingml/2006/main">
              <a:ext uri="{FF2B5EF4-FFF2-40B4-BE49-F238E27FC236}">
                <a16:creationId xmlns:a16="http://schemas.microsoft.com/office/drawing/2014/main" id="{10E6C470-2391-4DAD-99F8-0BA4A7094A3A}"/>
              </a:ext>
            </a:extLst>
          </p:cNvPr>
          <p:cNvSpPr>
            <a:spLocks xmlns:a="http://schemas.openxmlformats.org/drawingml/2006/main" noGrp="1"/>
          </p:cNvSpPr>
          <p:nvPr/>
        </p:nvSpPr>
        <p:spPr>
          <a:xfrm xmlns:a="http://schemas.openxmlformats.org/drawingml/2006/main">
            <a:off x="4524375"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Result</a:t>
            </a:r>
          </a:p>
        </p:txBody>
      </p:sp>
      <p:sp>
        <p:nvSpPr>
          <p:cNvPr id="6" name="">
            <a:extLst xmlns:a="http://schemas.openxmlformats.org/drawingml/2006/main">
              <a:ext uri="{FF2B5EF4-FFF2-40B4-BE49-F238E27FC236}">
                <a16:creationId xmlns:a16="http://schemas.microsoft.com/office/drawing/2014/main" id="{96B47AA8-143B-4D4F-A859-FF14C98C8042}"/>
              </a:ext>
            </a:extLst>
          </p:cNvPr>
          <p:cNvSpPr>
            <a:spLocks xmlns:a="http://schemas.openxmlformats.org/drawingml/2006/main" noGrp="1"/>
          </p:cNvSpPr>
          <p:nvPr/>
        </p:nvSpPr>
        <p:spPr>
          <a:xfrm xmlns:a="http://schemas.openxmlformats.org/drawingml/2006/main">
            <a:off x="4524375"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7 records fully reconciled</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Repeat load added zero rows</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Warehouse suspended</a:t>
            </a:r>
          </a:p>
        </p:txBody>
      </p:sp>
      <p:sp>
        <p:nvSpPr>
          <p:cNvPr id="7" name="">
            <a:extLst xmlns:a="http://schemas.openxmlformats.org/drawingml/2006/main">
              <a:ext uri="{FF2B5EF4-FFF2-40B4-BE49-F238E27FC236}">
                <a16:creationId xmlns:a16="http://schemas.microsoft.com/office/drawing/2014/main" id="{5AB22089-B8CD-4E56-96E9-C692C2ACAB92}"/>
              </a:ext>
            </a:extLst>
          </p:cNvPr>
          <p:cNvSpPr>
            <a:spLocks xmlns:a="http://schemas.openxmlformats.org/drawingml/2006/main" noGrp="1"/>
          </p:cNvSpPr>
          <p:nvPr/>
        </p:nvSpPr>
        <p:spPr>
          <a:xfrm xmlns:a="http://schemas.openxmlformats.org/drawingml/2006/main">
            <a:off x="8362950" y="2095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7C86"/>
                </a:solidFill>
                <a:latin typeface="Helvetica Neue"/>
                <a:ea typeface="Helvetica Neue"/>
                <a:cs typeface="Helvetica Neue"/>
              </a:defRPr>
            </a:defPPr>
          </a:lstStyle>
          <a:p xmlns:a="http://schemas.openxmlformats.org/drawingml/2006/main">
            <a:pPr>
              <a:defRPr sz="2025" b="1">
                <a:solidFill>
                  <a:srgbClr val="167C86"/>
                </a:solidFill>
                <a:latin typeface="Helvetica Neue"/>
                <a:ea typeface="Helvetica Neue"/>
                <a:cs typeface="Helvetica Neue"/>
              </a:defRPr>
            </a:pPr>
            <a:r>
              <a:rPr sz="2025" b="1">
                <a:solidFill>
                  <a:srgbClr val="167C86"/>
                </a:solidFill>
                <a:latin typeface="Helvetica Neue"/>
                <a:ea typeface="Helvetica Neue"/>
                <a:cs typeface="Helvetica Neue"/>
              </a:rPr>
              <a:t>Challenge</a:t>
            </a:r>
          </a:p>
        </p:txBody>
      </p:sp>
      <p:sp>
        <p:nvSpPr>
          <p:cNvPr id="8" name="">
            <a:extLst xmlns:a="http://schemas.openxmlformats.org/drawingml/2006/main">
              <a:ext uri="{FF2B5EF4-FFF2-40B4-BE49-F238E27FC236}">
                <a16:creationId xmlns:a16="http://schemas.microsoft.com/office/drawing/2014/main" id="{BC4B8D92-F2EF-4023-8648-FA11D1A44849}"/>
              </a:ext>
            </a:extLst>
          </p:cNvPr>
          <p:cNvSpPr>
            <a:spLocks xmlns:a="http://schemas.openxmlformats.org/drawingml/2006/main" noGrp="1"/>
          </p:cNvSpPr>
          <p:nvPr/>
        </p:nvSpPr>
        <p:spPr>
          <a:xfrm xmlns:a="http://schemas.openxmlformats.org/drawingml/2006/main">
            <a:off x="8362950" y="2686050"/>
            <a:ext cx="333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93548"/>
                </a:solidFill>
                <a:latin typeface="Helvetica Neue"/>
                <a:ea typeface="Helvetica Neue"/>
                <a:cs typeface="Helvetica Neue"/>
              </a:defRPr>
            </a:defPPr>
          </a:lstStyle>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Direct S3 role assumption denied</a:t>
            </a:r>
          </a:p>
          <a:p xmlns:a="http://schemas.openxmlformats.org/drawingml/2006/main">
            <a:r>
              <a:t/>
            </a:r>
          </a:p>
          <a:p xmlns:a="http://schemas.openxmlformats.org/drawingml/2006/main">
            <a:pPr>
              <a:defRPr sz="2100" b="0">
                <a:solidFill>
                  <a:srgbClr val="193548"/>
                </a:solidFill>
                <a:latin typeface="Helvetica Neue"/>
                <a:ea typeface="Helvetica Neue"/>
                <a:cs typeface="Helvetica Neue"/>
              </a:defRPr>
            </a:pPr>
            <a:r>
              <a:rPr sz="2100" b="0">
                <a:solidFill>
                  <a:srgbClr val="193548"/>
                </a:solidFill>
                <a:latin typeface="Helvetica Neue"/>
                <a:ea typeface="Helvetica Neue"/>
                <a:cs typeface="Helvetica Neue"/>
              </a:rPr>
              <a:t>Internal-stage alternative completed</a:t>
            </a:r>
          </a:p>
        </p:txBody>
      </p:sp>
    </p:spTree>
    <p:extLst>
      <p:ext uri="{BB962C8B-B14F-4D97-AF65-F5344CB8AC3E}">
        <p14:creationId xmlns:p14="http://schemas.microsoft.com/office/powerpoint/2010/main" val="2011162515"/>
      </p:ext>
    </p:extLst>
  </p:cSld>
</p:sld>
</file>

<file path=ppt/slides/slide2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DF3DD3-3D0D-495E-8602-82A31A8C6E8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6384B"/>
                </a:solidFill>
                <a:latin typeface="Helvetica Neue"/>
                <a:ea typeface="Helvetica Neue"/>
                <a:cs typeface="Helvetica Neue"/>
              </a:defRPr>
            </a:defPPr>
          </a:lstStyle>
          <a:p xmlns:a="http://schemas.openxmlformats.org/drawingml/2006/main">
            <a:pPr>
              <a:defRPr sz="3375" b="1">
                <a:solidFill>
                  <a:srgbClr val="16384B"/>
                </a:solidFill>
                <a:latin typeface="Helvetica Neue"/>
                <a:ea typeface="Helvetica Neue"/>
                <a:cs typeface="Helvetica Neue"/>
              </a:defRPr>
            </a:pPr>
            <a:r>
              <a:rPr sz="3375" b="1">
                <a:solidFill>
                  <a:srgbClr val="16384B"/>
                </a:solidFill>
                <a:latin typeface="Helvetica Neue"/>
                <a:ea typeface="Helvetica Neue"/>
                <a:cs typeface="Helvetica Neue"/>
              </a:rPr>
              <a:t>Next learning and project milestone</a:t>
            </a:r>
          </a:p>
        </p:txBody>
      </p:sp>
      <p:sp>
        <p:nvSpPr>
          <p:cNvPr id="2" name="">
            <a:extLst xmlns:a="http://schemas.openxmlformats.org/drawingml/2006/main">
              <a:ext uri="{FF2B5EF4-FFF2-40B4-BE49-F238E27FC236}">
                <a16:creationId xmlns:a16="http://schemas.microsoft.com/office/drawing/2014/main" id="{3E501EF2-2C88-4B18-8611-35908FA90950}"/>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1818A"/>
                </a:solidFill>
                <a:latin typeface="Helvetica Neue"/>
                <a:ea typeface="Helvetica Neue"/>
                <a:cs typeface="Helvetica Neue"/>
              </a:defRPr>
            </a:defPPr>
          </a:lstStyle>
          <a:p xmlns:a="http://schemas.openxmlformats.org/drawingml/2006/main">
            <a:pPr>
              <a:defRPr sz="1200" b="0">
                <a:solidFill>
                  <a:srgbClr val="71818A"/>
                </a:solidFill>
                <a:latin typeface="Helvetica Neue"/>
                <a:ea typeface="Helvetica Neue"/>
                <a:cs typeface="Helvetica Neue"/>
              </a:defRPr>
            </a:pPr>
            <a:r>
              <a:rPr sz="1200" b="0">
                <a:solidFill>
                  <a:srgbClr val="71818A"/>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15913088-6C1D-4C13-BC51-E498CE2DFADC}"/>
              </a:ext>
            </a:extLst>
          </p:cNvPr>
          <p:cNvSpPr>
            <a:spLocks xmlns:a="http://schemas.openxmlformats.org/drawingml/2006/main" noGrp="1"/>
          </p:cNvSpPr>
          <p:nvPr/>
        </p:nvSpPr>
        <p:spPr>
          <a:xfrm xmlns:a="http://schemas.openxmlformats.org/drawingml/2006/main">
            <a:off x="762000" y="1952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Typed Patient, Observation and Appointment tables</a:t>
            </a:r>
          </a:p>
        </p:txBody>
      </p:sp>
      <p:sp>
        <p:nvSpPr>
          <p:cNvPr id="4" name="">
            <a:extLst xmlns:a="http://schemas.openxmlformats.org/drawingml/2006/main">
              <a:ext uri="{FF2B5EF4-FFF2-40B4-BE49-F238E27FC236}">
                <a16:creationId xmlns:a16="http://schemas.microsoft.com/office/drawing/2014/main" id="{1AD3D723-EC84-452A-9786-D82A95462BBB}"/>
              </a:ext>
            </a:extLst>
          </p:cNvPr>
          <p:cNvSpPr>
            <a:spLocks xmlns:a="http://schemas.openxmlformats.org/drawingml/2006/main" noGrp="1"/>
          </p:cNvSpPr>
          <p:nvPr/>
        </p:nvSpPr>
        <p:spPr>
          <a:xfrm xmlns:a="http://schemas.openxmlformats.org/drawingml/2006/main">
            <a:off x="762000" y="2581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SQL joins and reference validation</a:t>
            </a:r>
          </a:p>
        </p:txBody>
      </p:sp>
      <p:sp>
        <p:nvSpPr>
          <p:cNvPr id="5" name="">
            <a:extLst xmlns:a="http://schemas.openxmlformats.org/drawingml/2006/main">
              <a:ext uri="{FF2B5EF4-FFF2-40B4-BE49-F238E27FC236}">
                <a16:creationId xmlns:a16="http://schemas.microsoft.com/office/drawing/2014/main" id="{C731FE22-AE67-4640-94CA-C690E8F7168A}"/>
              </a:ext>
            </a:extLst>
          </p:cNvPr>
          <p:cNvSpPr>
            <a:spLocks xmlns:a="http://schemas.openxmlformats.org/drawingml/2006/main" noGrp="1"/>
          </p:cNvSpPr>
          <p:nvPr/>
        </p:nvSpPr>
        <p:spPr>
          <a:xfrm xmlns:a="http://schemas.openxmlformats.org/drawingml/2006/main">
            <a:off x="762000" y="32099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Cohort completeness report</a:t>
            </a:r>
          </a:p>
        </p:txBody>
      </p:sp>
      <p:sp>
        <p:nvSpPr>
          <p:cNvPr id="6" name="">
            <a:extLst xmlns:a="http://schemas.openxmlformats.org/drawingml/2006/main">
              <a:ext uri="{FF2B5EF4-FFF2-40B4-BE49-F238E27FC236}">
                <a16:creationId xmlns:a16="http://schemas.microsoft.com/office/drawing/2014/main" id="{FC59ACE3-3EA0-4758-97CD-F03B2EE7D46B}"/>
              </a:ext>
            </a:extLst>
          </p:cNvPr>
          <p:cNvSpPr>
            <a:spLocks xmlns:a="http://schemas.openxmlformats.org/drawingml/2006/main" noGrp="1"/>
          </p:cNvSpPr>
          <p:nvPr/>
        </p:nvSpPr>
        <p:spPr>
          <a:xfrm xmlns:a="http://schemas.openxmlformats.org/drawingml/2006/main">
            <a:off x="762000" y="3838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Glucose timeline</a:t>
            </a:r>
          </a:p>
        </p:txBody>
      </p:sp>
      <p:sp>
        <p:nvSpPr>
          <p:cNvPr id="7" name="">
            <a:extLst xmlns:a="http://schemas.openxmlformats.org/drawingml/2006/main">
              <a:ext uri="{FF2B5EF4-FFF2-40B4-BE49-F238E27FC236}">
                <a16:creationId xmlns:a16="http://schemas.microsoft.com/office/drawing/2014/main" id="{A5483F5C-4D9C-4E30-B5F3-4BCBEF9A9A8B}"/>
              </a:ext>
            </a:extLst>
          </p:cNvPr>
          <p:cNvSpPr>
            <a:spLocks xmlns:a="http://schemas.openxmlformats.org/drawingml/2006/main" noGrp="1"/>
          </p:cNvSpPr>
          <p:nvPr/>
        </p:nvSpPr>
        <p:spPr>
          <a:xfrm xmlns:a="http://schemas.openxmlformats.org/drawingml/2006/main">
            <a:off x="762000" y="44672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Appointment-linked information availability</a:t>
            </a:r>
          </a:p>
        </p:txBody>
      </p:sp>
      <p:sp>
        <p:nvSpPr>
          <p:cNvPr id="8" name="">
            <a:extLst xmlns:a="http://schemas.openxmlformats.org/drawingml/2006/main">
              <a:ext uri="{FF2B5EF4-FFF2-40B4-BE49-F238E27FC236}">
                <a16:creationId xmlns:a16="http://schemas.microsoft.com/office/drawing/2014/main" id="{0777BB64-D0B1-428C-8362-695D52D706D5}"/>
              </a:ext>
            </a:extLst>
          </p:cNvPr>
          <p:cNvSpPr>
            <a:spLocks xmlns:a="http://schemas.openxmlformats.org/drawingml/2006/main" noGrp="1"/>
          </p:cNvSpPr>
          <p:nvPr/>
        </p:nvSpPr>
        <p:spPr>
          <a:xfrm xmlns:a="http://schemas.openxmlformats.org/drawingml/2006/main">
            <a:off x="762000" y="5095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93548"/>
                </a:solidFill>
                <a:latin typeface="Helvetica Neue"/>
                <a:ea typeface="Helvetica Neue"/>
                <a:cs typeface="Helvetica Neue"/>
              </a:defRPr>
            </a:defPPr>
          </a:lstStyle>
          <a:p xmlns:a="http://schemas.openxmlformats.org/drawingml/2006/main">
            <a:pPr>
              <a:defRPr sz="2250" b="0">
                <a:solidFill>
                  <a:srgbClr val="193548"/>
                </a:solidFill>
                <a:latin typeface="Helvetica Neue"/>
                <a:ea typeface="Helvetica Neue"/>
                <a:cs typeface="Helvetica Neue"/>
              </a:defRPr>
            </a:pPr>
            <a:r>
              <a:rPr sz="2250" b="0">
                <a:solidFill>
                  <a:srgbClr val="193548"/>
                </a:solidFill>
                <a:latin typeface="Helvetica Neue"/>
                <a:ea typeface="Helvetica Neue"/>
                <a:cs typeface="Helvetica Neue"/>
              </a:rPr>
              <a:t>Idempotent reruns and live evidence</a:t>
            </a:r>
          </a:p>
        </p:txBody>
      </p:sp>
    </p:spTree>
    <p:extLst>
      <p:ext uri="{BB962C8B-B14F-4D97-AF65-F5344CB8AC3E}">
        <p14:creationId xmlns:p14="http://schemas.microsoft.com/office/powerpoint/2010/main" val="1180045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2026-10-06T15:57:27.3590000Z</dcterms:created>
  <dcterms:modified xsi:type="dcterms:W3CDTF">2026-10-06T15:57:27.3590000Z</dcterms:modified>
</coreProperties>
</file>