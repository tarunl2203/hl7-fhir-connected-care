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39990b4b8e4c35" /><Relationship Type="http://schemas.openxmlformats.org/officeDocument/2006/relationships/extended-properties" Target="/docProps/app.xml" Id="Rf33ddafa1e384535" /><Relationship Type="http://schemas.openxmlformats.org/officeDocument/2006/relationships/officeDocument" Target="/ppt/presentation.xml" Id="Rba1de748ecac47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3820e051f7406a"/>
  </p:sldMasterIdLst>
  <p:notesMasterIdLst>
    <p:notesMasterId xmlns:r="http://schemas.openxmlformats.org/officeDocument/2006/relationships" r:id="R64dcfa13665c40db"/>
  </p:notesMasterIdLst>
  <p:sldIdLst>
    <p:sldId xmlns:r="http://schemas.openxmlformats.org/officeDocument/2006/relationships" id="256" r:id="R07d74d0e2e5e4e80"/>
    <p:sldId xmlns:r="http://schemas.openxmlformats.org/officeDocument/2006/relationships" id="257" r:id="R9ec26137363c4a2b"/>
    <p:sldId xmlns:r="http://schemas.openxmlformats.org/officeDocument/2006/relationships" id="258" r:id="R79d73960e9b1494e"/>
    <p:sldId xmlns:r="http://schemas.openxmlformats.org/officeDocument/2006/relationships" id="259" r:id="R5faf74f3097744ce"/>
    <p:sldId xmlns:r="http://schemas.openxmlformats.org/officeDocument/2006/relationships" id="260" r:id="R956170914f394609"/>
    <p:sldId xmlns:r="http://schemas.openxmlformats.org/officeDocument/2006/relationships" id="261" r:id="R3c6c3dce06e04493"/>
    <p:sldId xmlns:r="http://schemas.openxmlformats.org/officeDocument/2006/relationships" id="262" r:id="Rb2c68047d65e48cc"/>
    <p:sldId xmlns:r="http://schemas.openxmlformats.org/officeDocument/2006/relationships" id="263" r:id="R12d5d4301c9d4243"/>
    <p:sldId xmlns:r="http://schemas.openxmlformats.org/officeDocument/2006/relationships" id="264" r:id="R76fb423fbc014f6e"/>
    <p:sldId xmlns:r="http://schemas.openxmlformats.org/officeDocument/2006/relationships" id="265" r:id="Rd9d037e56b954f13"/>
    <p:sldId xmlns:r="http://schemas.openxmlformats.org/officeDocument/2006/relationships" id="266" r:id="Re28bfee97e51453c"/>
    <p:sldId xmlns:r="http://schemas.openxmlformats.org/officeDocument/2006/relationships" id="267" r:id="R51f7aae017ab4e52"/>
    <p:sldId xmlns:r="http://schemas.openxmlformats.org/officeDocument/2006/relationships" id="268" r:id="Rf4a8b574c8174316"/>
    <p:sldId xmlns:r="http://schemas.openxmlformats.org/officeDocument/2006/relationships" id="269" r:id="R7f2cf5f77fe5442d"/>
    <p:sldId xmlns:r="http://schemas.openxmlformats.org/officeDocument/2006/relationships" id="270" r:id="R08bf2fbf3d914a8c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728f4797874843" /><Relationship Type="http://schemas.openxmlformats.org/officeDocument/2006/relationships/slideMaster" Target="/ppt/slideMasters/slideMaster1.xml" Id="R273820e051f7406a" /><Relationship Type="http://schemas.openxmlformats.org/officeDocument/2006/relationships/notesMaster" Target="/ppt/notesMasters/notesMaster1.xml" Id="R64dcfa13665c40db" /><Relationship Type="http://schemas.openxmlformats.org/officeDocument/2006/relationships/presProps" Target="/ppt/presProps.xml" Id="R865a67645ca846bf" /><Relationship Type="http://schemas.openxmlformats.org/officeDocument/2006/relationships/tableStyles" Target="/ppt/tableStyles.xml" Id="Rcb9afde0650742a1" /><Relationship Type="http://schemas.openxmlformats.org/officeDocument/2006/relationships/slide" Target="/ppt/slides/slide1.xml" Id="R07d74d0e2e5e4e80" /><Relationship Type="http://schemas.openxmlformats.org/officeDocument/2006/relationships/slide" Target="/ppt/slides/slide2.xml" Id="R9ec26137363c4a2b" /><Relationship Type="http://schemas.openxmlformats.org/officeDocument/2006/relationships/slide" Target="/ppt/slides/slide3.xml" Id="R79d73960e9b1494e" /><Relationship Type="http://schemas.openxmlformats.org/officeDocument/2006/relationships/slide" Target="/ppt/slides/slide4.xml" Id="R5faf74f3097744ce" /><Relationship Type="http://schemas.openxmlformats.org/officeDocument/2006/relationships/slide" Target="/ppt/slides/slide5.xml" Id="R956170914f394609" /><Relationship Type="http://schemas.openxmlformats.org/officeDocument/2006/relationships/slide" Target="/ppt/slides/slide6.xml" Id="R3c6c3dce06e04493" /><Relationship Type="http://schemas.openxmlformats.org/officeDocument/2006/relationships/slide" Target="/ppt/slides/slide7.xml" Id="Rb2c68047d65e48cc" /><Relationship Type="http://schemas.openxmlformats.org/officeDocument/2006/relationships/slide" Target="/ppt/slides/slide8.xml" Id="R12d5d4301c9d4243" /><Relationship Type="http://schemas.openxmlformats.org/officeDocument/2006/relationships/slide" Target="/ppt/slides/slide9.xml" Id="R76fb423fbc014f6e" /><Relationship Type="http://schemas.openxmlformats.org/officeDocument/2006/relationships/slide" Target="/ppt/slides/slide10.xml" Id="Rd9d037e56b954f13" /><Relationship Type="http://schemas.openxmlformats.org/officeDocument/2006/relationships/slide" Target="/ppt/slides/slide11.xml" Id="Re28bfee97e51453c" /><Relationship Type="http://schemas.openxmlformats.org/officeDocument/2006/relationships/slide" Target="/ppt/slides/slide12.xml" Id="R51f7aae017ab4e52" /><Relationship Type="http://schemas.openxmlformats.org/officeDocument/2006/relationships/slide" Target="/ppt/slides/slide13.xml" Id="Rf4a8b574c8174316" /><Relationship Type="http://schemas.openxmlformats.org/officeDocument/2006/relationships/slide" Target="/ppt/slides/slide14.xml" Id="R7f2cf5f77fe5442d" /><Relationship Type="http://schemas.openxmlformats.org/officeDocument/2006/relationships/slide" Target="/ppt/slides/slide15.xml" Id="R08bf2fbf3d914a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ff79d56dad41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60dd677b0940ea" /><Relationship Type="http://schemas.openxmlformats.org/officeDocument/2006/relationships/notesMaster" Target="/ppt/notesMasters/notesMaster1.xml" Id="Rd0dbbbc8af924c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dddede2a8c4bdb" /><Relationship Type="http://schemas.openxmlformats.org/officeDocument/2006/relationships/notesMaster" Target="/ppt/notesMasters/notesMaster1.xml" Id="R6fa47f33cde94b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f91b46add14476" /><Relationship Type="http://schemas.openxmlformats.org/officeDocument/2006/relationships/notesMaster" Target="/ppt/notesMasters/notesMaster1.xml" Id="R22ddb6b14fab44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fef31488c74e88" /><Relationship Type="http://schemas.openxmlformats.org/officeDocument/2006/relationships/notesMaster" Target="/ppt/notesMasters/notesMaster1.xml" Id="R003f317b614342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efebdd6e3a4e7f" /><Relationship Type="http://schemas.openxmlformats.org/officeDocument/2006/relationships/notesMaster" Target="/ppt/notesMasters/notesMaster1.xml" Id="R450e762f121846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36dfed5dbd4217" /><Relationship Type="http://schemas.openxmlformats.org/officeDocument/2006/relationships/notesMaster" Target="/ppt/notesMasters/notesMaster1.xml" Id="Ra4a02f1ed6c944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d759097f864791" /><Relationship Type="http://schemas.openxmlformats.org/officeDocument/2006/relationships/notesMaster" Target="/ppt/notesMasters/notesMaster1.xml" Id="R192b35fbca5040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a12c5e421741a9" /><Relationship Type="http://schemas.openxmlformats.org/officeDocument/2006/relationships/notesMaster" Target="/ppt/notesMasters/notesMaster1.xml" Id="R024100f4a94c4f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7d2f5a0a04434c" /><Relationship Type="http://schemas.openxmlformats.org/officeDocument/2006/relationships/notesMaster" Target="/ppt/notesMasters/notesMaster1.xml" Id="R5a8ea1c3f18642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54293fd49c4d87" /><Relationship Type="http://schemas.openxmlformats.org/officeDocument/2006/relationships/notesMaster" Target="/ppt/notesMasters/notesMaster1.xml" Id="R53a6a7570b9842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1ae3b21dcc4925" /><Relationship Type="http://schemas.openxmlformats.org/officeDocument/2006/relationships/notesMaster" Target="/ppt/notesMasters/notesMaster1.xml" Id="R756d104dd85a4c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374c4ca81e4c52" /><Relationship Type="http://schemas.openxmlformats.org/officeDocument/2006/relationships/notesMaster" Target="/ppt/notesMasters/notesMaster1.xml" Id="Rbfe9ab7e250c4a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4befe52dfc4b4b" /><Relationship Type="http://schemas.openxmlformats.org/officeDocument/2006/relationships/notesMaster" Target="/ppt/notesMasters/notesMaster1.xml" Id="Rfc68345d3e7345c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52f9606b6645a6" /><Relationship Type="http://schemas.openxmlformats.org/officeDocument/2006/relationships/notesMaster" Target="/ppt/notesMasters/notesMaster1.xml" Id="Rff8d200e692b41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e794def8aee4b3e" /><Relationship Type="http://schemas.openxmlformats.org/officeDocument/2006/relationships/notesMaster" Target="/ppt/notesMasters/notesMaster1.xml" Id="R09f95285bfd046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 analysis: examples-ndjson.zip, selected 11 resource files matching the October 8 load script. 933 resources, 265 Patient records. Applied the same simple Patient/id resolution and same-source/batch logic in Pasted text(1).txt. These are local benchmarks, not a live Snowflake result or proof of present S3 contents. No clinical-population inference is justified from these official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for the project: information can be structurally present yet unusable for a specific patient and visit. No industry prevalence or quantified efficiency claim is made. This slide intentionally contains only the problem and its consequences.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 analysis: examples-ndjson.zip, selected 11 resource files matching the October 8 load script. 933 resources, 265 Patient records. Applied the same simple Patient/id resolution and same-source/batch logic in Pasted text(1).txt. These are local benchmarks, not a live Snowflake result or proof of present S3 contents. No clinical-population inference is justified from these official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 analysis: examples-ndjson.zip, selected 11 resource files matching the October 8 load script. 933 resources, 265 Patient records. Applied the same simple Patient/id resolution and same-source/batch logic in Pasted text(1).txt. These are local benchmarks, not a live Snowflake result or proof of present S3 contents. No clinical-population inference is justified from these official examples. Firely is local Docker with an AWS RDS backend in the documented reviewer architecture. Native FHIR examples do not traverse HL7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 analysis: examples-ndjson.zip, selected 11 resource files matching the October 8 load script. 933 resources, 265 Patient records. Applied the same simple Patient/id resolution and same-source/batch logic in Pasted text(1).txt. These are local benchmarks, not a live Snowflake result or proof of present S3 contents. No clinical-population inference is justified from these official examples. ADT/ORU/SIU conversion was exercised on supported fixtures. The 933-resource archive is native FHIR, not 933 converted HL7 messages.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reviewed 07-HIPAA-Considerations.md; CURRENT-PROGRESS sections 3–7; October 3 reviewer milestone. This slide describes safeguards, not a HIPAA compliance determination. Earlier document tests relate to the reviewer mode; later local-copy mode deferred documents. Local FHIR uses loopback HTTP.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 analysis: examples-ndjson.zip, selected 11 resource files matching the October 8 load script. 933 resources, 265 Patient records. Applied the same simple Patient/id resolution and same-source/batch logic in Pasted text(1).txt. These are local benchmarks, not a live Snowflake result or proof of present S3 contents. No clinical-population inference is justified from these official examples. Load SQL evidence: Pasted text(1).txt. Expanded inventory is source-verified locally. No fresh Snowflake execution performed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October 8 Pasted text(1).txt, HL7_PATIENT_COVERAGE SQL. Nine metrics: observations, conditions, allergies, medication orders, medication statements, encounters, diagnostic reports, documents and appointments. Medication master records do not directly imply a patient medication history. Parent-resource and component/participant views preserve correct aggregation grain.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 analysis: examples-ndjson.zip, selected 11 resource files matching the October 8 load script. 933 resources, 265 Patient records. Applied the same simple Patient/id resolution and same-source/batch logic in Pasted text(1).txt. These are local benchmarks, not a live Snowflake result or proof of present S3 contents. No clinical-population inference is justified from these official examples. Coverage categories overlap and must not be added as distinct patient totals. Clinical-record coverage excludes appointments and medication master resources. 20 patients have at least one of the eight linked clinical resource categories; 245 have none.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 analysis: examples-ndjson.zip, selected 11 resource files matching the October 8 load script. 933 resources, 265 Patient records. Applied the same simple Patient/id resolution and same-source/batch logic in Pasted text(1).txt. These are local benchmarks, not a live Snowflake result or proof of present S3 contents. No clinical-population inference is justified from these official examples. Coverage is calculated across the expanded batch. The separate visit predicate is the glucose rule tested in the October 6 SQL export. No claim that it was executed across all 265 patients.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 analysis: examples-ndjson.zip, selected 11 resource files matching the October 8 load script. 933 resources, 265 Patient records. Applied the same simple Patient/id resolution and same-source/batch logic in Pasted text(1).txt. These are local benchmarks, not a live Snowflake result or proof of present S3 contents. No clinical-population inference is justified from these official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 analysis: examples-ndjson.zip, selected 11 resource files matching the October 8 load script. 933 resources, 265 Patient records. Applied the same simple Patient/id resolution and same-source/batch logic in Pasted text(1).txt. These are local benchmarks, not a live Snowflake result or proof of present S3 contents. No clinical-population inference is justified from these official examples. Questions and local benchmarks are prepared for execution in Cortex Code. Do not present them as live Cortex results. Use supplied Snowflake-Coverage-Demo.sql.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firely-typed-analytics-2026-10-06.sql_2026-10-06-1204.csv. Nine controlled SQL scenarios, five TRUE and four FALSE, all PASS. These test rule behavior, not patient health outcomes or all platform functions.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screenshot: image(20261007-172329).png, uploaded October 7. Historical UI capture shows two qualifying results at that point. It is separate from the expanded 265-patient source analysis. Synthetic patient fixture.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 analysis: examples-ndjson.zip, selected 11 resource files matching the October 8 load script. 933 resources, 265 Patient records. Applied the same simple Patient/id resolution and same-source/batch logic in Pasted text(1).txt. These are local benchmarks, not a live Snowflake result or proof of present S3 contents. No clinical-population inference is justified from these official examples. Security statements refer to reviewed implemented safeguards, not certification or a claim of universal production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d13296fc7349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20c1bd80e849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9b8bfd610248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96fa56e3a841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6ceea361cc47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ee83c1436a48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D0CB3B-5086-4FE6-823F-3937E7D361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2914650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B37205-37E2-4D92-B466-494DCBF0AC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57400" y="4243388"/>
            <a:ext cx="960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6749492-BC96-43DE-B5CA-8966B3A43A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3214688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ADE15A-DCAC-467D-8694-589796037F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348FF79-EDBC-43C6-8812-A9F99A22E5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121729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5671AB0-7EEC-4009-A336-69678F47AF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4EA9E5-5812-482D-AF2C-B801EF1EDF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07F4E8C-A9E5-43A6-9632-CAF232483C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866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471AFA-1088-43D9-A770-EA0C6709E7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51DAF7-8F5B-430B-BFB8-75FB0084BF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79aca77d0e48de" /><Relationship Type="http://schemas.openxmlformats.org/officeDocument/2006/relationships/slideLayout" Target="/ppt/slideLayouts/slideLayout1.xml" Id="Re9958a69c2394417" /><Relationship Type="http://schemas.openxmlformats.org/officeDocument/2006/relationships/slideLayout" Target="/ppt/slideLayouts/slideLayout2.xml" Id="R8977c7c5afba4307" /><Relationship Type="http://schemas.openxmlformats.org/officeDocument/2006/relationships/slideLayout" Target="/ppt/slideLayouts/slideLayout3.xml" Id="R1d1d972c281c44c5" /><Relationship Type="http://schemas.openxmlformats.org/officeDocument/2006/relationships/slideLayout" Target="/ppt/slideLayouts/slideLayout4.xml" Id="R6cf1f3781e914c11" /><Relationship Type="http://schemas.openxmlformats.org/officeDocument/2006/relationships/slideLayout" Target="/ppt/slideLayouts/slideLayout5.xml" Id="R617cad83bf834ddd" /><Relationship Type="http://schemas.openxmlformats.org/officeDocument/2006/relationships/slideLayout" Target="/ppt/slideLayouts/slideLayout6.xml" Id="R174f6f5a1f1a4e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958a69c2394417"/>
    <p:sldLayoutId xmlns:r="http://schemas.openxmlformats.org/officeDocument/2006/relationships" id="2147483650" r:id="R8977c7c5afba4307"/>
    <p:sldLayoutId xmlns:r="http://schemas.openxmlformats.org/officeDocument/2006/relationships" id="2147483651" r:id="R1d1d972c281c44c5"/>
    <p:sldLayoutId xmlns:r="http://schemas.openxmlformats.org/officeDocument/2006/relationships" id="2147483652" r:id="R6cf1f3781e914c11"/>
    <p:sldLayoutId xmlns:r="http://schemas.openxmlformats.org/officeDocument/2006/relationships" id="2147483653" r:id="R617cad83bf834ddd"/>
    <p:sldLayoutId xmlns:r="http://schemas.openxmlformats.org/officeDocument/2006/relationships" id="2147483654" r:id="R174f6f5a1f1a4e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cf8a69a700417a" /><Relationship Type="http://schemas.openxmlformats.org/officeDocument/2006/relationships/notesSlide" Target="/ppt/notesSlides/notesSlide1.xml" Id="R4e59fdce51b240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0d49062ac342ce" /><Relationship Type="http://schemas.openxmlformats.org/officeDocument/2006/relationships/notesSlide" Target="/ppt/notesSlides/notesSlide2.xml" Id="Ra6c0eb05590f4a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84330b1a8549be" /><Relationship Type="http://schemas.openxmlformats.org/officeDocument/2006/relationships/notesSlide" Target="/ppt/notesSlides/notesSlide3.xml" Id="R2ca25866ec5643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a53e5a2d114d43" /><Relationship Type="http://schemas.openxmlformats.org/officeDocument/2006/relationships/notesSlide" Target="/ppt/notesSlides/notesSlide4.xml" Id="Racd7de4ebdab49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1a152f2b744d7c" /><Relationship Type="http://schemas.openxmlformats.org/officeDocument/2006/relationships/notesSlide" Target="/ppt/notesSlides/notesSlide5.xml" Id="Rebaa9b41286649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13636fefa9434c" /><Relationship Type="http://schemas.openxmlformats.org/officeDocument/2006/relationships/notesSlide" Target="/ppt/notesSlides/notesSlide6.xml" Id="Raab3a456ee674f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fc94b0f1ea41e6" /><Relationship Type="http://schemas.openxmlformats.org/officeDocument/2006/relationships/notesSlide" Target="/ppt/notesSlides/notesSlide7.xml" Id="R38137941002146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dd6417013b4941" /><Relationship Type="http://schemas.openxmlformats.org/officeDocument/2006/relationships/notesSlide" Target="/ppt/notesSlides/notesSlide8.xml" Id="R708a6af2523940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9ab7da829c4aab" /><Relationship Type="http://schemas.openxmlformats.org/officeDocument/2006/relationships/chart" Target="/ppt/slides/charts/chart1.xml" Id="R5df68204c057405d" /><Relationship Type="http://schemas.openxmlformats.org/officeDocument/2006/relationships/notesSlide" Target="/ppt/notesSlides/notesSlide9.xml" Id="Ref3d36a93a0249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0d0b7ae6ab4dc3" /><Relationship Type="http://schemas.openxmlformats.org/officeDocument/2006/relationships/notesSlide" Target="/ppt/notesSlides/notesSlide10.xml" Id="R2ebc113679ce42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7dd08b9cb84507" /><Relationship Type="http://schemas.openxmlformats.org/officeDocument/2006/relationships/notesSlide" Target="/ppt/notesSlides/notesSlide11.xml" Id="Rb89eaef69f5e48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bf868fd2a54f4c" /><Relationship Type="http://schemas.openxmlformats.org/officeDocument/2006/relationships/notesSlide" Target="/ppt/notesSlides/notesSlide12.xml" Id="Rb2f3e172b08841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1c8e79fa964848" /><Relationship Type="http://schemas.openxmlformats.org/officeDocument/2006/relationships/notesSlide" Target="/ppt/notesSlides/notesSlide13.xml" Id="Raae1dbbf87df44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a575370d2e410a" /><Relationship Type="http://schemas.openxmlformats.org/officeDocument/2006/relationships/image" Target="/ppt/media/image.png" Id="Rff52eb3a84c34f47" /><Relationship Type="http://schemas.openxmlformats.org/officeDocument/2006/relationships/notesSlide" Target="/ppt/notesSlides/notesSlide14.xml" Id="R404381bec9cd4c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27a442ff5d44cf" /><Relationship Type="http://schemas.openxmlformats.org/officeDocument/2006/relationships/notesSlide" Target="/ppt/notesSlides/notesSlide15.xml" Id="Rc06a69e2a2d544e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Patients with linked records</c:v>
          </c:tx>
          <c:spPr>
            <a:solidFill xmlns:a="http://schemas.openxmlformats.org/drawingml/2006/main">
              <a:srgbClr val="1765BA"/>
            </a:solidFill>
          </c:spPr>
          <c:cat>
            <c:strRef>
              <c:f>'Chart Data'!$A$2:$A$10</c:f>
              <c:strCache>
                <c:ptCount val="9"/>
                <c:pt idx="0">
                  <c:v>Observations</c:v>
                </c:pt>
                <c:pt idx="1">
                  <c:v>Diagnostic reports</c:v>
                </c:pt>
                <c:pt idx="2">
                  <c:v>Encounters</c:v>
                </c:pt>
                <c:pt idx="3">
                  <c:v>Conditions</c:v>
                </c:pt>
                <c:pt idx="4">
                  <c:v>Allergy records</c:v>
                </c:pt>
                <c:pt idx="5">
                  <c:v>Medication orders</c:v>
                </c:pt>
                <c:pt idx="6">
                  <c:v>Medication statements</c:v>
                </c:pt>
                <c:pt idx="7">
                  <c:v>Documents</c:v>
                </c:pt>
                <c:pt idx="8">
                  <c:v>Appointments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15</c:v>
                </c:pt>
                <c:pt idx="1">
                  <c:v>15</c:v>
                </c:pt>
                <c:pt idx="2">
                  <c:v>5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12375F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E1F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4E1F0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5F8FD"/>
        </a:solidFill>
      </c:spPr>
    </c:plotArea>
    <c:plotVisOnly val="1"/>
  </c:chart>
  <c:spPr>
    <a:solidFill xmlns:a="http://schemas.openxmlformats.org/drawingml/2006/main">
      <a:srgbClr val="F5F8FD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61B21B-B10D-43D0-B83C-9587119E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249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Connected Care Data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C2705-7F97-40E6-91B3-6EDB7EA7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238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Clinical interoperability, cloud ingestion and patient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9DC0E-D080-476E-993C-6EB4540F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249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62FF5-1778-4618-AD42-3BC43CFB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580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Connected Care Data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C16FD-18DC-4058-AFAE-159D1381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229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866A0-1F88-43B7-AA9A-31CAA04E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HL7 v2 to FHIR R4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F1FFC-6250-4AE6-909C-8B6649F6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790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A traceable information flow from clinical events to patient-level analytics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CB3CC-BD04-4D17-B899-F8461743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3962400" cy="2762250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1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C3849-E0AF-4867-8646-BFA8DE22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47625" cy="27622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86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4C944-9326-4767-8567-E12AEE8A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3543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rPr>
              <a:t>PROJECT BRIEF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EA0B8-9B2B-4749-8D0E-392B654B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47975"/>
            <a:ext cx="354330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Standardize clinical records, control access and explain information coverage across the patient journey.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1BE49-69AB-459B-AA0B-11C7BD6D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933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8D4BB-1692-4617-8321-3047A1A4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FHIR resources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10C2E9-4A7C-49CC-BC77-2A90EBA7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38725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265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916C6D-08B6-40C7-93AE-537E8E65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626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Patient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73240-BE71-48D8-961F-FEB28225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3872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106EB4-EBE6-4A4D-8741-4F7754E4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7626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Resource types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584082-A4F9-4F34-8734-A6F3B60A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38925"/>
            <a:ext cx="1249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Expanded dataset: selected official FHIR examples. Python / Firely / AWS / Snowflake</a:t>
            </a:r>
          </a:p>
        </p:txBody>
      </p:sp>
    </p:spTree>
    <p:extLst>
      <p:ext uri="{BB962C8B-B14F-4D97-AF65-F5344CB8AC3E}">
        <p14:creationId xmlns:p14="http://schemas.microsoft.com/office/powerpoint/2010/main" val="17771351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D6F6F3-5A59-494C-A693-C6735886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249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Fragmented records limit pre-visit visibility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C11FE-D686-416E-A60E-66EC6828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249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E8F75-7E2D-4C2A-BD35-BC703020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580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Connected Care Data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8EDBE-8F1A-4CAB-BB36-7D15689B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229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09467-44F9-4B8E-849B-AD7FB8A8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60007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1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5B88F-A0A1-4078-A63B-850D41D5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47625" cy="1952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765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4C030-6148-4B5B-AEDA-3205575E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38325"/>
            <a:ext cx="5581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Patient context is fragmented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462F2-FF23-478C-98E4-81D0B82D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5581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Messages, laboratory results and documents do not automatically form a coherent patient record.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05A36-CF5C-433D-9084-7A939637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47825"/>
            <a:ext cx="61531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1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5C879-ABF1-4DC6-83D1-BF50C9CA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47825"/>
            <a:ext cx="47625" cy="1952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765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E6DB0-2C98-49E7-9DF8-BF5682F6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38325"/>
            <a:ext cx="5734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A recorded result may be unusable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C1525-FF5C-481B-BEF7-C4195CF3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95550"/>
            <a:ext cx="57340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An incorrect patient link, status, unit or timestamp can prevent a result from supporting a visit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2986B-E41D-4E63-8C66-26A85E59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60007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1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00BF5-AFC8-486B-8017-275B9860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47625" cy="1952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765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7659A-CD0D-4DBF-8087-11651449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05275"/>
            <a:ext cx="5581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An empty count is ambiguous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318F90-56F5-4E04-8F77-1C9A3CB4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5581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Missing source data, unresolved references and an absent record can look identical in a summary.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9E016F-E590-4176-800F-EFA2DC36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14775"/>
            <a:ext cx="61531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1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92ED62-8903-4770-83AE-2BCE8055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14775"/>
            <a:ext cx="47625" cy="1952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765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024D54-0CFB-43D0-8107-344878A8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05275"/>
            <a:ext cx="5734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Aggregate counts can mislead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FAB3B5-70F0-49DB-B865-ABB87F5D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62500"/>
            <a:ext cx="57340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Joining multiple detail tables can inflate counts and obscure which information is actually available.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943A5F-4F25-43B8-8FED-AD7D51AB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238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Reviewers lack a reliable explanation of what is available, what needs follow-up, and why.</a:t>
            </a:r>
          </a:p>
        </p:txBody>
      </p:sp>
    </p:spTree>
    <p:extLst>
      <p:ext uri="{BB962C8B-B14F-4D97-AF65-F5344CB8AC3E}">
        <p14:creationId xmlns:p14="http://schemas.microsoft.com/office/powerpoint/2010/main" val="6502621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7D6743-B6FD-46B8-B826-1B1359A6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249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Delivery across three connected phases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F142E-E719-49B6-B544-DDC7A4C0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238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A common FHIR structure connects clinical integration with broader analytical coverage.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1AF19-3D9E-4FCE-9FAE-C3002A3B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249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0212C-16AA-401A-BC12-029BD83F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580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Connected Care Data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0663F-80C0-4F4B-A49C-7A680E59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229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40AE4-FB5B-4F44-B593-EB20A5BC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905250" cy="3333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1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C7D6A-B958-4782-8F27-53BDBC23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7625" cy="3333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765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9D00B-2247-404D-82B1-EB541C21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3486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01  Interoperability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AD0DB-A608-41E5-A7F1-B6B9CDA8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28925"/>
            <a:ext cx="3486150" cy="2390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HL7 ADT, ORU and SIU mapping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FHIR identity and resource references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Native FHIR input: 11 resource types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68C27-4454-4BFC-A8C2-DFE145DF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981200"/>
            <a:ext cx="3905250" cy="3333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1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D8923-1BE0-4D81-8BCB-A3429F3F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981200"/>
            <a:ext cx="47625" cy="3333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86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850A5-5E6A-4ED5-BC0B-62736684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171700"/>
            <a:ext cx="3486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rPr>
              <a:t>02  Cloud ingestion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31314-5325-4785-A7F9-51A9A26B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828925"/>
            <a:ext cx="3486150" cy="2390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Private S3 landing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Source and batch traceability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Expanded batch: 933 FHIR resources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3F95E-C481-41BA-B0C3-2B732022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81200"/>
            <a:ext cx="3905250" cy="3333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1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FF1BE6-0C08-40A4-A1C5-70C84D82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81200"/>
            <a:ext cx="47625" cy="3333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765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03173-EFE7-40E5-BB16-55ADC678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71700"/>
            <a:ext cx="3486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03  Patient analytics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DDBA0-CCE3-4E14-9DD3-A1B72173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28925"/>
            <a:ext cx="3486150" cy="2390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Snowflake typed and curated views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Cross-domain coverage analysis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265 patients and nine metrics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CE2856-645F-4E3F-B535-7798C81E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2496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The expanded dataset enters as native FHIR and broadens the downstream analytical model.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629682-E4AD-4739-8FC2-5622A52B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38925"/>
            <a:ext cx="1249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The HL7 conversion path and native FHIR ingestion path converge on a common resource model.</a:t>
            </a:r>
          </a:p>
        </p:txBody>
      </p:sp>
    </p:spTree>
    <p:extLst>
      <p:ext uri="{BB962C8B-B14F-4D97-AF65-F5344CB8AC3E}">
        <p14:creationId xmlns:p14="http://schemas.microsoft.com/office/powerpoint/2010/main" val="16848853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C20DAE-3A36-4B0B-8F16-F46AD2AF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249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Architecture from clinical events to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365DF-DCBC-4242-A568-C299F82C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238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Two source paths preserve provenance while supporting a common analytical destination.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309F5-06D7-457D-B002-EC02EA1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249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9352B-B093-4B78-A4A1-67C34E59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580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Connected Care Data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F4634-0BDE-4AAF-BF43-5229EDF9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229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418B5-7655-442D-A84B-5E13448F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790950" cy="1895475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1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66BBE-1E57-4A82-86AF-3503181E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7625" cy="18954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765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D8ECE-18B1-4823-A49C-1EFB81E2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3371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HL7 clinical events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8C2C7-DBFE-4FBA-A976-EADD31AB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3371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ADT / ORU / SIU</a:t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Python mapping into FHIR R4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C7B18-D22E-41ED-975B-E3AA0770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62150"/>
            <a:ext cx="3790950" cy="1895475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1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4A7CC-EDEE-4D9D-8B31-D004F0E3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62150"/>
            <a:ext cx="47625" cy="18954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765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5245A-2820-4817-A196-F5D52471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3371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Firely and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E25D0F-CF8D-4701-B9FA-E3673CC6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09875"/>
            <a:ext cx="3371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FHIR API and resource links</a:t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Local Docker / RDS-backed 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991B5-CC4A-45FF-B235-CB049660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62150"/>
            <a:ext cx="4000500" cy="1895475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1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55020F-694D-4B69-8F46-DA1819D9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62150"/>
            <a:ext cx="47625" cy="18954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765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BADC0-AC1E-4F96-9D35-AD8CADEF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52650"/>
            <a:ext cx="3581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Authorized export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562B4C-75F0-4786-AF0D-4B1478B1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09875"/>
            <a:ext cx="3581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Scoped FHIR reads</a:t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Batch files and manifest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7BDF6C-9A84-421D-83D6-605D7F75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3790950" cy="206692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1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117816-6CBF-43FE-80E6-5ACC4597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47625" cy="20669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86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C28A7D-9B45-4974-A121-099BF913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3371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rPr>
              <a:t>Native FHIR dataset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B43CA3-3278-4313-B59D-C7FD120F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91125"/>
            <a:ext cx="3371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933 resources / 11 types</a:t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Official FHIR example archive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F458A6-03B9-49C8-AFBE-684EB974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43400"/>
            <a:ext cx="3790950" cy="206692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1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18E034-0FD7-4DAD-81DD-39757F35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43400"/>
            <a:ext cx="47625" cy="20669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86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4296B8-8D80-428F-AD7D-2698759B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33900"/>
            <a:ext cx="3371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rPr>
              <a:t>Private S3 landing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9F1D10-CF17-4D85-A40A-378283E4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191125"/>
            <a:ext cx="33718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Native FHIR and export batches</a:t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Stage inputs for Snowflake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51A212-22A4-4588-ACDF-E0876B6A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43400"/>
            <a:ext cx="4000500" cy="206692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1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32714F-0227-43E7-997C-357B545B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43400"/>
            <a:ext cx="47625" cy="20669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86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7D7320-F7A9-49FD-8A9D-C35AB7BA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33900"/>
            <a:ext cx="3581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rPr>
              <a:t>Snowflake analytics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5A6A82-BD70-4A2A-8C5B-9CA88FC3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91125"/>
            <a:ext cx="3581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RAW / typed / curated views</a:t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SQL, dashboards and Cortex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744AFA-98E4-44AA-8047-8DBFF6AF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146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17C194-9A9C-4FFC-8473-75ADFD2F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146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3C2261-F0E6-47DF-BC36-E07130DD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339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478BA2-2FA6-4DD6-AAF4-0C0A766D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339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19685D-DE93-46E3-8DA3-739C0AEB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857625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9390DD-C7E5-46FC-93C8-9F7AC6DC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067175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4ABDF4-A045-4454-B93F-B1F7F6ED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195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6867F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97314A-4816-4958-B87F-4A765103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38925"/>
            <a:ext cx="1249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Operational and native FHIR batches retain separate provenance. The later local-copy mode uses a local data store.</a:t>
            </a:r>
          </a:p>
        </p:txBody>
      </p:sp>
    </p:spTree>
    <p:extLst>
      <p:ext uri="{BB962C8B-B14F-4D97-AF65-F5344CB8AC3E}">
        <p14:creationId xmlns:p14="http://schemas.microsoft.com/office/powerpoint/2010/main" val="10503091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46B96A-3AC0-4563-AA0D-A8A99E32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249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Phase 1: clinical data harmonization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D013A-C412-420E-91C6-3329A64A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238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FHIR creates a consistent resource structure for patient identity, clinical evidence and visit context.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2DBA1-B575-45CD-8EC6-76373DFD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249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FDA55-755F-4FD4-B2D4-F063F40B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580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Connected Care Data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9CF9E-AC87-4C78-9AAC-9EAF6006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229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89D3E-5F01-4F0A-91BC-B3B66FB77B3D}"/>
              </a:ext>
            </a:extLst>
          </p:cNvPr>
          <p:cNvGraphicFramePr/>
          <p:nvPr/>
        </p:nvGraphicFramePr>
        <p:xfrm>
          <a:off xmlns:a="http://schemas.openxmlformats.org/drawingml/2006/main" x="609600" y="1895475"/>
          <a:ext xmlns:a="http://schemas.openxmlformats.org/drawingml/2006/main" cx="124968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905125"/>
                <a:gridCol w="6257925"/>
              </a:tblGrid>
              <a:tr h="695325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Clinical event</a:t>
                      </a:r>
                    </a:p>
                  </a:txBody>
                  <a:tcPr marL="91440" marR="91440" marT="45720" marB="45720">
                    <a:solidFill>
                      <a:srgbClr val="12375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FHIR output</a:t>
                      </a:r>
                    </a:p>
                  </a:txBody>
                  <a:tcPr marL="91440" marR="91440" marT="45720" marB="45720">
                    <a:solidFill>
                      <a:srgbClr val="12375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Preserved information</a:t>
                      </a:r>
                    </a:p>
                  </a:txBody>
                  <a:tcPr marL="91440" marR="91440" marT="45720" marB="45720">
                    <a:solidFill>
                      <a:srgbClr val="12375F"/>
                    </a:solidFill>
                  </a:tcPr>
                </a:tc>
              </a:tr>
              <a:tr h="6953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ADT admission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Patient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Identifier authority and patient identity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ORU laboratory result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Observation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Patient reference, code, value, unit and time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</a:tr>
              <a:tr h="6953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SIU scheduling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Appointment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Visit identity, participants and scheduled time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6CBCE-C06F-4BF3-957A-CB7FFB24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6000750" cy="1390650"/>
          </a:xfrm>
          <a:prstGeom xmlns:a="http://schemas.openxmlformats.org/drawingml/2006/main" prst="roundRect">
            <a:avLst>
              <a:gd name="adj" fmla="val 95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1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06899-B251-43E3-9CAA-41121A6E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7625" cy="13906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765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0EE29-6289-48D4-B732-4648F7A1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5581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Mapping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8747F-C1B4-4C47-9762-D1EFAE16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43600"/>
            <a:ext cx="5581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Stable IDs and patient references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235BB-C9D6-42AC-A233-DB5E0F0C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6153150" cy="1390650"/>
          </a:xfrm>
          <a:prstGeom xmlns:a="http://schemas.openxmlformats.org/drawingml/2006/main" prst="roundRect">
            <a:avLst>
              <a:gd name="adj" fmla="val 95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1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96B84F-6389-44A6-9B21-9F862A94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47625" cy="13906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86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36523-A5AE-4858-BEAF-C176C6A4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286375"/>
            <a:ext cx="5734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rPr>
              <a:t>Expanded FHIR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75F34B-3760-43D1-B2EC-6D971739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943600"/>
            <a:ext cx="573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933 native FHIR resources across 11 types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672E3E-9A27-4AAF-A0F1-EF28FDD4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38925"/>
            <a:ext cx="1249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Additional native FHIR domains include allergies, conditions, medications, encounters and diagnostic reports.</a:t>
            </a:r>
          </a:p>
        </p:txBody>
      </p:sp>
    </p:spTree>
    <p:extLst>
      <p:ext uri="{BB962C8B-B14F-4D97-AF65-F5344CB8AC3E}">
        <p14:creationId xmlns:p14="http://schemas.microsoft.com/office/powerpoint/2010/main" val="4638764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A01B40-C7E2-41D3-A8C0-2911470B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249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HIPAA-related privacy and security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72EE9-F7FF-4B5C-B005-1D3C9C4E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238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Implemented safeguards across reviewer identity, clinical document access and cloud data handling.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40291-D810-4B1C-8987-F344A8B9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249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03D51-4A66-43F3-91EE-2E5F767D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580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Connected Care Data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13891-6E4B-4438-ADD3-59D6E10A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229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69F6D-707C-462B-BE1A-C24374C7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6000750" cy="2047875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1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86404-70EE-4022-AFA8-45AB47AA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7625" cy="20478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765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5FF32-9123-428E-95F3-461D8DD2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5581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Verified reviewer 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78956-44C8-4D16-93C3-F3A2DA8B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52725"/>
            <a:ext cx="5581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OIDC authorization code with PKCE</a:t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Token signature and claim validation</a:t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FHIR resource read/search scopes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D2FF1-9C6F-48F6-8B7E-9BC2E98A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6153150" cy="2047875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1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39CEB-3E63-464B-A8CD-2C2B350A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47625" cy="20478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86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932A5-703E-4E4F-9016-9FE14E06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95500"/>
            <a:ext cx="5734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rPr>
              <a:t>Protected viewer sessions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BB714-3D37-405E-A481-0BAE74E2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52725"/>
            <a:ext cx="5734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Server-memory tokens</a:t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Secure / HttpOnly / SameSite cookies</a:t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Expiry capped at 15 minutes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AD10D2-A116-47AA-A209-100D57C7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6000750" cy="2047875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1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D3C8D-84EA-40D1-A20C-EE940DFC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47625" cy="20478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765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ABC82-5BC9-4D23-9F75-F441E2B1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5581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Controlled document 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DA5ED9-3E39-4AB1-8A0E-DD05E776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5581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Patient association and registry checks</a:t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Content type, size and SHA-256 checks</a:t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Wrong-patient access denied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4A3A36-4FE9-4061-9B8D-1A3EA000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57675"/>
            <a:ext cx="6153150" cy="2047875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1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73BB72-3E54-414C-8978-3793EA9F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57675"/>
            <a:ext cx="47625" cy="20478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86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024184-9332-46FB-A90A-44680FB6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48175"/>
            <a:ext cx="5734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rPr>
              <a:t>Protected cloud landing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A40FF5-6DFF-4B58-9C0F-530B5B24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05400"/>
            <a:ext cx="5734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Private S3 with server-side encryption</a:t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TLS certificate validation to RDS</a:t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Source and batch integrity checks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2BC1BC-14DF-4075-A60A-36CBB94B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38925"/>
            <a:ext cx="1249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Document checks: reviewer workflow. Viewer/Auth: HTTPS. Local FHIR: HTTP. RDS: certificate-validated TLS.</a:t>
            </a:r>
          </a:p>
        </p:txBody>
      </p:sp>
    </p:spTree>
    <p:extLst>
      <p:ext uri="{BB962C8B-B14F-4D97-AF65-F5344CB8AC3E}">
        <p14:creationId xmlns:p14="http://schemas.microsoft.com/office/powerpoint/2010/main" val="16808692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2EEE7C2-8C38-4EB5-A0CC-72E7735C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249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Phase 2: controlled ingestion into Snowflake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A9F4E-B151-4AAA-82F1-AE9FC50A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238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The ingestion SQL preserves source and batch identity for the 933-resource FHIR selection.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5491D-D1F3-4C8C-BE12-304762C0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249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BECE7-705E-4D0C-ACB8-D72AE8C3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580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Connected Care Data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D550A-DEF6-4C1C-8929-739E3622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229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ADE3E-5DE2-4F80-9D7F-230C3523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78486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77D47-022C-44EA-B790-913CB2CD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81225"/>
            <a:ext cx="136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80B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0B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0BFFF"/>
                </a:solidFill>
                <a:latin typeface="DejaVu Sans"/>
                <a:ea typeface="DejaVu Sans"/>
                <a:cs typeface="DejaVu Sans"/>
              </a:rPr>
              <a:t>COMMANDS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11AE8-B8BB-4B91-8F2D-ACD7F034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812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D6A8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D6A8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D6A8FF"/>
                </a:solidFill>
                <a:latin typeface="DejaVu Sans"/>
                <a:ea typeface="DejaVu Sans"/>
                <a:cs typeface="DejaVu Sans"/>
              </a:rPr>
              <a:t>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BB1BC-D153-4F03-9803-62FD7C06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181225"/>
            <a:ext cx="1266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86E0B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6E0B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6E0B5"/>
                </a:solidFill>
                <a:latin typeface="DejaVu Sans"/>
                <a:ea typeface="DejaVu Sans"/>
                <a:cs typeface="DejaVu Sans"/>
              </a:rPr>
              <a:t>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31EE1-6A7D-46F6-862D-8F5CDA8C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1812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EDF3F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EDF3F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EDF3FA"/>
                </a:solidFill>
                <a:latin typeface="DejaVu Sans"/>
                <a:ea typeface="DejaVu Sans"/>
                <a:cs typeface="DejaVu Sans"/>
              </a:rPr>
              <a:t>FIELDS / 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75C66-E990-4109-A661-94C6E455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64B19F-7F6A-4043-AC72-67530460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0325"/>
            <a:ext cx="62150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MERGE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222E3-29FA-4546-9ACC-58A70E52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808" y="2600325"/>
            <a:ext cx="5067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INTO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CE84F-7B89-484F-AC3B-AD6FA9BD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689" y="2600325"/>
            <a:ext cx="1424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RESOURCE_RAW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6B30D2-B72A-41CD-8AEA-5E6EC11C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4780" y="260032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25DC9F-2F2F-418B-8431-D18D880B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333" y="2600325"/>
            <a:ext cx="62150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USING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2ABCD-C030-4DDA-A22B-D2AAD944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90" y="2600325"/>
            <a:ext cx="108061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LOAD_WORK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BD9FBA-6900-41D6-9D90-D8EF3D98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753" y="260032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67EC1C-9EAB-4E61-9C59-A84ED0C6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8607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0CBC01-ED1F-4F70-830A-7B3E1982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3" y="2876550"/>
            <a:ext cx="27717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70DD0-1769-47FC-B9AE-0F2328B6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031" y="2876550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87A257-5BDE-4CAE-A0EA-77AAB904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808" y="2876550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9CBDDE-2DC1-4EDA-8E91-05FBEFE8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84" y="2876550"/>
            <a:ext cx="165449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SOURCE_DATASET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110F94-AC40-4E2F-967E-DFD747DC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228" y="2876550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=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F172A2-6659-4473-97BD-2F596CB3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4780" y="2876550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29AEBE-C4E3-4C77-800E-DB6A9F32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556" y="2876550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836CB2-D443-46F5-9F27-443B321C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333" y="2876550"/>
            <a:ext cx="165449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SOURCE_DATASET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35FDFE-C814-42FE-9D97-74C3AF15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3DA16E-480B-43EB-8E7C-07C2BCF4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926" y="3152775"/>
            <a:ext cx="39195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AND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A94E52-BDE7-4302-8B3D-413C62DF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031" y="315277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45F96F-C1AF-4306-BCAA-C45AFD4E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808" y="315277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E0F561-F2EE-4182-984A-D0F14413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84" y="3152775"/>
            <a:ext cx="9658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BATCH_ID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FD5164-CE8A-413A-8644-8968D983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315277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=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FEDB10-B15E-44BD-9579-0B22A0B4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123" y="315277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A30379-8609-4249-90FF-D218B034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899" y="315277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F9C121-EC30-4555-9898-85870006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52775"/>
            <a:ext cx="9658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BATCH_ID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83C740-45A8-4262-9614-7711C8F2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4D950F-E8EF-49FA-81EE-2D8F69DB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926" y="3429000"/>
            <a:ext cx="39195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AND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2F14BC-88C2-4382-BBF1-3FEDD736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031" y="3429000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8CDEAF-C9E5-414F-8DDB-6480DF34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808" y="3429000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6CE925-B129-4550-B5BD-A10ECECB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84" y="3429000"/>
            <a:ext cx="153971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RESOURCE_TYPE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CC9AFF-96A1-40C3-94D7-C8CAE095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0451" y="3429000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=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B7A3BE-5624-4960-92F2-A12D0E44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004" y="3429000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97A0B1-140B-4DB8-AACB-D0AB7A07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4780" y="3429000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572912-5E40-4D76-999E-5BB9BC95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556" y="3429000"/>
            <a:ext cx="153971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RESOURCE_TYPE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1EDBD9-CB7E-4468-B45A-352691E0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7DEE0D-2C3D-49F3-98C3-A460FF00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926" y="3705225"/>
            <a:ext cx="39195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AND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D4B3CA-69C4-451D-BC8C-46C3211A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031" y="370522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9D484F-C9DF-4721-83A5-B4213075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808" y="370522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7C9431-A179-485B-BBFC-813299E6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84" y="3705225"/>
            <a:ext cx="13101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RESOURCE_ID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2253D0-5E44-4717-8D2C-68DFA2A4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899" y="370522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=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8ED8AF-626F-40F0-9AF6-B5590A0F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0451" y="370522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B21D769-B4A8-4C28-B8EF-2EDC0181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228" y="370522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4D82A51-3CE1-4E82-AA8E-4E5F05E4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004" y="3705225"/>
            <a:ext cx="13101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RESOURCE_ID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1E5022-3B36-43DF-99A3-AF663E5C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9097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6D19A53-BDBB-4766-A935-856DD160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5067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WHEN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8AE977D-F00A-4139-BC6A-2B182325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031" y="3981450"/>
            <a:ext cx="39195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NOT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5B15093-2AFD-41A4-87C6-0C114695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136" y="3981450"/>
            <a:ext cx="8510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MATCHED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003C5ED-6687-4E91-BD4D-0C19A2EC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346" y="3981450"/>
            <a:ext cx="5067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THEN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8DB4097-E864-4BD3-B0E3-B9FEE007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228" y="3981450"/>
            <a:ext cx="73628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INSERT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70ACBEA-DD2E-42B4-87DD-5C8E8150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2C2C612-6353-4774-B17A-25D422E5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3" y="425767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(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185A6B9-22B3-400C-94DB-FDF3AF97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479" y="4257675"/>
            <a:ext cx="165449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SOURCE_DATASET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49F46CE-5978-4328-8E37-099AC595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346" y="425767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2B93D09-B7C4-4E6B-838F-936D986A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899" y="4257675"/>
            <a:ext cx="9658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BATCH_ID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F84E58-417B-48C9-82FB-9592FA01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109" y="425767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A61F3C1-3A91-4FFF-A02B-7351D7A7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661" y="4257675"/>
            <a:ext cx="153971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RESOURCE_TYPE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BCCF9D2-39F1-4EFC-AA0F-9750057A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753" y="425767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D63B7BB-F1FA-4DC9-84B5-C97D75B5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AEBD790-2C07-4EE4-96EC-FD91D831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479" y="4533900"/>
            <a:ext cx="13101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RESOURCE_ID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8BC499C-D8B5-4B14-A07D-FAF4B6B2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018" y="4533900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0DF5BBC-8551-4A10-8BA3-DE0C74CF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4533900"/>
            <a:ext cx="8510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PAYLOAD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504A9EA-D4F4-45E5-8839-4C59CE18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004" y="4533900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11576A0-6E97-4B65-94CC-D666C760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556" y="4533900"/>
            <a:ext cx="176926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SOURCE_FILENAME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2B46EEA-998B-4C2D-8DAE-05EDDDBD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33900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244C8BC-B58D-4FEB-93E9-7AF69FA6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7F1E365-AF7A-46E1-99C7-964E7659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479" y="4810125"/>
            <a:ext cx="176926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FILE_ROW_NUMBER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2B51F1E-C813-45B2-AA82-1C0408EA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123" y="481012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28CCA42-C309-4A5A-9C71-1F7620D3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810125"/>
            <a:ext cx="108061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LOADED_AT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3377B2E-52B3-446B-87AA-AD181489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661" y="481012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9C869CD-CF78-47B8-9696-FB6771DD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BF104F5-9681-4BC2-9485-5349CFD9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73628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VALUES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332E887-DE18-4091-B61C-C9144D7A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84" y="5086350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(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937081B-CFEB-43C7-8293-5A7DCF82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360" y="5086350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D9D63D8-E134-4E9E-B346-D1451C4E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136" y="5086350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4C23D07-0C73-40C9-AD0C-CF8ADCBE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5086350"/>
            <a:ext cx="165449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SOURCE_DATASET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A38CF22-5AC0-47AB-8D3F-0FDB7D80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4780" y="5086350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B492F87-E675-48E8-96BF-C796A6DC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333" y="5086350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AC610B4-A3C6-46AE-9445-F5CAFE25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109" y="5086350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4DEDC22-103B-4085-B6CC-2DF5786E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885" y="5086350"/>
            <a:ext cx="9658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BATCH_ID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4CDF745-69FC-482F-9363-72AC5299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095" y="5086350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C116146-D400-46C7-8810-39F4178A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8F9AE74-F9CB-4AC7-AE64-5EDF8F5C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360" y="536257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2B3989E-A2C5-468E-A3DC-DB173B37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136" y="536257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EF99238-C17C-40F0-AFA2-020C2A88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5362575"/>
            <a:ext cx="153971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RESOURCE_TYPE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14958E8-9E39-4E1E-824A-F6097BB8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004" y="536257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C699995-1031-4285-893A-4A79DEBF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556" y="536257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839F937-997D-4234-8BC2-B7252251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333" y="536257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EFC805C-4589-4123-A0BD-6EA8BCDD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109" y="5362575"/>
            <a:ext cx="13101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RESOURCE_ID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ED3DC2C-4135-405F-8DFB-F7087ACA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1648" y="536257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400CC7B-7840-428E-A517-55D0D09B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36257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E55AA44-6E45-4D04-AA1B-9FD57C47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976" y="536257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057ABA5-633E-40D5-BB9E-D88765D1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753" y="536257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1081B6F-A403-439F-8283-B9E0D216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529" y="536257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27A4863-2FD0-418C-B1E5-C168B6B4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305" y="536257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A6F9CF0-9557-4E85-973E-516DFC20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47875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6867F"/>
                </a:solidFill>
                <a:latin typeface="DejaVu Sans"/>
                <a:ea typeface="DejaVu Sans"/>
                <a:cs typeface="DejaVu Sans"/>
              </a:rPr>
              <a:t>933 resources / 11 types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93FBDE2-2876-47AF-9FBA-BA1EA479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67050"/>
            <a:ext cx="4000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Batch controls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037D7ED-A9B0-4AEB-B4E8-F80F4734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705225"/>
            <a:ext cx="4000500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Expected inventory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Missing and duplicate IDs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Conflicting payloads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Insert-only resource identity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198A5FC-2ED7-4E66-AFF7-06ED6694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38925"/>
            <a:ext cx="1249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SQL excerpt. The 933-resource inventory is verified from the archive. Load counts require batch-specific query evidence.</a:t>
            </a:r>
          </a:p>
        </p:txBody>
      </p:sp>
    </p:spTree>
    <p:extLst>
      <p:ext uri="{BB962C8B-B14F-4D97-AF65-F5344CB8AC3E}">
        <p14:creationId xmlns:p14="http://schemas.microsoft.com/office/powerpoint/2010/main" val="6138374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18DA0-03BE-4ED8-836E-904B0513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249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Phase 3: patient coverage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0C207-FDFC-47A3-A2B8-3B4AC209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238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The curated model includes allergies, medications and care encounters alongside laboratory observations.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7F1B6-D016-435D-A6EC-BC815797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249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2C1B0-600A-4D3F-871B-A91AC9DB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580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Connected Care Data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2FB63-6838-40A1-BDB5-86D3D9CD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229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01D1D-6219-43B6-A29A-2D2EE2C09D0F}"/>
              </a:ext>
            </a:extLst>
          </p:cNvPr>
          <p:cNvGraphicFramePr/>
          <p:nvPr/>
        </p:nvGraphicFramePr>
        <p:xfrm>
          <a:off xmlns:a="http://schemas.openxmlformats.org/drawingml/2006/main" x="609600" y="1933575"/>
          <a:ext xmlns:a="http://schemas.openxmlformats.org/drawingml/2006/main" cx="12496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95600"/>
                <a:gridCol w="5238750"/>
                <a:gridCol w="4362450"/>
              </a:tblGrid>
              <a:tr h="631825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Clinical domain</a:t>
                      </a:r>
                    </a:p>
                  </a:txBody>
                  <a:tcPr marL="91440" marR="91440" marT="45720" marB="45720">
                    <a:solidFill>
                      <a:srgbClr val="12375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FHIR resources</a:t>
                      </a:r>
                    </a:p>
                  </a:txBody>
                  <a:tcPr marL="91440" marR="91440" marT="45720" marB="45720">
                    <a:solidFill>
                      <a:srgbClr val="12375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Patient-level measures</a:t>
                      </a:r>
                    </a:p>
                  </a:txBody>
                  <a:tcPr marL="91440" marR="91440" marT="45720" marB="45720">
                    <a:solidFill>
                      <a:srgbClr val="12375F"/>
                    </a:solidFill>
                  </a:tcPr>
                </a:tc>
              </a:tr>
              <a:tr h="6318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Laboratory information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Observation, DiagnosticReport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Observation and report counts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Clinical history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AllergyIntolerance, Condition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Linked allergy and condition records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</a:tr>
              <a:tr h="6318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Medication information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MedicationRequest, MedicationStatement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Medication order and statement counts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Care context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Encounter, Appointment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Encounter and appointment counts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</a:tr>
              <a:tr h="6318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Supporting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DocumentReference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Linked document counts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CBD99-1FB9-4564-80EF-FD7F45D8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Raw 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6B0E0-E18D-4CB2-992E-E1EA0B87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96000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Typed fields and links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21750-6CF7-42F4-9402-D78FEEDC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096000"/>
            <a:ext cx="506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867F"/>
                </a:solidFill>
                <a:latin typeface="DejaVu Sans"/>
                <a:ea typeface="DejaVu Sans"/>
                <a:cs typeface="DejaVu Sans"/>
              </a:rPr>
              <a:t>Nine coverage metrics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6205DC-29B6-46EC-BA36-B1F3D77A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38925"/>
            <a:ext cx="1249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11 types: Patient defines the denominator, Medication supplies master data, and nine types provide coverage measures.</a:t>
            </a:r>
          </a:p>
        </p:txBody>
      </p:sp>
    </p:spTree>
    <p:extLst>
      <p:ext uri="{BB962C8B-B14F-4D97-AF65-F5344CB8AC3E}">
        <p14:creationId xmlns:p14="http://schemas.microsoft.com/office/powerpoint/2010/main" val="5024352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1E147-653F-4A59-A2D2-EBDFF2A4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249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Coverage across the expanded FHIR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1EFC1-C369-49D3-9073-E43B951D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238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How many distinct patients have at least one linked record in each category?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71C3A-6640-44B1-B09F-CB5E9C63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249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F0EE2-187E-4546-B90C-82B2D99B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580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Connected Care Data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1971D-321A-47B2-A530-53D0C168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229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24C39-5937-44D8-933A-0AE0651E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933 resources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91245-B4C8-4720-A612-4653EE45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81175"/>
            <a:ext cx="3762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265 patients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9AFC6-1EDA-4645-8109-2414C96B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81175"/>
            <a:ext cx="385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11 resource types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1C8DC3D6-7EF1-4F41-9DD6-42ABA2890053}"/>
              </a:ext>
            </a:extLst>
          </p:cNvPr>
          <p:cNvGraphicFramePr/>
          <p:nvPr/>
        </p:nvGraphicFramePr>
        <p:xfrm>
          <a:off xmlns:a="http://schemas.openxmlformats.org/drawingml/2006/main" x="609600" y="2486025"/>
          <a:ext xmlns:a="http://schemas.openxmlformats.org/drawingml/2006/main" cx="8734425" cy="3990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f68204c057405d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0DB28-33D3-47FE-B7A2-4B4ECA00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0"/>
            <a:ext cx="329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867F"/>
                </a:solidFill>
                <a:latin typeface="DejaVu Sans"/>
                <a:ea typeface="DejaVu Sans"/>
                <a:cs typeface="DejaVu Sans"/>
              </a:rPr>
              <a:t>20 of 265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FD6CC-9316-422D-9113-B07365C5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57575"/>
            <a:ext cx="3295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patients have at least one linked clinical record. Appointments are measured separately.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D5EAB-73CD-4AD7-B2D6-16BA54A1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05400"/>
            <a:ext cx="32956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Coverage reflects the structure of an example archive. It does not describe patient health.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3D8FE-5278-40F7-BD75-A254A5B5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38925"/>
            <a:ext cx="1249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Source-archive calculation using the project linkage rules. 265 Patient records form the denominator.</a:t>
            </a:r>
          </a:p>
        </p:txBody>
      </p:sp>
    </p:spTree>
    <p:extLst>
      <p:ext uri="{BB962C8B-B14F-4D97-AF65-F5344CB8AC3E}">
        <p14:creationId xmlns:p14="http://schemas.microsoft.com/office/powerpoint/2010/main" val="13944360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C75B3-ED32-4B6F-B199-5586D004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249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Patient coverage and visit-window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CA617-F04F-41F0-ABBF-7FBDBEAD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238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The platform answers both availability and timing questions with distinct analytical rules.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91CBE-624D-46F2-A0EA-E45AF8ED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249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CDA2B-F15F-4DB5-AA8D-0C05F78D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580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Connected Care Data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990FC-7369-4373-888D-A1F6D0D8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229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12871-E746-4F5D-81AE-FF61E2A7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600075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1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7DD89-C966-4072-89E2-7371B3E6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47625" cy="3429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765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972B8-EF68-4A82-B069-77561DAD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81225"/>
            <a:ext cx="5581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Patient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1508E-1CAA-4A48-848D-14B551D3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5581650" cy="2486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Question: which records are linked?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265 Patient records form the denominator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Nine categories count available records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No appointment time filter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E087F-69B3-4B21-A854-F263E206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90725"/>
            <a:ext cx="615315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1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D7CDA-18F9-4707-B8DD-720DE95E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90725"/>
            <a:ext cx="47625" cy="3429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86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1DAE2-6270-4719-ABEF-B896DFA9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81225"/>
            <a:ext cx="5734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6867F"/>
                </a:solidFill>
                <a:latin typeface="DejaVu Sans"/>
                <a:ea typeface="DejaVu Sans"/>
                <a:cs typeface="DejaVu Sans"/>
              </a:rPr>
              <a:t>Visit-window 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81D4C-2CCC-485E-9350-8FAA143C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38450"/>
            <a:ext cx="5734050" cy="2486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Question: does a result qualify for a visit?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Configured glucose code, value and unit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Final, amended or corrected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Seven days before the appointment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079D1-72F5-4EE2-BC71-B298F35D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2496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Coverage counts describe availability. Visit rules determine timing eligibility.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E1CBD-6228-409D-8CEF-947BD7E0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38925"/>
            <a:ext cx="1249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The window includes its start and excludes the appointment time. These rules support information review.</a:t>
            </a:r>
          </a:p>
        </p:txBody>
      </p:sp>
    </p:spTree>
    <p:extLst>
      <p:ext uri="{BB962C8B-B14F-4D97-AF65-F5344CB8AC3E}">
        <p14:creationId xmlns:p14="http://schemas.microsoft.com/office/powerpoint/2010/main" val="11831536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AE4DBF3-0A0A-48A8-B3BE-254F8B29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249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Reference resolution explains every included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A82E6-BE5A-44A0-B5B3-AD48FF39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238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Each clinical resource receives a status before it contributes to patient coverage.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722C3-E272-4011-A48F-3E15349D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249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44113-B31D-4AF6-B507-B86E9EFD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580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Connected Care Data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177D1-29BB-4A59-87B9-378F647A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229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F2100-2FB0-4517-9390-334FFE14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7810500" cy="397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2C506-E7BD-4DBA-B231-84B59AFA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62175"/>
            <a:ext cx="136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80B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0B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0BFFF"/>
                </a:solidFill>
                <a:latin typeface="DejaVu Sans"/>
                <a:ea typeface="DejaVu Sans"/>
                <a:cs typeface="DejaVu Sans"/>
              </a:rPr>
              <a:t>COMMANDS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4AE82-9C52-4767-8806-B578CB90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6217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D6A8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D6A8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D6A8FF"/>
                </a:solidFill>
                <a:latin typeface="DejaVu Sans"/>
                <a:ea typeface="DejaVu Sans"/>
                <a:cs typeface="DejaVu Sans"/>
              </a:rPr>
              <a:t>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2ABC2-8E14-41B3-9BC9-C1DE7E1C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162175"/>
            <a:ext cx="1266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86E0B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86E0B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6E0B5"/>
                </a:solidFill>
                <a:latin typeface="DejaVu Sans"/>
                <a:ea typeface="DejaVu Sans"/>
                <a:cs typeface="DejaVu Sans"/>
              </a:rPr>
              <a:t>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F4808-019E-47B0-B0E5-EBC1B2C9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1621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EDF3F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EDF3F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EDF3FA"/>
                </a:solidFill>
                <a:latin typeface="DejaVu Sans"/>
                <a:ea typeface="DejaVu Sans"/>
                <a:cs typeface="DejaVu Sans"/>
              </a:rPr>
              <a:t>FIELDS / 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0FD10-3F1A-4564-B81C-8FC89D3E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768D7-50FB-4C93-AECE-C154B489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81275"/>
            <a:ext cx="5067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WHEN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6F5FE2-C8E0-4D53-9370-262873E2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031" y="258127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556C9-D9B7-4B53-8D1F-D7181EE9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808" y="258127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324A4-C549-4057-977C-0A16ECE5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84" y="2581275"/>
            <a:ext cx="199882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PATIENT_REFERENCE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916AC-EB86-4BF4-AFD2-1427F25E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556" y="2581275"/>
            <a:ext cx="27717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052D3-55BC-4F2D-B18E-3ADC5362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885" y="2581275"/>
            <a:ext cx="5067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NULL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B5F1B9-B32A-475D-AC53-8D497B8C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A4F3EA-6754-4A90-B860-39C99995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3" y="2857500"/>
            <a:ext cx="5067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THEN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E8E0B7-A6F6-4A20-9E43-7994CFFD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84" y="2857500"/>
            <a:ext cx="257270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6E0B5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6E0B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6E0B5"/>
                </a:solidFill>
                <a:latin typeface="DejaVu Sans Mono"/>
                <a:ea typeface="DejaVu Sans Mono"/>
                <a:cs typeface="DejaVu Sans Mono"/>
              </a:rPr>
              <a:t>'NO_LITERAL_REFERENCE'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BE5340-D9DD-4057-8C1F-9EB66FA2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FAD3BD-3D37-40F0-9098-E9DD4C02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33725"/>
            <a:ext cx="5067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WHEN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083DF8-8B56-4653-81D9-DDA5B9C8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031" y="3133725"/>
            <a:ext cx="39195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NOT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7434F3-2229-4788-A1CB-2E7C70F1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136" y="3133725"/>
            <a:ext cx="13101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D6A8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D6A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6A8FF"/>
                </a:solidFill>
                <a:latin typeface="DejaVu Sans Mono"/>
                <a:ea typeface="DejaVu Sans Mono"/>
                <a:cs typeface="DejaVu Sans Mono"/>
              </a:rPr>
              <a:t>REGEXP_LIKE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58A4B7-EE32-41F1-AC8B-87CA46E9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3372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(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1CEE8A-6992-4D80-B608-C7B7E30C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E3AF04-F204-4C6C-9C9E-E9FA1653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3" y="3409950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D23660-92B6-4CD2-AAFB-952605B2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479" y="3409950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5CD76B-0681-41A8-B0C2-AC9D4EF2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255" y="3409950"/>
            <a:ext cx="199882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PATIENT_REFERENCE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24207A-145B-4133-810D-E11FC9F3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0451" y="3409950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D65703-6857-4F67-859F-4E2A0AAA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9610F0-5FA1-4702-9F42-74100A42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3" y="3686175"/>
            <a:ext cx="280225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6E0B5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6E0B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6E0B5"/>
                </a:solidFill>
                <a:latin typeface="DejaVu Sans Mono"/>
                <a:ea typeface="DejaVu Sans Mono"/>
                <a:cs typeface="DejaVu Sans Mono"/>
              </a:rPr>
              <a:t>'Patient/[A-Za-z0-9.-]+'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5E6D08-B78E-4A63-B96A-DDF5DD62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719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032C53-8911-4AAF-A3DD-9BF6206B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62400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032085-5AA5-4ADD-8BDA-2F38C92D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3" y="3962400"/>
            <a:ext cx="5067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THEN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56632A-19A2-4388-A17D-4060C8F5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84" y="3962400"/>
            <a:ext cx="280225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6E0B5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6E0B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6E0B5"/>
                </a:solidFill>
                <a:latin typeface="DejaVu Sans Mono"/>
                <a:ea typeface="DejaVu Sans Mono"/>
                <a:cs typeface="DejaVu Sans Mono"/>
              </a:rPr>
              <a:t>'OTHER_REFERENCE_FORMAT'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EF3B97-BBC3-4A35-B06A-674C954E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58F0CB-3E9A-4BEE-8E17-8A16B1BE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38625"/>
            <a:ext cx="5067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WHEN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22D060-F373-411F-81E5-40F48134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031" y="423862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7EE21A-BBD8-4057-B8D8-86DC2857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808" y="4238625"/>
            <a:ext cx="16240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2C883E-57A6-4468-B2BC-AC887115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84" y="4238625"/>
            <a:ext cx="1195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PATIENT_ID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504AB6-99CD-4305-B468-6C2FE45D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123" y="4238625"/>
            <a:ext cx="27717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IS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F800A5-DC0A-435C-A6C7-3D9C19B7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0451" y="4238625"/>
            <a:ext cx="5067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NULL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1E8361-F02D-476D-8BE6-394462B9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2437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F16982-8598-400A-90D3-F3FCAD3A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3" y="4514850"/>
            <a:ext cx="5067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THEN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777373-CCD0-4BE5-A4D1-28D85A9B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84" y="4514850"/>
            <a:ext cx="32613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6E0B5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6E0B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6E0B5"/>
                </a:solidFill>
                <a:latin typeface="DejaVu Sans Mono"/>
                <a:ea typeface="DejaVu Sans Mono"/>
                <a:cs typeface="DejaVu Sans Mono"/>
              </a:rPr>
              <a:t>'UNRESOLVED_IN_LOADED_BATCH'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C98E85-0FF8-4246-AD90-E39F65B6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BFFC8F-3DA1-44EE-B4A9-89458099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91075"/>
            <a:ext cx="5067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ELSE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21703F-4B9D-4B66-B567-56D484BE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031" y="4791075"/>
            <a:ext cx="11953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6E0B5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6E0B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6E0B5"/>
                </a:solidFill>
                <a:latin typeface="DejaVu Sans Mono"/>
                <a:ea typeface="DejaVu Sans Mono"/>
                <a:cs typeface="DejaVu Sans Mono"/>
              </a:rPr>
              <a:t>'RESOLVED'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117122-A3D1-4595-A21B-4307F328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768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7894AC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94C1FC9-626A-4267-A2B3-5C440B1E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67300"/>
            <a:ext cx="39195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END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7AA081-AACA-48DF-82E3-628E0E00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255" y="5067300"/>
            <a:ext cx="27717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80BFFF"/>
                </a:solidFill>
                <a:latin typeface="DejaVu Sans Mono"/>
                <a:ea typeface="DejaVu Sans Mono"/>
                <a:cs typeface="DejaVu Sans Mono"/>
              </a:rPr>
              <a:t>AS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F354C3-0602-4F26-A136-FB221E58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84" y="5067300"/>
            <a:ext cx="13101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DF3FA"/>
                </a:solidFill>
                <a:latin typeface="DejaVu Sans Mono"/>
                <a:ea typeface="DejaVu Sans Mono"/>
                <a:cs typeface="DejaVu Sans Mono"/>
              </a:rPr>
              <a:t>LINK_STATUS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2916B1-EB23-4D8F-8CBC-9A58327C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3835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6867F"/>
                </a:solidFill>
                <a:latin typeface="DejaVu Sans"/>
                <a:ea typeface="DejaVu Sans"/>
                <a:cs typeface="DejaVu Sans"/>
              </a:rPr>
              <a:t>609 records resolved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6E4D2E-55B1-419C-8948-3DA2B6C6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28900"/>
            <a:ext cx="4210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A Patient/id reference matches a Patient in the same source and batch.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289A659-396A-411E-8E52-1FA22771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81450"/>
            <a:ext cx="421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32 records remain visible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EBAFD2C-4AD9-4DB1-A5C8-4BB6EBDC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57725"/>
            <a:ext cx="42100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15 unresolved patient IDs</a:t>
            </a:r>
          </a:p>
          <a:p xmlns:a="http://schemas.openxmlformats.org/drawingml/2006/main">
            <a:pPr>
              <a:def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10 other reference formats</a:t>
            </a:r>
          </a:p>
          <a:p xmlns:a="http://schemas.openxmlformats.org/drawingml/2006/main">
            <a:pPr>
              <a:def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7 missing literal references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EB7FF13-1FEA-429B-B6EB-C88C3B5A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38925"/>
            <a:ext cx="1249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Source analysis: 641 clinical records across eight categories. Appointments use participant references separately.</a:t>
            </a:r>
          </a:p>
        </p:txBody>
      </p:sp>
    </p:spTree>
    <p:extLst>
      <p:ext uri="{BB962C8B-B14F-4D97-AF65-F5344CB8AC3E}">
        <p14:creationId xmlns:p14="http://schemas.microsoft.com/office/powerpoint/2010/main" val="19121576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50A6F-EB62-4E67-B647-96108F20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249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Cortex query design across clinical domains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A9478-5A25-4EEC-8A8B-46EA54D9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238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Business questions translate into explicit SQL, stable denominators and interpretable patient cohorts.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A6A31-6CE2-4D50-B391-911D19C6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249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35341-3A8F-47FC-B529-3FC890EA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580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Connected Care Data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B699A-9954-4AC9-8CC2-7934B91C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229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D272E-A85C-49D7-86F9-CBBCBA34C595}"/>
              </a:ext>
            </a:extLst>
          </p:cNvPr>
          <p:cNvGraphicFramePr/>
          <p:nvPr/>
        </p:nvGraphicFramePr>
        <p:xfrm>
          <a:off xmlns:a="http://schemas.openxmlformats.org/drawingml/2006/main" x="609600" y="1933575"/>
          <a:ext xmlns:a="http://schemas.openxmlformats.org/drawingml/2006/main" cx="12496800" cy="3362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33950"/>
                <a:gridCol w="3867150"/>
                <a:gridCol w="3695700"/>
              </a:tblGrid>
              <a:tr h="840581"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Business question</a:t>
                      </a:r>
                    </a:p>
                  </a:txBody>
                  <a:tcPr marL="91440" marR="91440" marT="45720" marB="45720">
                    <a:solidFill>
                      <a:srgbClr val="12375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Source benchmark</a:t>
                      </a:r>
                    </a:p>
                  </a:txBody>
                  <a:tcPr marL="91440" marR="91440" marT="45720" marB="45720">
                    <a:solidFill>
                      <a:srgbClr val="12375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Analytical capability</a:t>
                      </a:r>
                    </a:p>
                  </a:txBody>
                  <a:tcPr marL="91440" marR="91440" marT="45720" marB="45720">
                    <a:solidFill>
                      <a:srgbClr val="12375F"/>
                    </a:solidFill>
                  </a:tcPr>
                </a:tc>
              </a:tr>
              <a:tr h="840581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Where are observations available without a linked allergy record?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 of 15 observation patients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Cross-domain information coverage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40581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For PATIENT_ID = example, what records are available?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71 observations, 4 allergies, 4 conditions and 3 appointments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Patient-level drill-down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</a:tr>
              <a:tr h="840581"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Which clinical records contribute to coverage?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609 resolve; 15 unresolved IDs, 10 other formats, 7 missing references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650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Transparent reference resolution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C397A-90B5-44DD-9C05-A1D6706F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Cortex Analyst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20277-0530-46D9-9835-FA7843AF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743575"/>
            <a:ext cx="905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Semantic questions over curated metrics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2710F-3C7B-4B74-81DF-19C69557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6867F"/>
                </a:solidFill>
                <a:latin typeface="DejaVu Sans"/>
                <a:ea typeface="DejaVu Sans"/>
                <a:cs typeface="DejaVu Sans"/>
              </a:rPr>
              <a:t>Cortex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8B5AA-14D2-4DFA-8C92-E30D1312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6238875"/>
            <a:ext cx="905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Read-only SQL with exact batch and patient filters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7FA49-3928-4B6C-BE02-696A021A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72275"/>
            <a:ext cx="1249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Prepared queries and local source benchmarks. Analyst uses a semantic model; Code supports explicit SQL execution.</a:t>
            </a:r>
          </a:p>
        </p:txBody>
      </p:sp>
    </p:spTree>
    <p:extLst>
      <p:ext uri="{BB962C8B-B14F-4D97-AF65-F5344CB8AC3E}">
        <p14:creationId xmlns:p14="http://schemas.microsoft.com/office/powerpoint/2010/main" val="16951068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3002E-56EF-4EFB-8718-7FCE49FF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249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All 9 tests matched the expected visit-rule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1F29A-ECC1-4F89-A57D-D6C2310B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238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The rule included eligible glucose results and excluded results outside the configured criteria.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BA00C-DCF8-4C99-A949-500E00BF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249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0EDD5-7744-4EC1-B425-AE2AFDF8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580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Connected Care Data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B19BB-2906-4E0B-9F78-403E78A4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229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64832-197F-4A30-B667-CE868040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6867F"/>
                </a:solidFill>
                <a:latin typeface="DejaVu Sans"/>
                <a:ea typeface="DejaVu Sans"/>
                <a:cs typeface="DejaVu Sans"/>
              </a:rPr>
              <a:t>5 INCLUDED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B0E03-C519-4008-84B1-A302C788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866900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4 EXCLUDED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52896-D1B7-4D83-8DC0-0B4D1896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59340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Amended result</a:t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Corrected result</a:t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Exactly at the window start</a:t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One second before the visit</a:t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Equivalent time in another timezone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4F9FF-C866-45CD-9B72-F2F77898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581275"/>
            <a:ext cx="6000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Exactly at the appointment time</a:t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One second before the window</a:t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Missing measurement time</a:t>
            </a:r>
          </a:p>
          <a:p xmlns:a="http://schemas.openxmlformats.org/drawingml/2006/main">
            <a:pPr>
              <a:def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Preliminary result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FDB7C-BC1C-492C-AA6B-8B086300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2496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23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D4DC2-C8B4-4008-92D1-159554BF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86275"/>
            <a:ext cx="1209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Why it matters: the same eligibility rule behaves consistently at timing and status boundaries.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50375-5883-4CB3-A864-7C85FA93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590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16867F"/>
                </a:solidFill>
                <a:latin typeface="DejaVu Sans"/>
                <a:ea typeface="DejaVu Sans"/>
                <a:cs typeface="DejaVu Sans"/>
              </a:rPr>
              <a:t>9 / 9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67EA1-09D3-4002-A14C-BC89F330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Recorded SQL validation results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17C86-0CE3-431A-AE01-044DDF3C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448300"/>
            <a:ext cx="600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PASS means the SQL output matched the expected outcome, including correct exclusions.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0832D-3AB8-4ABC-B9A1-17D1AB9E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29425"/>
            <a:ext cx="1249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Source: SQL test export, 6 October 2026. Five expected inclusions and four expected exclusions.</a:t>
            </a:r>
          </a:p>
        </p:txBody>
      </p:sp>
    </p:spTree>
    <p:extLst>
      <p:ext uri="{BB962C8B-B14F-4D97-AF65-F5344CB8AC3E}">
        <p14:creationId xmlns:p14="http://schemas.microsoft.com/office/powerpoint/2010/main" val="13352790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6CA81-2DFD-4054-858B-878C4009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249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Reviewer workspace: evidence at the point of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566C4-0CE1-48AF-8425-447645C4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238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The signed-in reviewer can load a patient and inspect appointment information availability.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B365B-1873-4471-8316-DB608DFC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249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8E7BB-2CCE-4842-A851-DFC630D5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580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Connected Care Data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A178D-89AF-43EE-9F88-AB4559DC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229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F1FE1-F2CD-450A-94A5-043E884ACB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2eb3a84c34f47"/>
          <a:stretch xmlns:a="http://schemas.openxmlformats.org/drawingml/2006/main"/>
        </p:blipFill>
        <p:spPr>
          <a:xfrm xmlns:a="http://schemas.openxmlformats.org/drawingml/2006/main">
            <a:off x="1468572" y="1771650"/>
            <a:ext cx="5140056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C580E-C490-4C10-990E-5E38D745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00977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1  Authenticated session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75AA96-993E-4C45-9BB3-07E270DE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514600"/>
            <a:ext cx="5010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The header identifies the signed-in reviewer and provides a sign-out 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19EC3-E58A-4657-86D8-AB75479F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5147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2  Patient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53144-ABC6-454A-903E-5173DDEE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019550"/>
            <a:ext cx="5010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The selector and patient ID anchor the review to the chosen record.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DEF0E-4CA7-4E67-9A0C-DFA12731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50006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867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6867F"/>
                </a:solidFill>
                <a:latin typeface="DejaVu Sans"/>
                <a:ea typeface="DejaVu Sans"/>
                <a:cs typeface="DejaVu Sans"/>
              </a:rPr>
              <a:t>3  Explainable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8724D-D946-45FA-8F2E-9D157D4F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5505450"/>
            <a:ext cx="5010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0455F"/>
                </a:solidFill>
                <a:latin typeface="DejaVu Sans"/>
                <a:ea typeface="DejaVu Sans"/>
                <a:cs typeface="DejaVu Sans"/>
              </a:rPr>
              <a:t>Each appointment shows its information status and qualifying result count.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2CE09-6A86-4FE2-8F94-E7771085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38925"/>
            <a:ext cx="1249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Actual reviewer UI capture, 7 October 2026. The displayed counts belong to this operational snapshot.</a:t>
            </a:r>
          </a:p>
        </p:txBody>
      </p:sp>
    </p:spTree>
    <p:extLst>
      <p:ext uri="{BB962C8B-B14F-4D97-AF65-F5344CB8AC3E}">
        <p14:creationId xmlns:p14="http://schemas.microsoft.com/office/powerpoint/2010/main" val="13724572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35F9A-E91A-4B75-8BB6-11B42AF1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249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375F"/>
                </a:solidFill>
                <a:latin typeface="DejaVu Sans"/>
                <a:ea typeface="DejaVu Sans"/>
                <a:cs typeface="DejaVu Sans"/>
              </a:rPr>
              <a:t>Connected care through traceable information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3A0EB-D54F-481E-8528-9E7FC598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238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Clinical interoperability and cloud analytics make patient information available for structured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C35B5-0495-42C2-AF20-FCCA84B8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249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66E90-4481-4ED8-9525-9B9E184A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580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67C93"/>
                </a:solidFill>
                <a:latin typeface="DejaVu Sans"/>
                <a:ea typeface="DejaVu Sans"/>
                <a:cs typeface="DejaVu Sans"/>
              </a:rPr>
              <a:t>Connected Care Data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F9DBD-32E2-4779-BEE0-231C8155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72294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65BA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11AB2-6C25-41A8-A40E-4212C5FDECAF}"/>
              </a:ext>
            </a:extLst>
          </p:cNvPr>
          <p:cNvGraphicFramePr/>
          <p:nvPr/>
        </p:nvGraphicFramePr>
        <p:xfrm>
          <a:off xmlns:a="http://schemas.openxmlformats.org/drawingml/2006/main" x="609600" y="1914525"/>
          <a:ext xmlns:a="http://schemas.openxmlformats.org/drawingml/2006/main" cx="124968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14700"/>
                <a:gridCol w="4676775"/>
                <a:gridCol w="4505325"/>
              </a:tblGrid>
              <a:tr h="71247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Delivered capability</a:t>
                      </a:r>
                    </a:p>
                  </a:txBody>
                  <a:tcPr marL="91440" marR="91440" marT="45720" marB="45720">
                    <a:solidFill>
                      <a:srgbClr val="12375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Technical foundation</a:t>
                      </a:r>
                    </a:p>
                  </a:txBody>
                  <a:tcPr marL="91440" marR="91440" marT="45720" marB="45720">
                    <a:solidFill>
                      <a:srgbClr val="12375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Business relevance</a:t>
                      </a:r>
                    </a:p>
                  </a:txBody>
                  <a:tcPr marL="91440" marR="91440" marT="45720" marB="45720">
                    <a:solidFill>
                      <a:srgbClr val="12375F"/>
                    </a:solidFill>
                  </a:tcPr>
                </a:tc>
              </a:tr>
              <a:tr h="71247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Clinical interoperability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HL7 mapping and linked FHIR resources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Consistent patient and visit context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Cloud ingestion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S3 landing and batch-aware Snowflake loading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Repeatable movement of clinical information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</a:tr>
              <a:tr h="71247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Expanded patient analytics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933 resources, 265 patients, nine metrics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Visibility across clinical domains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Privacy and access controls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Verified identity, viewer sessions and document gates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30455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Controlled access to clinical information</a:t>
                      </a:r>
                    </a:p>
                  </a:txBody>
                  <a:tcPr marL="91440" marR="91440" marT="45720" marB="45720">
                    <a:solidFill>
                      <a:srgbClr val="EDF3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BD134-93BF-4129-AFA8-2B8BB51E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2496800" cy="8667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3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B7570-46B6-4DB9-9DC8-F08C4F85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1190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connected information flow with clear provenance, controlled access and explainable patient coverage.</a:t>
            </a:r>
          </a:p>
        </p:txBody>
      </p:sp>
    </p:spTree>
    <p:extLst>
      <p:ext uri="{BB962C8B-B14F-4D97-AF65-F5344CB8AC3E}">
        <p14:creationId xmlns:p14="http://schemas.microsoft.com/office/powerpoint/2010/main" val="16755847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2026-10-11T02:10:35.8820000Z</dcterms:created>
  <dcterms:modified xsi:type="dcterms:W3CDTF">2026-10-11T02:10:35.8820000Z</dcterms:modified>
</coreProperties>
</file>