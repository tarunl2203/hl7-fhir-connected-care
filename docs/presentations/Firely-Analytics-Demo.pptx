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20 seconds. Say: This project turns synthetic healthcare records into three useful analytics reports. We used a saved two-patient batch to demonstrate resource completeness, a glucose timeline, and information availability before appointments. Today’s analytics milestone is complete. These reports show whether expected information is present; they do not make a clinical decision.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Say: Earlier work established the HL7-to-FHIR application flow, AWS RDS storage, and an authenticated viewer. We exported a synthetic cohort and stored the files privately in S3. For this milestone, we loaded the saved export into Snowflake through an internal stage. Today we created typed Patient, Observation, and Appointment tables while retaining the source JSON and batch provenance, then built the three reports. The current analytics demonstration uses a saved batch rather than a live feed.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Say: This first report checks whether the expected resource types are present for each patient. Ravi has two observations and one appointment. Person02 has one observation and one appointment. Person02’s birth date is missing, and the report keeps that visible rather than filling it in. Both patients have the three resource types, but that does not mean every field is complete. If showing Snowflake, run only Report 1 and point to the two rows.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Say: The second report links glucose observations to the right patient and orders them by measurement time. Ravi has readings of 95 and 102 milligrams per deciliter, both on October 1, one hour apart. Person02 has a reading of 95 on October 5. All three are final results. We retain the original timestamps and display a common UTC time for comparison. I am explaining the data timeline, not interpreting the values clinically. If showing Snowflake, run only Report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35 seconds. Say: For this demonstration, we configured two appointments to require a qualifying glucose result in the previous seven days. The window includes the seven-day starting point and excludes the appointment time itself. Valid final, amended, or corrected glucose observations can qualify. Ravi has two qualifying results; Person02 has one. Both appointments therefore show information_complete. This is information availability under our configured demo rule, not a statement that a patient is medically cleared or that every clinical requirement is satisfied. If showing Snowflake, run only Report 3.</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30 seconds. Say: We retained the source JSON and provenance so the typed data can be traced to the saved batch. The typed tables contain two patients, three observations, and two appointments. Repeating each insert-only merge produced zero new rows: Observation and Appointment are supported by exported query history, and the Patient repeat was confirmed during the walkthrough. Nine focused SQL rule scenarios passed, including window boundaries, status filtering, and equivalent time zones. These checks support this bounded demonstration; they are not a complete production test suite.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25 seconds. Say: The next phase is to automate the S3-to-Snowflake path, add more batches and resource types, and strengthen operational monitoring and least-privilege access. The automated S3 route is planned work. Its AWS role authorization still needs resolution before we enable it. Today’s completed demonstration uses the internal-stage route. We can now show the SQL, the actual exported results, and the checks as a reviewable analytics milestone.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334"/>
        </a:solidFill>
        <a:effectLst/>
      </p:bgPr>
    </p:bg>
    <p:spTree>
      <p:nvGrpSpPr>
        <p:cNvPr id="1" name=""/>
        <p:cNvGrpSpPr/>
        <p:nvPr/>
      </p:nvGrpSpPr>
      <p:grpSpPr/>
      <p:sp>
        <p:nvSpPr>
          <p:cNvPr id="2" name="TextBox 1"/>
          <p:cNvSpPr txBox="1"/>
          <p:nvPr/>
        </p:nvSpPr>
        <p:spPr>
          <a:xfrm>
            <a:off x="594360" y="274320"/>
            <a:ext cx="10972800" cy="365760"/>
          </a:xfrm>
          <a:prstGeom prst="rect">
            <a:avLst/>
          </a:prstGeom>
          <a:noFill/>
        </p:spPr>
        <p:txBody>
          <a:bodyPr wrap="square">
            <a:spAutoFit/>
          </a:bodyPr>
          <a:lstStyle/>
          <a:p>
            <a:pPr>
              <a:spcAft>
                <a:spcPts val="1000"/>
              </a:spcAft>
              <a:defRPr sz="1200" b="1">
                <a:solidFill>
                  <a:srgbClr val="4DDBC1"/>
                </a:solidFill>
                <a:latin typeface="Aptos"/>
              </a:defRPr>
            </a:pPr>
            <a:r>
              <a:t>FIRELY  /  SYNTHETIC HEALTHCARE ANALYTICS</a:t>
            </a:r>
          </a:p>
        </p:txBody>
      </p:sp>
      <p:sp>
        <p:nvSpPr>
          <p:cNvPr id="3" name="TextBox 2"/>
          <p:cNvSpPr txBox="1"/>
          <p:nvPr/>
        </p:nvSpPr>
        <p:spPr>
          <a:xfrm>
            <a:off x="594360" y="777240"/>
            <a:ext cx="10972800" cy="914400"/>
          </a:xfrm>
          <a:prstGeom prst="rect">
            <a:avLst/>
          </a:prstGeom>
          <a:noFill/>
        </p:spPr>
        <p:txBody>
          <a:bodyPr wrap="square">
            <a:spAutoFit/>
          </a:bodyPr>
          <a:lstStyle/>
          <a:p>
            <a:pPr>
              <a:spcAft>
                <a:spcPts val="1000"/>
              </a:spcAft>
              <a:defRPr sz="3400" b="1">
                <a:solidFill>
                  <a:srgbClr val="F5F8FC"/>
                </a:solidFill>
                <a:latin typeface="Aptos"/>
              </a:defRPr>
            </a:pPr>
            <a:r>
              <a:t>From FHIR records to useful answers</a:t>
            </a:r>
          </a:p>
        </p:txBody>
      </p:sp>
      <p:sp>
        <p:nvSpPr>
          <p:cNvPr id="4" name="TextBox 3"/>
          <p:cNvSpPr txBox="1"/>
          <p:nvPr/>
        </p:nvSpPr>
        <p:spPr>
          <a:xfrm>
            <a:off x="594360" y="1645920"/>
            <a:ext cx="10972800" cy="594360"/>
          </a:xfrm>
          <a:prstGeom prst="rect">
            <a:avLst/>
          </a:prstGeom>
          <a:noFill/>
        </p:spPr>
        <p:txBody>
          <a:bodyPr wrap="square">
            <a:spAutoFit/>
          </a:bodyPr>
          <a:lstStyle/>
          <a:p>
            <a:pPr>
              <a:spcAft>
                <a:spcPts val="1000"/>
              </a:spcAft>
              <a:defRPr sz="1800" b="0">
                <a:solidFill>
                  <a:srgbClr val="AFC2D2"/>
                </a:solidFill>
                <a:latin typeface="Aptos"/>
              </a:defRPr>
            </a:pPr>
            <a:r>
              <a:t>A small, reproducible demonstration of healthcare data analytics.</a:t>
            </a:r>
          </a:p>
        </p:txBody>
      </p:sp>
      <p:sp>
        <p:nvSpPr>
          <p:cNvPr id="5" name="TextBox 4"/>
          <p:cNvSpPr txBox="1"/>
          <p:nvPr/>
        </p:nvSpPr>
        <p:spPr>
          <a:xfrm>
            <a:off x="594360" y="6400800"/>
            <a:ext cx="10058400" cy="228600"/>
          </a:xfrm>
          <a:prstGeom prst="rect">
            <a:avLst/>
          </a:prstGeom>
          <a:noFill/>
        </p:spPr>
        <p:txBody>
          <a:bodyPr wrap="square">
            <a:spAutoFit/>
          </a:bodyPr>
          <a:lstStyle/>
          <a:p>
            <a:pPr>
              <a:spcAft>
                <a:spcPts val="1000"/>
              </a:spcAft>
              <a:defRPr sz="1000" b="0">
                <a:solidFill>
                  <a:srgbClr val="AFC2D2"/>
                </a:solidFill>
                <a:latin typeface="Aptos"/>
              </a:defRPr>
            </a:pPr>
            <a:r>
              <a:t>Saved synthetic batch  •  October 6, 2026  •  Information availability</a:t>
            </a:r>
          </a:p>
        </p:txBody>
      </p:sp>
      <p:sp>
        <p:nvSpPr>
          <p:cNvPr id="6" name="TextBox 5"/>
          <p:cNvSpPr txBox="1"/>
          <p:nvPr/>
        </p:nvSpPr>
        <p:spPr>
          <a:xfrm>
            <a:off x="10972800" y="6400800"/>
            <a:ext cx="594360" cy="274320"/>
          </a:xfrm>
          <a:prstGeom prst="rect">
            <a:avLst/>
          </a:prstGeom>
          <a:noFill/>
        </p:spPr>
        <p:txBody>
          <a:bodyPr wrap="square">
            <a:spAutoFit/>
          </a:bodyPr>
          <a:lstStyle/>
          <a:p>
            <a:pPr>
              <a:spcAft>
                <a:spcPts val="1000"/>
              </a:spcAft>
              <a:defRPr sz="1100" b="0">
                <a:solidFill>
                  <a:srgbClr val="4DDBC1"/>
                </a:solidFill>
                <a:latin typeface="Aptos"/>
              </a:defRPr>
            </a:pPr>
            <a:r>
              <a:t>01</a:t>
            </a:r>
          </a:p>
        </p:txBody>
      </p:sp>
      <p:sp>
        <p:nvSpPr>
          <p:cNvPr id="7" name="Rounded Rectangle 6"/>
          <p:cNvSpPr/>
          <p:nvPr/>
        </p:nvSpPr>
        <p:spPr>
          <a:xfrm>
            <a:off x="640080" y="2560320"/>
            <a:ext cx="3383280" cy="219456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743200"/>
            <a:ext cx="2926080" cy="868680"/>
          </a:xfrm>
          <a:prstGeom prst="rect">
            <a:avLst/>
          </a:prstGeom>
          <a:noFill/>
        </p:spPr>
        <p:txBody>
          <a:bodyPr wrap="square">
            <a:spAutoFit/>
          </a:bodyPr>
          <a:lstStyle/>
          <a:p>
            <a:pPr>
              <a:spcAft>
                <a:spcPts val="1000"/>
              </a:spcAft>
              <a:defRPr sz="5400" b="1">
                <a:solidFill>
                  <a:srgbClr val="4DDBC1"/>
                </a:solidFill>
                <a:latin typeface="Aptos"/>
              </a:defRPr>
            </a:pPr>
            <a:r>
              <a:t>2</a:t>
            </a:r>
          </a:p>
        </p:txBody>
      </p:sp>
      <p:sp>
        <p:nvSpPr>
          <p:cNvPr id="9" name="TextBox 8"/>
          <p:cNvSpPr txBox="1"/>
          <p:nvPr/>
        </p:nvSpPr>
        <p:spPr>
          <a:xfrm>
            <a:off x="868680" y="3794760"/>
            <a:ext cx="2926080" cy="457200"/>
          </a:xfrm>
          <a:prstGeom prst="rect">
            <a:avLst/>
          </a:prstGeom>
          <a:noFill/>
        </p:spPr>
        <p:txBody>
          <a:bodyPr wrap="square">
            <a:spAutoFit/>
          </a:bodyPr>
          <a:lstStyle/>
          <a:p>
            <a:pPr>
              <a:spcAft>
                <a:spcPts val="1000"/>
              </a:spcAft>
              <a:defRPr sz="2200" b="0">
                <a:solidFill>
                  <a:srgbClr val="F5F8FC"/>
                </a:solidFill>
                <a:latin typeface="Aptos"/>
              </a:defRPr>
            </a:pPr>
            <a:r>
              <a:t>Patients</a:t>
            </a:r>
          </a:p>
        </p:txBody>
      </p:sp>
      <p:sp>
        <p:nvSpPr>
          <p:cNvPr id="10" name="Rounded Rectangle 9"/>
          <p:cNvSpPr/>
          <p:nvPr/>
        </p:nvSpPr>
        <p:spPr>
          <a:xfrm>
            <a:off x="4389120" y="2560320"/>
            <a:ext cx="3383280" cy="219456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17720" y="2743200"/>
            <a:ext cx="2926080" cy="868680"/>
          </a:xfrm>
          <a:prstGeom prst="rect">
            <a:avLst/>
          </a:prstGeom>
          <a:noFill/>
        </p:spPr>
        <p:txBody>
          <a:bodyPr wrap="square">
            <a:spAutoFit/>
          </a:bodyPr>
          <a:lstStyle/>
          <a:p>
            <a:pPr>
              <a:spcAft>
                <a:spcPts val="1000"/>
              </a:spcAft>
              <a:defRPr sz="5400" b="1">
                <a:solidFill>
                  <a:srgbClr val="4DDBC1"/>
                </a:solidFill>
                <a:latin typeface="Aptos"/>
              </a:defRPr>
            </a:pPr>
            <a:r>
              <a:t>3</a:t>
            </a:r>
          </a:p>
        </p:txBody>
      </p:sp>
      <p:sp>
        <p:nvSpPr>
          <p:cNvPr id="12" name="TextBox 11"/>
          <p:cNvSpPr txBox="1"/>
          <p:nvPr/>
        </p:nvSpPr>
        <p:spPr>
          <a:xfrm>
            <a:off x="4617720" y="3794760"/>
            <a:ext cx="2926080" cy="457200"/>
          </a:xfrm>
          <a:prstGeom prst="rect">
            <a:avLst/>
          </a:prstGeom>
          <a:noFill/>
        </p:spPr>
        <p:txBody>
          <a:bodyPr wrap="square">
            <a:spAutoFit/>
          </a:bodyPr>
          <a:lstStyle/>
          <a:p>
            <a:pPr>
              <a:spcAft>
                <a:spcPts val="1000"/>
              </a:spcAft>
              <a:defRPr sz="2200" b="0">
                <a:solidFill>
                  <a:srgbClr val="F5F8FC"/>
                </a:solidFill>
                <a:latin typeface="Aptos"/>
              </a:defRPr>
            </a:pPr>
            <a:r>
              <a:t>Glucose observations</a:t>
            </a:r>
          </a:p>
        </p:txBody>
      </p:sp>
      <p:sp>
        <p:nvSpPr>
          <p:cNvPr id="13" name="Rounded Rectangle 12"/>
          <p:cNvSpPr/>
          <p:nvPr/>
        </p:nvSpPr>
        <p:spPr>
          <a:xfrm>
            <a:off x="8138160" y="2560320"/>
            <a:ext cx="3383280" cy="219456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66760" y="2743200"/>
            <a:ext cx="2926080" cy="868680"/>
          </a:xfrm>
          <a:prstGeom prst="rect">
            <a:avLst/>
          </a:prstGeom>
          <a:noFill/>
        </p:spPr>
        <p:txBody>
          <a:bodyPr wrap="square">
            <a:spAutoFit/>
          </a:bodyPr>
          <a:lstStyle/>
          <a:p>
            <a:pPr>
              <a:spcAft>
                <a:spcPts val="1000"/>
              </a:spcAft>
              <a:defRPr sz="5400" b="1">
                <a:solidFill>
                  <a:srgbClr val="4DDBC1"/>
                </a:solidFill>
                <a:latin typeface="Aptos"/>
              </a:defRPr>
            </a:pPr>
            <a:r>
              <a:t>2</a:t>
            </a:r>
          </a:p>
        </p:txBody>
      </p:sp>
      <p:sp>
        <p:nvSpPr>
          <p:cNvPr id="15" name="TextBox 14"/>
          <p:cNvSpPr txBox="1"/>
          <p:nvPr/>
        </p:nvSpPr>
        <p:spPr>
          <a:xfrm>
            <a:off x="8366760" y="3794760"/>
            <a:ext cx="2926080" cy="457200"/>
          </a:xfrm>
          <a:prstGeom prst="rect">
            <a:avLst/>
          </a:prstGeom>
          <a:noFill/>
        </p:spPr>
        <p:txBody>
          <a:bodyPr wrap="square">
            <a:spAutoFit/>
          </a:bodyPr>
          <a:lstStyle/>
          <a:p>
            <a:pPr>
              <a:spcAft>
                <a:spcPts val="1000"/>
              </a:spcAft>
              <a:defRPr sz="2200" b="0">
                <a:solidFill>
                  <a:srgbClr val="F5F8FC"/>
                </a:solidFill>
                <a:latin typeface="Aptos"/>
              </a:defRPr>
            </a:pPr>
            <a:r>
              <a:t>Appointments</a:t>
            </a:r>
          </a:p>
        </p:txBody>
      </p:sp>
      <p:sp>
        <p:nvSpPr>
          <p:cNvPr id="16" name="TextBox 15"/>
          <p:cNvSpPr txBox="1"/>
          <p:nvPr/>
        </p:nvSpPr>
        <p:spPr>
          <a:xfrm>
            <a:off x="731520" y="5303520"/>
            <a:ext cx="10789920" cy="640080"/>
          </a:xfrm>
          <a:prstGeom prst="rect">
            <a:avLst/>
          </a:prstGeom>
          <a:noFill/>
        </p:spPr>
        <p:txBody>
          <a:bodyPr wrap="square">
            <a:spAutoFit/>
          </a:bodyPr>
          <a:lstStyle/>
          <a:p>
            <a:pPr>
              <a:spcAft>
                <a:spcPts val="1000"/>
              </a:spcAft>
              <a:defRPr sz="2400" b="1">
                <a:solidFill>
                  <a:srgbClr val="F5F8FC"/>
                </a:solidFill>
                <a:latin typeface="Aptos"/>
              </a:defRPr>
            </a:pPr>
            <a:r>
              <a:t>Three reports • Typed SQL tables • Verified repeat behavior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02334"/>
        </a:solidFill>
        <a:effectLst/>
      </p:bgPr>
    </p:bg>
    <p:spTree>
      <p:nvGrpSpPr>
        <p:cNvPr id="1" name=""/>
        <p:cNvGrpSpPr/>
        <p:nvPr/>
      </p:nvGrpSpPr>
      <p:grpSpPr/>
      <p:sp>
        <p:nvSpPr>
          <p:cNvPr id="2" name="TextBox 1"/>
          <p:cNvSpPr txBox="1"/>
          <p:nvPr/>
        </p:nvSpPr>
        <p:spPr>
          <a:xfrm>
            <a:off x="594360" y="274320"/>
            <a:ext cx="10972800" cy="365760"/>
          </a:xfrm>
          <a:prstGeom prst="rect">
            <a:avLst/>
          </a:prstGeom>
          <a:noFill/>
        </p:spPr>
        <p:txBody>
          <a:bodyPr wrap="square">
            <a:spAutoFit/>
          </a:bodyPr>
          <a:lstStyle/>
          <a:p>
            <a:pPr>
              <a:spcAft>
                <a:spcPts val="1000"/>
              </a:spcAft>
              <a:defRPr sz="1200" b="1">
                <a:solidFill>
                  <a:srgbClr val="4DDBC1"/>
                </a:solidFill>
                <a:latin typeface="Aptos"/>
              </a:defRPr>
            </a:pPr>
            <a:r>
              <a:t>FIRELY  /  SYNTHETIC HEALTHCARE ANALYTICS</a:t>
            </a:r>
          </a:p>
        </p:txBody>
      </p:sp>
      <p:sp>
        <p:nvSpPr>
          <p:cNvPr id="3" name="TextBox 2"/>
          <p:cNvSpPr txBox="1"/>
          <p:nvPr/>
        </p:nvSpPr>
        <p:spPr>
          <a:xfrm>
            <a:off x="594360" y="777240"/>
            <a:ext cx="10972800" cy="914400"/>
          </a:xfrm>
          <a:prstGeom prst="rect">
            <a:avLst/>
          </a:prstGeom>
          <a:noFill/>
        </p:spPr>
        <p:txBody>
          <a:bodyPr wrap="square">
            <a:spAutoFit/>
          </a:bodyPr>
          <a:lstStyle/>
          <a:p>
            <a:pPr>
              <a:spcAft>
                <a:spcPts val="1000"/>
              </a:spcAft>
              <a:defRPr sz="3400" b="1">
                <a:solidFill>
                  <a:srgbClr val="F5F8FC"/>
                </a:solidFill>
                <a:latin typeface="Aptos"/>
              </a:defRPr>
            </a:pPr>
            <a:r>
              <a:t>How the data reaches the reports</a:t>
            </a:r>
          </a:p>
        </p:txBody>
      </p:sp>
      <p:sp>
        <p:nvSpPr>
          <p:cNvPr id="4" name="TextBox 3"/>
          <p:cNvSpPr txBox="1"/>
          <p:nvPr/>
        </p:nvSpPr>
        <p:spPr>
          <a:xfrm>
            <a:off x="594360" y="1645920"/>
            <a:ext cx="10972800" cy="594360"/>
          </a:xfrm>
          <a:prstGeom prst="rect">
            <a:avLst/>
          </a:prstGeom>
          <a:noFill/>
        </p:spPr>
        <p:txBody>
          <a:bodyPr wrap="square">
            <a:spAutoFit/>
          </a:bodyPr>
          <a:lstStyle/>
          <a:p>
            <a:pPr>
              <a:spcAft>
                <a:spcPts val="1000"/>
              </a:spcAft>
              <a:defRPr sz="1800" b="0">
                <a:solidFill>
                  <a:srgbClr val="AFC2D2"/>
                </a:solidFill>
                <a:latin typeface="Aptos"/>
              </a:defRPr>
            </a:pPr>
            <a:r>
              <a:t>Existing application work → saved export → today’s analytics.</a:t>
            </a:r>
          </a:p>
        </p:txBody>
      </p:sp>
      <p:sp>
        <p:nvSpPr>
          <p:cNvPr id="5" name="TextBox 4"/>
          <p:cNvSpPr txBox="1"/>
          <p:nvPr/>
        </p:nvSpPr>
        <p:spPr>
          <a:xfrm>
            <a:off x="594360" y="6400800"/>
            <a:ext cx="10058400" cy="228600"/>
          </a:xfrm>
          <a:prstGeom prst="rect">
            <a:avLst/>
          </a:prstGeom>
          <a:noFill/>
        </p:spPr>
        <p:txBody>
          <a:bodyPr wrap="square">
            <a:spAutoFit/>
          </a:bodyPr>
          <a:lstStyle/>
          <a:p>
            <a:pPr>
              <a:spcAft>
                <a:spcPts val="1000"/>
              </a:spcAft>
              <a:defRPr sz="1000" b="0">
                <a:solidFill>
                  <a:srgbClr val="AFC2D2"/>
                </a:solidFill>
                <a:latin typeface="Aptos"/>
              </a:defRPr>
            </a:pPr>
            <a:r>
              <a:t>Saved synthetic batch  •  October 6, 2026  •  Information availability</a:t>
            </a:r>
          </a:p>
        </p:txBody>
      </p:sp>
      <p:sp>
        <p:nvSpPr>
          <p:cNvPr id="6" name="TextBox 5"/>
          <p:cNvSpPr txBox="1"/>
          <p:nvPr/>
        </p:nvSpPr>
        <p:spPr>
          <a:xfrm>
            <a:off x="10972800" y="6400800"/>
            <a:ext cx="594360" cy="274320"/>
          </a:xfrm>
          <a:prstGeom prst="rect">
            <a:avLst/>
          </a:prstGeom>
          <a:noFill/>
        </p:spPr>
        <p:txBody>
          <a:bodyPr wrap="square">
            <a:spAutoFit/>
          </a:bodyPr>
          <a:lstStyle/>
          <a:p>
            <a:pPr>
              <a:spcAft>
                <a:spcPts val="1000"/>
              </a:spcAft>
              <a:defRPr sz="1100" b="0">
                <a:solidFill>
                  <a:srgbClr val="4DDBC1"/>
                </a:solidFill>
                <a:latin typeface="Aptos"/>
              </a:defRPr>
            </a:pPr>
            <a:r>
              <a:t>02</a:t>
            </a:r>
          </a:p>
        </p:txBody>
      </p:sp>
      <p:sp>
        <p:nvSpPr>
          <p:cNvPr id="7" name="Rounded Rectangle 6"/>
          <p:cNvSpPr/>
          <p:nvPr/>
        </p:nvSpPr>
        <p:spPr>
          <a:xfrm>
            <a:off x="640080" y="2560320"/>
            <a:ext cx="3383280" cy="246888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788920"/>
            <a:ext cx="3017520" cy="502920"/>
          </a:xfrm>
          <a:prstGeom prst="rect">
            <a:avLst/>
          </a:prstGeom>
          <a:noFill/>
        </p:spPr>
        <p:txBody>
          <a:bodyPr wrap="square">
            <a:spAutoFit/>
          </a:bodyPr>
          <a:lstStyle/>
          <a:p>
            <a:pPr>
              <a:spcAft>
                <a:spcPts val="1000"/>
              </a:spcAft>
              <a:defRPr sz="2300" b="1">
                <a:solidFill>
                  <a:srgbClr val="4DDBC1"/>
                </a:solidFill>
                <a:latin typeface="Aptos"/>
              </a:defRPr>
            </a:pPr>
            <a:r>
              <a:t>01  Application</a:t>
            </a:r>
          </a:p>
        </p:txBody>
      </p:sp>
      <p:sp>
        <p:nvSpPr>
          <p:cNvPr id="9" name="TextBox 8"/>
          <p:cNvSpPr txBox="1"/>
          <p:nvPr/>
        </p:nvSpPr>
        <p:spPr>
          <a:xfrm>
            <a:off x="822959" y="3520440"/>
            <a:ext cx="3017520" cy="1188720"/>
          </a:xfrm>
          <a:prstGeom prst="rect">
            <a:avLst/>
          </a:prstGeom>
          <a:noFill/>
        </p:spPr>
        <p:txBody>
          <a:bodyPr wrap="square">
            <a:spAutoFit/>
          </a:bodyPr>
          <a:lstStyle/>
          <a:p>
            <a:pPr>
              <a:spcAft>
                <a:spcPts val="1000"/>
              </a:spcAft>
              <a:defRPr sz="2000" b="0">
                <a:solidFill>
                  <a:srgbClr val="F5F8FC"/>
                </a:solidFill>
                <a:latin typeface="Aptos"/>
              </a:defRPr>
            </a:pPr>
            <a:r>
              <a:t>HL7 → FHIR</a:t>
            </a:r>
          </a:p>
          <a:p>
            <a:pPr>
              <a:spcAft>
                <a:spcPts val="1000"/>
              </a:spcAft>
              <a:defRPr sz="2000" b="0">
                <a:solidFill>
                  <a:srgbClr val="F5F8FC"/>
                </a:solidFill>
                <a:latin typeface="Aptos"/>
              </a:defRPr>
            </a:pPr>
            <a:r>
              <a:t>AWS RDS + authenticated viewer</a:t>
            </a:r>
          </a:p>
        </p:txBody>
      </p:sp>
      <p:sp>
        <p:nvSpPr>
          <p:cNvPr id="10" name="Rounded Rectangle 9"/>
          <p:cNvSpPr/>
          <p:nvPr/>
        </p:nvSpPr>
        <p:spPr>
          <a:xfrm>
            <a:off x="4389120" y="2560320"/>
            <a:ext cx="3383280" cy="246888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2788920"/>
            <a:ext cx="3017520" cy="502920"/>
          </a:xfrm>
          <a:prstGeom prst="rect">
            <a:avLst/>
          </a:prstGeom>
          <a:noFill/>
        </p:spPr>
        <p:txBody>
          <a:bodyPr wrap="square">
            <a:spAutoFit/>
          </a:bodyPr>
          <a:lstStyle/>
          <a:p>
            <a:pPr>
              <a:spcAft>
                <a:spcPts val="1000"/>
              </a:spcAft>
              <a:defRPr sz="2300" b="1">
                <a:solidFill>
                  <a:srgbClr val="4DDBC1"/>
                </a:solidFill>
                <a:latin typeface="Aptos"/>
              </a:defRPr>
            </a:pPr>
            <a:r>
              <a:t>02  Export</a:t>
            </a:r>
          </a:p>
        </p:txBody>
      </p:sp>
      <p:sp>
        <p:nvSpPr>
          <p:cNvPr id="12" name="TextBox 11"/>
          <p:cNvSpPr txBox="1"/>
          <p:nvPr/>
        </p:nvSpPr>
        <p:spPr>
          <a:xfrm>
            <a:off x="4572000" y="3520440"/>
            <a:ext cx="3017520" cy="1188720"/>
          </a:xfrm>
          <a:prstGeom prst="rect">
            <a:avLst/>
          </a:prstGeom>
          <a:noFill/>
        </p:spPr>
        <p:txBody>
          <a:bodyPr wrap="square">
            <a:spAutoFit/>
          </a:bodyPr>
          <a:lstStyle/>
          <a:p>
            <a:pPr>
              <a:spcAft>
                <a:spcPts val="1000"/>
              </a:spcAft>
              <a:defRPr sz="2000" b="0">
                <a:solidFill>
                  <a:srgbClr val="F5F8FC"/>
                </a:solidFill>
                <a:latin typeface="Aptos"/>
              </a:defRPr>
            </a:pPr>
            <a:r>
              <a:t>Authorized synthetic export</a:t>
            </a:r>
          </a:p>
          <a:p>
            <a:pPr>
              <a:spcAft>
                <a:spcPts val="1000"/>
              </a:spcAft>
              <a:defRPr sz="2000" b="0">
                <a:solidFill>
                  <a:srgbClr val="F5F8FC"/>
                </a:solidFill>
                <a:latin typeface="Aptos"/>
              </a:defRPr>
            </a:pPr>
            <a:r>
              <a:t>Private S3 batch</a:t>
            </a:r>
          </a:p>
        </p:txBody>
      </p:sp>
      <p:sp>
        <p:nvSpPr>
          <p:cNvPr id="13" name="Rounded Rectangle 12"/>
          <p:cNvSpPr/>
          <p:nvPr/>
        </p:nvSpPr>
        <p:spPr>
          <a:xfrm>
            <a:off x="8138160" y="2560320"/>
            <a:ext cx="3383280" cy="246888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0" y="2788920"/>
            <a:ext cx="3017520" cy="502920"/>
          </a:xfrm>
          <a:prstGeom prst="rect">
            <a:avLst/>
          </a:prstGeom>
          <a:noFill/>
        </p:spPr>
        <p:txBody>
          <a:bodyPr wrap="square">
            <a:spAutoFit/>
          </a:bodyPr>
          <a:lstStyle/>
          <a:p>
            <a:pPr>
              <a:spcAft>
                <a:spcPts val="1000"/>
              </a:spcAft>
              <a:defRPr sz="2300" b="1">
                <a:solidFill>
                  <a:srgbClr val="4DDBC1"/>
                </a:solidFill>
                <a:latin typeface="Aptos"/>
              </a:defRPr>
            </a:pPr>
            <a:r>
              <a:t>03  Analytics</a:t>
            </a:r>
          </a:p>
        </p:txBody>
      </p:sp>
      <p:sp>
        <p:nvSpPr>
          <p:cNvPr id="15" name="TextBox 14"/>
          <p:cNvSpPr txBox="1"/>
          <p:nvPr/>
        </p:nvSpPr>
        <p:spPr>
          <a:xfrm>
            <a:off x="8321040" y="3520440"/>
            <a:ext cx="3017520" cy="1188720"/>
          </a:xfrm>
          <a:prstGeom prst="rect">
            <a:avLst/>
          </a:prstGeom>
          <a:noFill/>
        </p:spPr>
        <p:txBody>
          <a:bodyPr wrap="square">
            <a:spAutoFit/>
          </a:bodyPr>
          <a:lstStyle/>
          <a:p>
            <a:pPr>
              <a:spcAft>
                <a:spcPts val="1000"/>
              </a:spcAft>
              <a:defRPr sz="2000" b="0">
                <a:solidFill>
                  <a:srgbClr val="F5F8FC"/>
                </a:solidFill>
                <a:latin typeface="Aptos"/>
              </a:defRPr>
            </a:pPr>
            <a:r>
              <a:t>Internal stage → RAW</a:t>
            </a:r>
          </a:p>
          <a:p>
            <a:pPr>
              <a:spcAft>
                <a:spcPts val="1000"/>
              </a:spcAft>
              <a:defRPr sz="2000" b="0">
                <a:solidFill>
                  <a:srgbClr val="F5F8FC"/>
                </a:solidFill>
                <a:latin typeface="Aptos"/>
              </a:defRPr>
            </a:pPr>
            <a:r>
              <a:t>Typed tables → SQL reports</a:t>
            </a:r>
          </a:p>
        </p:txBody>
      </p:sp>
      <p:sp>
        <p:nvSpPr>
          <p:cNvPr id="16" name="TextBox 15"/>
          <p:cNvSpPr txBox="1"/>
          <p:nvPr/>
        </p:nvSpPr>
        <p:spPr>
          <a:xfrm>
            <a:off x="731520" y="5394960"/>
            <a:ext cx="10789920" cy="640080"/>
          </a:xfrm>
          <a:prstGeom prst="rect">
            <a:avLst/>
          </a:prstGeom>
          <a:noFill/>
        </p:spPr>
        <p:txBody>
          <a:bodyPr wrap="square">
            <a:spAutoFit/>
          </a:bodyPr>
          <a:lstStyle/>
          <a:p>
            <a:pPr>
              <a:spcAft>
                <a:spcPts val="1000"/>
              </a:spcAft>
              <a:defRPr sz="2200" b="1">
                <a:solidFill>
                  <a:srgbClr val="F5F8FC"/>
                </a:solidFill>
                <a:latin typeface="Aptos"/>
              </a:defRPr>
            </a:pPr>
            <a:r>
              <a:t>Today’s route: saved export → Snowflake internal stage →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2334"/>
        </a:solidFill>
        <a:effectLst/>
      </p:bgPr>
    </p:bg>
    <p:spTree>
      <p:nvGrpSpPr>
        <p:cNvPr id="1" name=""/>
        <p:cNvGrpSpPr/>
        <p:nvPr/>
      </p:nvGrpSpPr>
      <p:grpSpPr/>
      <p:sp>
        <p:nvSpPr>
          <p:cNvPr id="2" name="TextBox 1"/>
          <p:cNvSpPr txBox="1"/>
          <p:nvPr/>
        </p:nvSpPr>
        <p:spPr>
          <a:xfrm>
            <a:off x="594360" y="274320"/>
            <a:ext cx="10972800" cy="365760"/>
          </a:xfrm>
          <a:prstGeom prst="rect">
            <a:avLst/>
          </a:prstGeom>
          <a:noFill/>
        </p:spPr>
        <p:txBody>
          <a:bodyPr wrap="square">
            <a:spAutoFit/>
          </a:bodyPr>
          <a:lstStyle/>
          <a:p>
            <a:pPr>
              <a:spcAft>
                <a:spcPts val="1000"/>
              </a:spcAft>
              <a:defRPr sz="1200" b="1">
                <a:solidFill>
                  <a:srgbClr val="4DDBC1"/>
                </a:solidFill>
                <a:latin typeface="Aptos"/>
              </a:defRPr>
            </a:pPr>
            <a:r>
              <a:t>FIRELY  /  SYNTHETIC HEALTHCARE ANALYTICS</a:t>
            </a:r>
          </a:p>
        </p:txBody>
      </p:sp>
      <p:sp>
        <p:nvSpPr>
          <p:cNvPr id="3" name="TextBox 2"/>
          <p:cNvSpPr txBox="1"/>
          <p:nvPr/>
        </p:nvSpPr>
        <p:spPr>
          <a:xfrm>
            <a:off x="594360" y="777240"/>
            <a:ext cx="10972800" cy="914400"/>
          </a:xfrm>
          <a:prstGeom prst="rect">
            <a:avLst/>
          </a:prstGeom>
          <a:noFill/>
        </p:spPr>
        <p:txBody>
          <a:bodyPr wrap="square">
            <a:spAutoFit/>
          </a:bodyPr>
          <a:lstStyle/>
          <a:p>
            <a:pPr>
              <a:spcAft>
                <a:spcPts val="1000"/>
              </a:spcAft>
              <a:defRPr sz="3400" b="1">
                <a:solidFill>
                  <a:srgbClr val="F5F8FC"/>
                </a:solidFill>
                <a:latin typeface="Aptos"/>
              </a:defRPr>
            </a:pPr>
            <a:r>
              <a:t>Report 1  |  Is the cohort complete?</a:t>
            </a:r>
          </a:p>
        </p:txBody>
      </p:sp>
      <p:sp>
        <p:nvSpPr>
          <p:cNvPr id="4" name="TextBox 3"/>
          <p:cNvSpPr txBox="1"/>
          <p:nvPr/>
        </p:nvSpPr>
        <p:spPr>
          <a:xfrm>
            <a:off x="594360" y="1645920"/>
            <a:ext cx="10972800" cy="594360"/>
          </a:xfrm>
          <a:prstGeom prst="rect">
            <a:avLst/>
          </a:prstGeom>
          <a:noFill/>
        </p:spPr>
        <p:txBody>
          <a:bodyPr wrap="square">
            <a:spAutoFit/>
          </a:bodyPr>
          <a:lstStyle/>
          <a:p>
            <a:pPr>
              <a:spcAft>
                <a:spcPts val="1000"/>
              </a:spcAft>
              <a:defRPr sz="1800" b="0">
                <a:solidFill>
                  <a:srgbClr val="AFC2D2"/>
                </a:solidFill>
                <a:latin typeface="Aptos"/>
              </a:defRPr>
            </a:pPr>
            <a:r>
              <a:t>Both patients have observations and appointments; a missing birth date stays visible.</a:t>
            </a:r>
          </a:p>
        </p:txBody>
      </p:sp>
      <p:sp>
        <p:nvSpPr>
          <p:cNvPr id="5" name="TextBox 4"/>
          <p:cNvSpPr txBox="1"/>
          <p:nvPr/>
        </p:nvSpPr>
        <p:spPr>
          <a:xfrm>
            <a:off x="594360" y="6400800"/>
            <a:ext cx="10058400" cy="228600"/>
          </a:xfrm>
          <a:prstGeom prst="rect">
            <a:avLst/>
          </a:prstGeom>
          <a:noFill/>
        </p:spPr>
        <p:txBody>
          <a:bodyPr wrap="square">
            <a:spAutoFit/>
          </a:bodyPr>
          <a:lstStyle/>
          <a:p>
            <a:pPr>
              <a:spcAft>
                <a:spcPts val="1000"/>
              </a:spcAft>
              <a:defRPr sz="1000" b="0">
                <a:solidFill>
                  <a:srgbClr val="AFC2D2"/>
                </a:solidFill>
                <a:latin typeface="Aptos"/>
              </a:defRPr>
            </a:pPr>
            <a:r>
              <a:t>Saved synthetic batch  •  October 6, 2026  •  Information availability</a:t>
            </a:r>
          </a:p>
        </p:txBody>
      </p:sp>
      <p:sp>
        <p:nvSpPr>
          <p:cNvPr id="6" name="TextBox 5"/>
          <p:cNvSpPr txBox="1"/>
          <p:nvPr/>
        </p:nvSpPr>
        <p:spPr>
          <a:xfrm>
            <a:off x="10972800" y="6400800"/>
            <a:ext cx="594360" cy="274320"/>
          </a:xfrm>
          <a:prstGeom prst="rect">
            <a:avLst/>
          </a:prstGeom>
          <a:noFill/>
        </p:spPr>
        <p:txBody>
          <a:bodyPr wrap="square">
            <a:spAutoFit/>
          </a:bodyPr>
          <a:lstStyle/>
          <a:p>
            <a:pPr>
              <a:spcAft>
                <a:spcPts val="1000"/>
              </a:spcAft>
              <a:defRPr sz="1100" b="0">
                <a:solidFill>
                  <a:srgbClr val="4DDBC1"/>
                </a:solidFill>
                <a:latin typeface="Aptos"/>
              </a:defRPr>
            </a:pPr>
            <a:r>
              <a:t>03</a:t>
            </a:r>
          </a:p>
        </p:txBody>
      </p:sp>
      <p:graphicFrame>
        <p:nvGraphicFramePr>
          <p:cNvPr id="7" name="Table 6"/>
          <p:cNvGraphicFramePr>
            <a:graphicFrameLocks noGrp="1"/>
          </p:cNvGraphicFramePr>
          <p:nvPr/>
        </p:nvGraphicFramePr>
        <p:xfrm>
          <a:off x="640080" y="2468880"/>
          <a:ext cx="10881360" cy="1837944"/>
        </p:xfrm>
        <a:graphic>
          <a:graphicData uri="http://schemas.openxmlformats.org/drawingml/2006/table">
            <a:tbl>
              <a:tblPr firstRow="1" bandRow="1">
                <a:tableStyleId>{5C22544A-7EE6-4342-B048-85BDC9FD1C3A}</a:tableStyleId>
              </a:tblPr>
              <a:tblGrid>
                <a:gridCol w="3108960"/>
                <a:gridCol w="2286000"/>
                <a:gridCol w="2743200"/>
                <a:gridCol w="2743200"/>
              </a:tblGrid>
              <a:tr h="612648">
                <a:tc>
                  <a:txBody>
                    <a:bodyPr/>
                    <a:lstStyle/>
                    <a:p>
                      <a:pPr>
                        <a:defRPr sz="1800" b="1">
                          <a:solidFill>
                            <a:srgbClr val="F5F8FC"/>
                          </a:solidFill>
                          <a:latin typeface="Aptos"/>
                        </a:defRPr>
                      </a:pPr>
                      <a:r>
                        <a:t>Patient</a:t>
                      </a:r>
                    </a:p>
                  </a:txBody>
                  <a:tcPr marL="146304" marT="118872">
                    <a:solidFill>
                      <a:srgbClr val="245369"/>
                    </a:solidFill>
                  </a:tcPr>
                </a:tc>
                <a:tc>
                  <a:txBody>
                    <a:bodyPr/>
                    <a:lstStyle/>
                    <a:p>
                      <a:pPr>
                        <a:defRPr sz="1800" b="1">
                          <a:solidFill>
                            <a:srgbClr val="F5F8FC"/>
                          </a:solidFill>
                          <a:latin typeface="Aptos"/>
                        </a:defRPr>
                      </a:pPr>
                      <a:r>
                        <a:t>Birth date</a:t>
                      </a:r>
                    </a:p>
                  </a:txBody>
                  <a:tcPr marL="146304" marT="118872">
                    <a:solidFill>
                      <a:srgbClr val="245369"/>
                    </a:solidFill>
                  </a:tcPr>
                </a:tc>
                <a:tc>
                  <a:txBody>
                    <a:bodyPr/>
                    <a:lstStyle/>
                    <a:p>
                      <a:pPr>
                        <a:defRPr sz="1800" b="1">
                          <a:solidFill>
                            <a:srgbClr val="F5F8FC"/>
                          </a:solidFill>
                          <a:latin typeface="Aptos"/>
                        </a:defRPr>
                      </a:pPr>
                      <a:r>
                        <a:t>Observations</a:t>
                      </a:r>
                    </a:p>
                  </a:txBody>
                  <a:tcPr marL="146304" marT="118872">
                    <a:solidFill>
                      <a:srgbClr val="245369"/>
                    </a:solidFill>
                  </a:tcPr>
                </a:tc>
                <a:tc>
                  <a:txBody>
                    <a:bodyPr/>
                    <a:lstStyle/>
                    <a:p>
                      <a:pPr>
                        <a:defRPr sz="1800" b="1">
                          <a:solidFill>
                            <a:srgbClr val="F5F8FC"/>
                          </a:solidFill>
                          <a:latin typeface="Aptos"/>
                        </a:defRPr>
                      </a:pPr>
                      <a:r>
                        <a:t>Appointments</a:t>
                      </a:r>
                    </a:p>
                  </a:txBody>
                  <a:tcPr marL="146304" marT="118872">
                    <a:solidFill>
                      <a:srgbClr val="245369"/>
                    </a:solidFill>
                  </a:tcPr>
                </a:tc>
              </a:tr>
              <a:tr h="612648">
                <a:tc>
                  <a:txBody>
                    <a:bodyPr/>
                    <a:lstStyle/>
                    <a:p>
                      <a:pPr>
                        <a:defRPr sz="1800" b="0">
                          <a:solidFill>
                            <a:srgbClr val="F5F8FC"/>
                          </a:solidFill>
                          <a:latin typeface="Aptos"/>
                        </a:defRPr>
                      </a:pPr>
                      <a:r>
                        <a:t>Ravi Demo</a:t>
                      </a:r>
                    </a:p>
                  </a:txBody>
                  <a:tcPr marL="146304" marT="118872">
                    <a:solidFill>
                      <a:srgbClr val="1C3549"/>
                    </a:solidFill>
                  </a:tcPr>
                </a:tc>
                <a:tc>
                  <a:txBody>
                    <a:bodyPr/>
                    <a:lstStyle/>
                    <a:p>
                      <a:pPr>
                        <a:defRPr sz="1800" b="0">
                          <a:solidFill>
                            <a:srgbClr val="F5F8FC"/>
                          </a:solidFill>
                          <a:latin typeface="Aptos"/>
                        </a:defRPr>
                      </a:pPr>
                      <a:r>
                        <a:t>Valid</a:t>
                      </a:r>
                    </a:p>
                  </a:txBody>
                  <a:tcPr marL="146304" marT="118872">
                    <a:solidFill>
                      <a:srgbClr val="1C3549"/>
                    </a:solidFill>
                  </a:tcPr>
                </a:tc>
                <a:tc>
                  <a:txBody>
                    <a:bodyPr/>
                    <a:lstStyle/>
                    <a:p>
                      <a:pPr>
                        <a:defRPr sz="1800" b="0">
                          <a:solidFill>
                            <a:srgbClr val="F5F8FC"/>
                          </a:solidFill>
                          <a:latin typeface="Aptos"/>
                        </a:defRPr>
                      </a:pPr>
                      <a:r>
                        <a:t>2</a:t>
                      </a:r>
                    </a:p>
                  </a:txBody>
                  <a:tcPr marL="146304" marT="118872">
                    <a:solidFill>
                      <a:srgbClr val="1C3549"/>
                    </a:solidFill>
                  </a:tcPr>
                </a:tc>
                <a:tc>
                  <a:txBody>
                    <a:bodyPr/>
                    <a:lstStyle/>
                    <a:p>
                      <a:pPr>
                        <a:defRPr sz="1800" b="0">
                          <a:solidFill>
                            <a:srgbClr val="F5F8FC"/>
                          </a:solidFill>
                          <a:latin typeface="Aptos"/>
                        </a:defRPr>
                      </a:pPr>
                      <a:r>
                        <a:t>1</a:t>
                      </a:r>
                    </a:p>
                  </a:txBody>
                  <a:tcPr marL="146304" marT="118872">
                    <a:solidFill>
                      <a:srgbClr val="1C3549"/>
                    </a:solidFill>
                  </a:tcPr>
                </a:tc>
              </a:tr>
              <a:tr h="612648">
                <a:tc>
                  <a:txBody>
                    <a:bodyPr/>
                    <a:lstStyle/>
                    <a:p>
                      <a:pPr>
                        <a:defRPr sz="1800" b="0">
                          <a:solidFill>
                            <a:srgbClr val="F5F8FC"/>
                          </a:solidFill>
                          <a:latin typeface="Aptos"/>
                        </a:defRPr>
                      </a:pPr>
                      <a:r>
                        <a:t>Person02 Training</a:t>
                      </a:r>
                    </a:p>
                  </a:txBody>
                  <a:tcPr marL="146304" marT="118872">
                    <a:solidFill>
                      <a:srgbClr val="1C3549"/>
                    </a:solidFill>
                  </a:tcPr>
                </a:tc>
                <a:tc>
                  <a:txBody>
                    <a:bodyPr/>
                    <a:lstStyle/>
                    <a:p>
                      <a:pPr>
                        <a:defRPr sz="1800" b="0">
                          <a:solidFill>
                            <a:srgbClr val="F5F8FC"/>
                          </a:solidFill>
                          <a:latin typeface="Aptos"/>
                        </a:defRPr>
                      </a:pPr>
                      <a:r>
                        <a:t>Missing</a:t>
                      </a:r>
                    </a:p>
                  </a:txBody>
                  <a:tcPr marL="146304" marT="118872">
                    <a:solidFill>
                      <a:srgbClr val="1C3549"/>
                    </a:solidFill>
                  </a:tcPr>
                </a:tc>
                <a:tc>
                  <a:txBody>
                    <a:bodyPr/>
                    <a:lstStyle/>
                    <a:p>
                      <a:pPr>
                        <a:defRPr sz="1800" b="0">
                          <a:solidFill>
                            <a:srgbClr val="F5F8FC"/>
                          </a:solidFill>
                          <a:latin typeface="Aptos"/>
                        </a:defRPr>
                      </a:pPr>
                      <a:r>
                        <a:t>1</a:t>
                      </a:r>
                    </a:p>
                  </a:txBody>
                  <a:tcPr marL="146304" marT="118872">
                    <a:solidFill>
                      <a:srgbClr val="1C3549"/>
                    </a:solidFill>
                  </a:tcPr>
                </a:tc>
                <a:tc>
                  <a:txBody>
                    <a:bodyPr/>
                    <a:lstStyle/>
                    <a:p>
                      <a:pPr>
                        <a:defRPr sz="1800" b="0">
                          <a:solidFill>
                            <a:srgbClr val="F5F8FC"/>
                          </a:solidFill>
                          <a:latin typeface="Aptos"/>
                        </a:defRPr>
                      </a:pPr>
                      <a:r>
                        <a:t>1</a:t>
                      </a:r>
                    </a:p>
                  </a:txBody>
                  <a:tcPr marL="146304" marT="118872">
                    <a:solidFill>
                      <a:srgbClr val="1C3549"/>
                    </a:solidFill>
                  </a:tcPr>
                </a:tc>
              </a:tr>
            </a:tbl>
          </a:graphicData>
        </a:graphic>
      </p:graphicFrame>
      <p:sp>
        <p:nvSpPr>
          <p:cNvPr id="8" name="TextBox 7"/>
          <p:cNvSpPr txBox="1"/>
          <p:nvPr/>
        </p:nvSpPr>
        <p:spPr>
          <a:xfrm>
            <a:off x="731520" y="4983480"/>
            <a:ext cx="10789920" cy="731520"/>
          </a:xfrm>
          <a:prstGeom prst="rect">
            <a:avLst/>
          </a:prstGeom>
          <a:noFill/>
        </p:spPr>
        <p:txBody>
          <a:bodyPr wrap="square">
            <a:spAutoFit/>
          </a:bodyPr>
          <a:lstStyle/>
          <a:p>
            <a:pPr>
              <a:spcAft>
                <a:spcPts val="1000"/>
              </a:spcAft>
              <a:defRPr sz="2300" b="1">
                <a:solidFill>
                  <a:srgbClr val="4DDBC1"/>
                </a:solidFill>
                <a:latin typeface="Aptos"/>
              </a:defRPr>
            </a:pPr>
            <a:r>
              <a:t>Expected / observed: 2 rows • Resource types present for both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02334"/>
        </a:solidFill>
        <a:effectLst/>
      </p:bgPr>
    </p:bg>
    <p:spTree>
      <p:nvGrpSpPr>
        <p:cNvPr id="1" name=""/>
        <p:cNvGrpSpPr/>
        <p:nvPr/>
      </p:nvGrpSpPr>
      <p:grpSpPr/>
      <p:sp>
        <p:nvSpPr>
          <p:cNvPr id="2" name="TextBox 1"/>
          <p:cNvSpPr txBox="1"/>
          <p:nvPr/>
        </p:nvSpPr>
        <p:spPr>
          <a:xfrm>
            <a:off x="594360" y="274320"/>
            <a:ext cx="10972800" cy="365760"/>
          </a:xfrm>
          <a:prstGeom prst="rect">
            <a:avLst/>
          </a:prstGeom>
          <a:noFill/>
        </p:spPr>
        <p:txBody>
          <a:bodyPr wrap="square">
            <a:spAutoFit/>
          </a:bodyPr>
          <a:lstStyle/>
          <a:p>
            <a:pPr>
              <a:spcAft>
                <a:spcPts val="1000"/>
              </a:spcAft>
              <a:defRPr sz="1200" b="1">
                <a:solidFill>
                  <a:srgbClr val="4DDBC1"/>
                </a:solidFill>
                <a:latin typeface="Aptos"/>
              </a:defRPr>
            </a:pPr>
            <a:r>
              <a:t>FIRELY  /  SYNTHETIC HEALTHCARE ANALYTICS</a:t>
            </a:r>
          </a:p>
        </p:txBody>
      </p:sp>
      <p:sp>
        <p:nvSpPr>
          <p:cNvPr id="3" name="TextBox 2"/>
          <p:cNvSpPr txBox="1"/>
          <p:nvPr/>
        </p:nvSpPr>
        <p:spPr>
          <a:xfrm>
            <a:off x="594360" y="777240"/>
            <a:ext cx="10972800" cy="914400"/>
          </a:xfrm>
          <a:prstGeom prst="rect">
            <a:avLst/>
          </a:prstGeom>
          <a:noFill/>
        </p:spPr>
        <p:txBody>
          <a:bodyPr wrap="square">
            <a:spAutoFit/>
          </a:bodyPr>
          <a:lstStyle/>
          <a:p>
            <a:pPr>
              <a:spcAft>
                <a:spcPts val="1000"/>
              </a:spcAft>
              <a:defRPr sz="3400" b="1">
                <a:solidFill>
                  <a:srgbClr val="F5F8FC"/>
                </a:solidFill>
                <a:latin typeface="Aptos"/>
              </a:defRPr>
            </a:pPr>
            <a:r>
              <a:t>Report 2  |  What is the glucose timeline?</a:t>
            </a:r>
          </a:p>
        </p:txBody>
      </p:sp>
      <p:sp>
        <p:nvSpPr>
          <p:cNvPr id="4" name="TextBox 3"/>
          <p:cNvSpPr txBox="1"/>
          <p:nvPr/>
        </p:nvSpPr>
        <p:spPr>
          <a:xfrm>
            <a:off x="594360" y="1645920"/>
            <a:ext cx="10972800" cy="594360"/>
          </a:xfrm>
          <a:prstGeom prst="rect">
            <a:avLst/>
          </a:prstGeom>
          <a:noFill/>
        </p:spPr>
        <p:txBody>
          <a:bodyPr wrap="square">
            <a:spAutoFit/>
          </a:bodyPr>
          <a:lstStyle/>
          <a:p>
            <a:pPr>
              <a:spcAft>
                <a:spcPts val="1000"/>
              </a:spcAft>
              <a:defRPr sz="1800" b="0">
                <a:solidFill>
                  <a:srgbClr val="AFC2D2"/>
                </a:solidFill>
                <a:latin typeface="Aptos"/>
              </a:defRPr>
            </a:pPr>
            <a:r>
              <a:t>Three final results, with units preserved and timestamps displayed in UTC.</a:t>
            </a:r>
          </a:p>
        </p:txBody>
      </p:sp>
      <p:sp>
        <p:nvSpPr>
          <p:cNvPr id="5" name="TextBox 4"/>
          <p:cNvSpPr txBox="1"/>
          <p:nvPr/>
        </p:nvSpPr>
        <p:spPr>
          <a:xfrm>
            <a:off x="594360" y="6400800"/>
            <a:ext cx="10058400" cy="228600"/>
          </a:xfrm>
          <a:prstGeom prst="rect">
            <a:avLst/>
          </a:prstGeom>
          <a:noFill/>
        </p:spPr>
        <p:txBody>
          <a:bodyPr wrap="square">
            <a:spAutoFit/>
          </a:bodyPr>
          <a:lstStyle/>
          <a:p>
            <a:pPr>
              <a:spcAft>
                <a:spcPts val="1000"/>
              </a:spcAft>
              <a:defRPr sz="1000" b="0">
                <a:solidFill>
                  <a:srgbClr val="AFC2D2"/>
                </a:solidFill>
                <a:latin typeface="Aptos"/>
              </a:defRPr>
            </a:pPr>
            <a:r>
              <a:t>Saved synthetic batch  •  October 6, 2026  •  Information availability</a:t>
            </a:r>
          </a:p>
        </p:txBody>
      </p:sp>
      <p:sp>
        <p:nvSpPr>
          <p:cNvPr id="6" name="TextBox 5"/>
          <p:cNvSpPr txBox="1"/>
          <p:nvPr/>
        </p:nvSpPr>
        <p:spPr>
          <a:xfrm>
            <a:off x="10972800" y="6400800"/>
            <a:ext cx="594360" cy="274320"/>
          </a:xfrm>
          <a:prstGeom prst="rect">
            <a:avLst/>
          </a:prstGeom>
          <a:noFill/>
        </p:spPr>
        <p:txBody>
          <a:bodyPr wrap="square">
            <a:spAutoFit/>
          </a:bodyPr>
          <a:lstStyle/>
          <a:p>
            <a:pPr>
              <a:spcAft>
                <a:spcPts val="1000"/>
              </a:spcAft>
              <a:defRPr sz="1100" b="0">
                <a:solidFill>
                  <a:srgbClr val="4DDBC1"/>
                </a:solidFill>
                <a:latin typeface="Aptos"/>
              </a:defRPr>
            </a:pPr>
            <a:r>
              <a:t>04</a:t>
            </a:r>
          </a:p>
        </p:txBody>
      </p:sp>
      <p:graphicFrame>
        <p:nvGraphicFramePr>
          <p:cNvPr id="7" name="Table 6"/>
          <p:cNvGraphicFramePr>
            <a:graphicFrameLocks noGrp="1"/>
          </p:cNvGraphicFramePr>
          <p:nvPr/>
        </p:nvGraphicFramePr>
        <p:xfrm>
          <a:off x="640080" y="2468880"/>
          <a:ext cx="10881360" cy="2450592"/>
        </p:xfrm>
        <a:graphic>
          <a:graphicData uri="http://schemas.openxmlformats.org/drawingml/2006/table">
            <a:tbl>
              <a:tblPr firstRow="1" bandRow="1">
                <a:tableStyleId>{5C22544A-7EE6-4342-B048-85BDC9FD1C3A}</a:tableStyleId>
              </a:tblPr>
              <a:tblGrid>
                <a:gridCol w="2926080"/>
                <a:gridCol w="2194560"/>
                <a:gridCol w="1554480"/>
                <a:gridCol w="4206240"/>
              </a:tblGrid>
              <a:tr h="612648">
                <a:tc>
                  <a:txBody>
                    <a:bodyPr/>
                    <a:lstStyle/>
                    <a:p>
                      <a:pPr>
                        <a:defRPr sz="1800" b="1">
                          <a:solidFill>
                            <a:srgbClr val="F5F8FC"/>
                          </a:solidFill>
                          <a:latin typeface="Aptos"/>
                        </a:defRPr>
                      </a:pPr>
                      <a:r>
                        <a:t>Patient</a:t>
                      </a:r>
                    </a:p>
                  </a:txBody>
                  <a:tcPr marL="146304" marT="118872">
                    <a:solidFill>
                      <a:srgbClr val="245369"/>
                    </a:solidFill>
                  </a:tcPr>
                </a:tc>
                <a:tc>
                  <a:txBody>
                    <a:bodyPr/>
                    <a:lstStyle/>
                    <a:p>
                      <a:pPr>
                        <a:defRPr sz="1800" b="1">
                          <a:solidFill>
                            <a:srgbClr val="F5F8FC"/>
                          </a:solidFill>
                          <a:latin typeface="Aptos"/>
                        </a:defRPr>
                      </a:pPr>
                      <a:r>
                        <a:t>Glucose</a:t>
                      </a:r>
                    </a:p>
                  </a:txBody>
                  <a:tcPr marL="146304" marT="118872">
                    <a:solidFill>
                      <a:srgbClr val="245369"/>
                    </a:solidFill>
                  </a:tcPr>
                </a:tc>
                <a:tc>
                  <a:txBody>
                    <a:bodyPr/>
                    <a:lstStyle/>
                    <a:p>
                      <a:pPr>
                        <a:defRPr sz="1800" b="1">
                          <a:solidFill>
                            <a:srgbClr val="F5F8FC"/>
                          </a:solidFill>
                          <a:latin typeface="Aptos"/>
                        </a:defRPr>
                      </a:pPr>
                      <a:r>
                        <a:t>Status</a:t>
                      </a:r>
                    </a:p>
                  </a:txBody>
                  <a:tcPr marL="146304" marT="118872">
                    <a:solidFill>
                      <a:srgbClr val="245369"/>
                    </a:solidFill>
                  </a:tcPr>
                </a:tc>
                <a:tc>
                  <a:txBody>
                    <a:bodyPr/>
                    <a:lstStyle/>
                    <a:p>
                      <a:pPr>
                        <a:defRPr sz="1800" b="1">
                          <a:solidFill>
                            <a:srgbClr val="F5F8FC"/>
                          </a:solidFill>
                          <a:latin typeface="Aptos"/>
                        </a:defRPr>
                      </a:pPr>
                      <a:r>
                        <a:t>Measurement time · UTC</a:t>
                      </a:r>
                    </a:p>
                  </a:txBody>
                  <a:tcPr marL="146304" marT="118872">
                    <a:solidFill>
                      <a:srgbClr val="245369"/>
                    </a:solidFill>
                  </a:tcPr>
                </a:tc>
              </a:tr>
              <a:tr h="612648">
                <a:tc>
                  <a:txBody>
                    <a:bodyPr/>
                    <a:lstStyle/>
                    <a:p>
                      <a:pPr>
                        <a:defRPr sz="1800" b="0">
                          <a:solidFill>
                            <a:srgbClr val="F5F8FC"/>
                          </a:solidFill>
                          <a:latin typeface="Aptos"/>
                        </a:defRPr>
                      </a:pPr>
                      <a:r>
                        <a:t>Ravi Demo</a:t>
                      </a:r>
                    </a:p>
                  </a:txBody>
                  <a:tcPr marL="146304" marT="118872">
                    <a:solidFill>
                      <a:srgbClr val="1C3549"/>
                    </a:solidFill>
                  </a:tcPr>
                </a:tc>
                <a:tc>
                  <a:txBody>
                    <a:bodyPr/>
                    <a:lstStyle/>
                    <a:p>
                      <a:pPr>
                        <a:defRPr sz="1800" b="0">
                          <a:solidFill>
                            <a:srgbClr val="F5F8FC"/>
                          </a:solidFill>
                          <a:latin typeface="Aptos"/>
                        </a:defRPr>
                      </a:pPr>
                      <a:r>
                        <a:t>95 mg/dL</a:t>
                      </a:r>
                    </a:p>
                  </a:txBody>
                  <a:tcPr marL="146304" marT="118872">
                    <a:solidFill>
                      <a:srgbClr val="1C3549"/>
                    </a:solidFill>
                  </a:tcPr>
                </a:tc>
                <a:tc>
                  <a:txBody>
                    <a:bodyPr/>
                    <a:lstStyle/>
                    <a:p>
                      <a:pPr>
                        <a:defRPr sz="1800" b="0">
                          <a:solidFill>
                            <a:srgbClr val="F5F8FC"/>
                          </a:solidFill>
                          <a:latin typeface="Aptos"/>
                        </a:defRPr>
                      </a:pPr>
                      <a:r>
                        <a:t>Final</a:t>
                      </a:r>
                    </a:p>
                  </a:txBody>
                  <a:tcPr marL="146304" marT="118872">
                    <a:solidFill>
                      <a:srgbClr val="1C3549"/>
                    </a:solidFill>
                  </a:tcPr>
                </a:tc>
                <a:tc>
                  <a:txBody>
                    <a:bodyPr/>
                    <a:lstStyle/>
                    <a:p>
                      <a:pPr>
                        <a:defRPr sz="1800" b="0">
                          <a:solidFill>
                            <a:srgbClr val="F5F8FC"/>
                          </a:solidFill>
                          <a:latin typeface="Aptos"/>
                        </a:defRPr>
                      </a:pPr>
                      <a:r>
                        <a:t>Oct 1, 2026 · 13:00</a:t>
                      </a:r>
                    </a:p>
                  </a:txBody>
                  <a:tcPr marL="146304" marT="118872">
                    <a:solidFill>
                      <a:srgbClr val="1C3549"/>
                    </a:solidFill>
                  </a:tcPr>
                </a:tc>
              </a:tr>
              <a:tr h="612648">
                <a:tc>
                  <a:txBody>
                    <a:bodyPr/>
                    <a:lstStyle/>
                    <a:p>
                      <a:pPr>
                        <a:defRPr sz="1800" b="0">
                          <a:solidFill>
                            <a:srgbClr val="F5F8FC"/>
                          </a:solidFill>
                          <a:latin typeface="Aptos"/>
                        </a:defRPr>
                      </a:pPr>
                      <a:r>
                        <a:t>Ravi Demo</a:t>
                      </a:r>
                    </a:p>
                  </a:txBody>
                  <a:tcPr marL="146304" marT="118872">
                    <a:solidFill>
                      <a:srgbClr val="1C3549"/>
                    </a:solidFill>
                  </a:tcPr>
                </a:tc>
                <a:tc>
                  <a:txBody>
                    <a:bodyPr/>
                    <a:lstStyle/>
                    <a:p>
                      <a:pPr>
                        <a:defRPr sz="1800" b="0">
                          <a:solidFill>
                            <a:srgbClr val="F5F8FC"/>
                          </a:solidFill>
                          <a:latin typeface="Aptos"/>
                        </a:defRPr>
                      </a:pPr>
                      <a:r>
                        <a:t>102 mg/dL</a:t>
                      </a:r>
                    </a:p>
                  </a:txBody>
                  <a:tcPr marL="146304" marT="118872">
                    <a:solidFill>
                      <a:srgbClr val="1C3549"/>
                    </a:solidFill>
                  </a:tcPr>
                </a:tc>
                <a:tc>
                  <a:txBody>
                    <a:bodyPr/>
                    <a:lstStyle/>
                    <a:p>
                      <a:pPr>
                        <a:defRPr sz="1800" b="0">
                          <a:solidFill>
                            <a:srgbClr val="F5F8FC"/>
                          </a:solidFill>
                          <a:latin typeface="Aptos"/>
                        </a:defRPr>
                      </a:pPr>
                      <a:r>
                        <a:t>Final</a:t>
                      </a:r>
                    </a:p>
                  </a:txBody>
                  <a:tcPr marL="146304" marT="118872">
                    <a:solidFill>
                      <a:srgbClr val="1C3549"/>
                    </a:solidFill>
                  </a:tcPr>
                </a:tc>
                <a:tc>
                  <a:txBody>
                    <a:bodyPr/>
                    <a:lstStyle/>
                    <a:p>
                      <a:pPr>
                        <a:defRPr sz="1800" b="0">
                          <a:solidFill>
                            <a:srgbClr val="F5F8FC"/>
                          </a:solidFill>
                          <a:latin typeface="Aptos"/>
                        </a:defRPr>
                      </a:pPr>
                      <a:r>
                        <a:t>Oct 1, 2026 · 14:00</a:t>
                      </a:r>
                    </a:p>
                  </a:txBody>
                  <a:tcPr marL="146304" marT="118872">
                    <a:solidFill>
                      <a:srgbClr val="1C3549"/>
                    </a:solidFill>
                  </a:tcPr>
                </a:tc>
              </a:tr>
              <a:tr h="612648">
                <a:tc>
                  <a:txBody>
                    <a:bodyPr/>
                    <a:lstStyle/>
                    <a:p>
                      <a:pPr>
                        <a:defRPr sz="1800" b="0">
                          <a:solidFill>
                            <a:srgbClr val="F5F8FC"/>
                          </a:solidFill>
                          <a:latin typeface="Aptos"/>
                        </a:defRPr>
                      </a:pPr>
                      <a:r>
                        <a:t>Person02 Training</a:t>
                      </a:r>
                    </a:p>
                  </a:txBody>
                  <a:tcPr marL="146304" marT="118872">
                    <a:solidFill>
                      <a:srgbClr val="1C3549"/>
                    </a:solidFill>
                  </a:tcPr>
                </a:tc>
                <a:tc>
                  <a:txBody>
                    <a:bodyPr/>
                    <a:lstStyle/>
                    <a:p>
                      <a:pPr>
                        <a:defRPr sz="1800" b="0">
                          <a:solidFill>
                            <a:srgbClr val="F5F8FC"/>
                          </a:solidFill>
                          <a:latin typeface="Aptos"/>
                        </a:defRPr>
                      </a:pPr>
                      <a:r>
                        <a:t>95 mg/dL</a:t>
                      </a:r>
                    </a:p>
                  </a:txBody>
                  <a:tcPr marL="146304" marT="118872">
                    <a:solidFill>
                      <a:srgbClr val="1C3549"/>
                    </a:solidFill>
                  </a:tcPr>
                </a:tc>
                <a:tc>
                  <a:txBody>
                    <a:bodyPr/>
                    <a:lstStyle/>
                    <a:p>
                      <a:pPr>
                        <a:defRPr sz="1800" b="0">
                          <a:solidFill>
                            <a:srgbClr val="F5F8FC"/>
                          </a:solidFill>
                          <a:latin typeface="Aptos"/>
                        </a:defRPr>
                      </a:pPr>
                      <a:r>
                        <a:t>Final</a:t>
                      </a:r>
                    </a:p>
                  </a:txBody>
                  <a:tcPr marL="146304" marT="118872">
                    <a:solidFill>
                      <a:srgbClr val="1C3549"/>
                    </a:solidFill>
                  </a:tcPr>
                </a:tc>
                <a:tc>
                  <a:txBody>
                    <a:bodyPr/>
                    <a:lstStyle/>
                    <a:p>
                      <a:pPr>
                        <a:defRPr sz="1800" b="0">
                          <a:solidFill>
                            <a:srgbClr val="F5F8FC"/>
                          </a:solidFill>
                          <a:latin typeface="Aptos"/>
                        </a:defRPr>
                      </a:pPr>
                      <a:r>
                        <a:t>Oct 5, 2026 · 12:00</a:t>
                      </a:r>
                    </a:p>
                  </a:txBody>
                  <a:tcPr marL="146304" marT="118872">
                    <a:solidFill>
                      <a:srgbClr val="1C3549"/>
                    </a:solidFill>
                  </a:tcPr>
                </a:tc>
              </a:tr>
            </a:tbl>
          </a:graphicData>
        </a:graphic>
      </p:graphicFrame>
      <p:sp>
        <p:nvSpPr>
          <p:cNvPr id="8" name="TextBox 7"/>
          <p:cNvSpPr txBox="1"/>
          <p:nvPr/>
        </p:nvSpPr>
        <p:spPr>
          <a:xfrm>
            <a:off x="731520" y="5486400"/>
            <a:ext cx="10789920" cy="457200"/>
          </a:xfrm>
          <a:prstGeom prst="rect">
            <a:avLst/>
          </a:prstGeom>
          <a:noFill/>
        </p:spPr>
        <p:txBody>
          <a:bodyPr wrap="square">
            <a:spAutoFit/>
          </a:bodyPr>
          <a:lstStyle/>
          <a:p>
            <a:pPr>
              <a:spcAft>
                <a:spcPts val="1000"/>
              </a:spcAft>
              <a:defRPr sz="2300" b="1">
                <a:solidFill>
                  <a:srgbClr val="4DDBC1"/>
                </a:solidFill>
                <a:latin typeface="Aptos"/>
              </a:defRPr>
            </a:pPr>
            <a:r>
              <a:t>Expected / observed: 3 rows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2334"/>
        </a:solidFill>
        <a:effectLst/>
      </p:bgPr>
    </p:bg>
    <p:spTree>
      <p:nvGrpSpPr>
        <p:cNvPr id="1" name=""/>
        <p:cNvGrpSpPr/>
        <p:nvPr/>
      </p:nvGrpSpPr>
      <p:grpSpPr/>
      <p:sp>
        <p:nvSpPr>
          <p:cNvPr id="2" name="TextBox 1"/>
          <p:cNvSpPr txBox="1"/>
          <p:nvPr/>
        </p:nvSpPr>
        <p:spPr>
          <a:xfrm>
            <a:off x="594360" y="274320"/>
            <a:ext cx="10972800" cy="365760"/>
          </a:xfrm>
          <a:prstGeom prst="rect">
            <a:avLst/>
          </a:prstGeom>
          <a:noFill/>
        </p:spPr>
        <p:txBody>
          <a:bodyPr wrap="square">
            <a:spAutoFit/>
          </a:bodyPr>
          <a:lstStyle/>
          <a:p>
            <a:pPr>
              <a:spcAft>
                <a:spcPts val="1000"/>
              </a:spcAft>
              <a:defRPr sz="1200" b="1">
                <a:solidFill>
                  <a:srgbClr val="4DDBC1"/>
                </a:solidFill>
                <a:latin typeface="Aptos"/>
              </a:defRPr>
            </a:pPr>
            <a:r>
              <a:t>FIRELY  /  SYNTHETIC HEALTHCARE ANALYTICS</a:t>
            </a:r>
          </a:p>
        </p:txBody>
      </p:sp>
      <p:sp>
        <p:nvSpPr>
          <p:cNvPr id="3" name="TextBox 2"/>
          <p:cNvSpPr txBox="1"/>
          <p:nvPr/>
        </p:nvSpPr>
        <p:spPr>
          <a:xfrm>
            <a:off x="594360" y="777240"/>
            <a:ext cx="10972800" cy="914400"/>
          </a:xfrm>
          <a:prstGeom prst="rect">
            <a:avLst/>
          </a:prstGeom>
          <a:noFill/>
        </p:spPr>
        <p:txBody>
          <a:bodyPr wrap="square">
            <a:spAutoFit/>
          </a:bodyPr>
          <a:lstStyle/>
          <a:p>
            <a:pPr>
              <a:spcAft>
                <a:spcPts val="1000"/>
              </a:spcAft>
              <a:defRPr sz="3400" b="1">
                <a:solidFill>
                  <a:srgbClr val="F5F8FC"/>
                </a:solidFill>
                <a:latin typeface="Aptos"/>
              </a:defRPr>
            </a:pPr>
            <a:r>
              <a:t>Report 3  |  Is expected information available?</a:t>
            </a:r>
          </a:p>
        </p:txBody>
      </p:sp>
      <p:sp>
        <p:nvSpPr>
          <p:cNvPr id="4" name="TextBox 3"/>
          <p:cNvSpPr txBox="1"/>
          <p:nvPr/>
        </p:nvSpPr>
        <p:spPr>
          <a:xfrm>
            <a:off x="594360" y="1645920"/>
            <a:ext cx="10972800" cy="594360"/>
          </a:xfrm>
          <a:prstGeom prst="rect">
            <a:avLst/>
          </a:prstGeom>
          <a:noFill/>
        </p:spPr>
        <p:txBody>
          <a:bodyPr wrap="square">
            <a:spAutoFit/>
          </a:bodyPr>
          <a:lstStyle/>
          <a:p>
            <a:pPr>
              <a:spcAft>
                <a:spcPts val="1000"/>
              </a:spcAft>
              <a:defRPr sz="1800" b="0">
                <a:solidFill>
                  <a:srgbClr val="AFC2D2"/>
                </a:solidFill>
                <a:latin typeface="Aptos"/>
              </a:defRPr>
            </a:pPr>
            <a:r>
              <a:t>For two configured appointments, check qualifying glucose results in the prior seven days.</a:t>
            </a:r>
          </a:p>
        </p:txBody>
      </p:sp>
      <p:sp>
        <p:nvSpPr>
          <p:cNvPr id="5" name="TextBox 4"/>
          <p:cNvSpPr txBox="1"/>
          <p:nvPr/>
        </p:nvSpPr>
        <p:spPr>
          <a:xfrm>
            <a:off x="594360" y="6400800"/>
            <a:ext cx="10058400" cy="228600"/>
          </a:xfrm>
          <a:prstGeom prst="rect">
            <a:avLst/>
          </a:prstGeom>
          <a:noFill/>
        </p:spPr>
        <p:txBody>
          <a:bodyPr wrap="square">
            <a:spAutoFit/>
          </a:bodyPr>
          <a:lstStyle/>
          <a:p>
            <a:pPr>
              <a:spcAft>
                <a:spcPts val="1000"/>
              </a:spcAft>
              <a:defRPr sz="1000" b="0">
                <a:solidFill>
                  <a:srgbClr val="AFC2D2"/>
                </a:solidFill>
                <a:latin typeface="Aptos"/>
              </a:defRPr>
            </a:pPr>
            <a:r>
              <a:t>Saved synthetic batch  •  October 6, 2026  •  Information availability</a:t>
            </a:r>
          </a:p>
        </p:txBody>
      </p:sp>
      <p:sp>
        <p:nvSpPr>
          <p:cNvPr id="6" name="TextBox 5"/>
          <p:cNvSpPr txBox="1"/>
          <p:nvPr/>
        </p:nvSpPr>
        <p:spPr>
          <a:xfrm>
            <a:off x="10972800" y="6400800"/>
            <a:ext cx="594360" cy="274320"/>
          </a:xfrm>
          <a:prstGeom prst="rect">
            <a:avLst/>
          </a:prstGeom>
          <a:noFill/>
        </p:spPr>
        <p:txBody>
          <a:bodyPr wrap="square">
            <a:spAutoFit/>
          </a:bodyPr>
          <a:lstStyle/>
          <a:p>
            <a:pPr>
              <a:spcAft>
                <a:spcPts val="1000"/>
              </a:spcAft>
              <a:defRPr sz="1100" b="0">
                <a:solidFill>
                  <a:srgbClr val="4DDBC1"/>
                </a:solidFill>
                <a:latin typeface="Aptos"/>
              </a:defRPr>
            </a:pPr>
            <a:r>
              <a:t>05</a:t>
            </a:r>
          </a:p>
        </p:txBody>
      </p:sp>
      <p:graphicFrame>
        <p:nvGraphicFramePr>
          <p:cNvPr id="7" name="Table 6"/>
          <p:cNvGraphicFramePr>
            <a:graphicFrameLocks noGrp="1"/>
          </p:cNvGraphicFramePr>
          <p:nvPr/>
        </p:nvGraphicFramePr>
        <p:xfrm>
          <a:off x="640080" y="2468880"/>
          <a:ext cx="10881360" cy="1837944"/>
        </p:xfrm>
        <a:graphic>
          <a:graphicData uri="http://schemas.openxmlformats.org/drawingml/2006/table">
            <a:tbl>
              <a:tblPr firstRow="1" bandRow="1">
                <a:tableStyleId>{5C22544A-7EE6-4342-B048-85BDC9FD1C3A}</a:tableStyleId>
              </a:tblPr>
              <a:tblGrid>
                <a:gridCol w="2423160"/>
                <a:gridCol w="2606040"/>
                <a:gridCol w="2468880"/>
                <a:gridCol w="3383280"/>
              </a:tblGrid>
              <a:tr h="612648">
                <a:tc>
                  <a:txBody>
                    <a:bodyPr/>
                    <a:lstStyle/>
                    <a:p>
                      <a:pPr>
                        <a:defRPr sz="1800" b="1">
                          <a:solidFill>
                            <a:srgbClr val="F5F8FC"/>
                          </a:solidFill>
                          <a:latin typeface="Aptos"/>
                        </a:defRPr>
                      </a:pPr>
                      <a:r>
                        <a:t>Patient</a:t>
                      </a:r>
                    </a:p>
                  </a:txBody>
                  <a:tcPr marL="146304" marT="118872">
                    <a:solidFill>
                      <a:srgbClr val="245369"/>
                    </a:solidFill>
                  </a:tcPr>
                </a:tc>
                <a:tc>
                  <a:txBody>
                    <a:bodyPr/>
                    <a:lstStyle/>
                    <a:p>
                      <a:pPr>
                        <a:defRPr sz="1800" b="1">
                          <a:solidFill>
                            <a:srgbClr val="F5F8FC"/>
                          </a:solidFill>
                          <a:latin typeface="Aptos"/>
                        </a:defRPr>
                      </a:pPr>
                      <a:r>
                        <a:t>Appointment · UTC</a:t>
                      </a:r>
                    </a:p>
                  </a:txBody>
                  <a:tcPr marL="146304" marT="118872">
                    <a:solidFill>
                      <a:srgbClr val="245369"/>
                    </a:solidFill>
                  </a:tcPr>
                </a:tc>
                <a:tc>
                  <a:txBody>
                    <a:bodyPr/>
                    <a:lstStyle/>
                    <a:p>
                      <a:pPr>
                        <a:defRPr sz="1800" b="1">
                          <a:solidFill>
                            <a:srgbClr val="F5F8FC"/>
                          </a:solidFill>
                          <a:latin typeface="Aptos"/>
                        </a:defRPr>
                      </a:pPr>
                      <a:r>
                        <a:t>Qualifying results</a:t>
                      </a:r>
                    </a:p>
                  </a:txBody>
                  <a:tcPr marL="146304" marT="118872">
                    <a:solidFill>
                      <a:srgbClr val="245369"/>
                    </a:solidFill>
                  </a:tcPr>
                </a:tc>
                <a:tc>
                  <a:txBody>
                    <a:bodyPr/>
                    <a:lstStyle/>
                    <a:p>
                      <a:pPr>
                        <a:defRPr sz="1800" b="1">
                          <a:solidFill>
                            <a:srgbClr val="F5F8FC"/>
                          </a:solidFill>
                          <a:latin typeface="Aptos"/>
                        </a:defRPr>
                      </a:pPr>
                      <a:r>
                        <a:t>Information status</a:t>
                      </a:r>
                    </a:p>
                  </a:txBody>
                  <a:tcPr marL="146304" marT="118872">
                    <a:solidFill>
                      <a:srgbClr val="245369"/>
                    </a:solidFill>
                  </a:tcPr>
                </a:tc>
              </a:tr>
              <a:tr h="612648">
                <a:tc>
                  <a:txBody>
                    <a:bodyPr/>
                    <a:lstStyle/>
                    <a:p>
                      <a:pPr>
                        <a:defRPr sz="1800" b="0">
                          <a:solidFill>
                            <a:srgbClr val="F5F8FC"/>
                          </a:solidFill>
                          <a:latin typeface="Aptos"/>
                        </a:defRPr>
                      </a:pPr>
                      <a:r>
                        <a:t>Ravi Demo</a:t>
                      </a:r>
                    </a:p>
                  </a:txBody>
                  <a:tcPr marL="146304" marT="118872">
                    <a:solidFill>
                      <a:srgbClr val="1C3549"/>
                    </a:solidFill>
                  </a:tcPr>
                </a:tc>
                <a:tc>
                  <a:txBody>
                    <a:bodyPr/>
                    <a:lstStyle/>
                    <a:p>
                      <a:pPr>
                        <a:defRPr sz="1800" b="0">
                          <a:solidFill>
                            <a:srgbClr val="F5F8FC"/>
                          </a:solidFill>
                          <a:latin typeface="Aptos"/>
                        </a:defRPr>
                      </a:pPr>
                      <a:r>
                        <a:t>Oct 6 · 13:00</a:t>
                      </a:r>
                    </a:p>
                  </a:txBody>
                  <a:tcPr marL="146304" marT="118872">
                    <a:solidFill>
                      <a:srgbClr val="1C3549"/>
                    </a:solidFill>
                  </a:tcPr>
                </a:tc>
                <a:tc>
                  <a:txBody>
                    <a:bodyPr/>
                    <a:lstStyle/>
                    <a:p>
                      <a:pPr>
                        <a:defRPr sz="1800" b="0">
                          <a:solidFill>
                            <a:srgbClr val="F5F8FC"/>
                          </a:solidFill>
                          <a:latin typeface="Aptos"/>
                        </a:defRPr>
                      </a:pPr>
                      <a:r>
                        <a:t>2</a:t>
                      </a:r>
                    </a:p>
                  </a:txBody>
                  <a:tcPr marL="146304" marT="118872">
                    <a:solidFill>
                      <a:srgbClr val="1C3549"/>
                    </a:solidFill>
                  </a:tcPr>
                </a:tc>
                <a:tc>
                  <a:txBody>
                    <a:bodyPr/>
                    <a:lstStyle/>
                    <a:p>
                      <a:pPr>
                        <a:defRPr sz="1800" b="0">
                          <a:solidFill>
                            <a:srgbClr val="F5F8FC"/>
                          </a:solidFill>
                          <a:latin typeface="Aptos"/>
                        </a:defRPr>
                      </a:pPr>
                      <a:r>
                        <a:t>information_complete</a:t>
                      </a:r>
                    </a:p>
                  </a:txBody>
                  <a:tcPr marL="146304" marT="118872">
                    <a:solidFill>
                      <a:srgbClr val="1C3549"/>
                    </a:solidFill>
                  </a:tcPr>
                </a:tc>
              </a:tr>
              <a:tr h="612648">
                <a:tc>
                  <a:txBody>
                    <a:bodyPr/>
                    <a:lstStyle/>
                    <a:p>
                      <a:pPr>
                        <a:defRPr sz="1800" b="0">
                          <a:solidFill>
                            <a:srgbClr val="F5F8FC"/>
                          </a:solidFill>
                          <a:latin typeface="Aptos"/>
                        </a:defRPr>
                      </a:pPr>
                      <a:r>
                        <a:t>Person02 Training</a:t>
                      </a:r>
                    </a:p>
                  </a:txBody>
                  <a:tcPr marL="146304" marT="118872">
                    <a:solidFill>
                      <a:srgbClr val="1C3549"/>
                    </a:solidFill>
                  </a:tcPr>
                </a:tc>
                <a:tc>
                  <a:txBody>
                    <a:bodyPr/>
                    <a:lstStyle/>
                    <a:p>
                      <a:pPr>
                        <a:defRPr sz="1800" b="0">
                          <a:solidFill>
                            <a:srgbClr val="F5F8FC"/>
                          </a:solidFill>
                          <a:latin typeface="Aptos"/>
                        </a:defRPr>
                      </a:pPr>
                      <a:r>
                        <a:t>Oct 6 · 12:00</a:t>
                      </a:r>
                    </a:p>
                  </a:txBody>
                  <a:tcPr marL="146304" marT="118872">
                    <a:solidFill>
                      <a:srgbClr val="1C3549"/>
                    </a:solidFill>
                  </a:tcPr>
                </a:tc>
                <a:tc>
                  <a:txBody>
                    <a:bodyPr/>
                    <a:lstStyle/>
                    <a:p>
                      <a:pPr>
                        <a:defRPr sz="1800" b="0">
                          <a:solidFill>
                            <a:srgbClr val="F5F8FC"/>
                          </a:solidFill>
                          <a:latin typeface="Aptos"/>
                        </a:defRPr>
                      </a:pPr>
                      <a:r>
                        <a:t>1</a:t>
                      </a:r>
                    </a:p>
                  </a:txBody>
                  <a:tcPr marL="146304" marT="118872">
                    <a:solidFill>
                      <a:srgbClr val="1C3549"/>
                    </a:solidFill>
                  </a:tcPr>
                </a:tc>
                <a:tc>
                  <a:txBody>
                    <a:bodyPr/>
                    <a:lstStyle/>
                    <a:p>
                      <a:pPr>
                        <a:defRPr sz="1800" b="0">
                          <a:solidFill>
                            <a:srgbClr val="F5F8FC"/>
                          </a:solidFill>
                          <a:latin typeface="Aptos"/>
                        </a:defRPr>
                      </a:pPr>
                      <a:r>
                        <a:t>information_complete</a:t>
                      </a:r>
                    </a:p>
                  </a:txBody>
                  <a:tcPr marL="146304" marT="118872">
                    <a:solidFill>
                      <a:srgbClr val="1C3549"/>
                    </a:solidFill>
                  </a:tcPr>
                </a:tc>
              </a:tr>
            </a:tbl>
          </a:graphicData>
        </a:graphic>
      </p:graphicFrame>
      <p:sp>
        <p:nvSpPr>
          <p:cNvPr id="8" name="TextBox 7"/>
          <p:cNvSpPr txBox="1"/>
          <p:nvPr/>
        </p:nvSpPr>
        <p:spPr>
          <a:xfrm>
            <a:off x="731520" y="4846320"/>
            <a:ext cx="10698480" cy="1005840"/>
          </a:xfrm>
          <a:prstGeom prst="rect">
            <a:avLst/>
          </a:prstGeom>
          <a:noFill/>
        </p:spPr>
        <p:txBody>
          <a:bodyPr wrap="square">
            <a:spAutoFit/>
          </a:bodyPr>
          <a:lstStyle/>
          <a:p>
            <a:pPr>
              <a:spcAft>
                <a:spcPts val="1000"/>
              </a:spcAft>
              <a:defRPr sz="2100" b="1">
                <a:solidFill>
                  <a:srgbClr val="4DDBC1"/>
                </a:solidFill>
                <a:latin typeface="Aptos"/>
              </a:defRPr>
            </a:pPr>
            <a:r>
              <a:t>Window: [appointment − 7 days, appointment)</a:t>
            </a:r>
          </a:p>
          <a:p>
            <a:pPr>
              <a:spcAft>
                <a:spcPts val="1000"/>
              </a:spcAft>
              <a:defRPr sz="2100" b="1">
                <a:solidFill>
                  <a:srgbClr val="4DDBC1"/>
                </a:solidFill>
                <a:latin typeface="Aptos"/>
              </a:defRPr>
            </a:pPr>
            <a:r>
              <a:t>Information availability under a configured demonstration rule.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02334"/>
        </a:solidFill>
        <a:effectLst/>
      </p:bgPr>
    </p:bg>
    <p:spTree>
      <p:nvGrpSpPr>
        <p:cNvPr id="1" name=""/>
        <p:cNvGrpSpPr/>
        <p:nvPr/>
      </p:nvGrpSpPr>
      <p:grpSpPr/>
      <p:sp>
        <p:nvSpPr>
          <p:cNvPr id="2" name="TextBox 1"/>
          <p:cNvSpPr txBox="1"/>
          <p:nvPr/>
        </p:nvSpPr>
        <p:spPr>
          <a:xfrm>
            <a:off x="594360" y="274320"/>
            <a:ext cx="10972800" cy="365760"/>
          </a:xfrm>
          <a:prstGeom prst="rect">
            <a:avLst/>
          </a:prstGeom>
          <a:noFill/>
        </p:spPr>
        <p:txBody>
          <a:bodyPr wrap="square">
            <a:spAutoFit/>
          </a:bodyPr>
          <a:lstStyle/>
          <a:p>
            <a:pPr>
              <a:spcAft>
                <a:spcPts val="1000"/>
              </a:spcAft>
              <a:defRPr sz="1200" b="1">
                <a:solidFill>
                  <a:srgbClr val="4DDBC1"/>
                </a:solidFill>
                <a:latin typeface="Aptos"/>
              </a:defRPr>
            </a:pPr>
            <a:r>
              <a:t>FIRELY  /  SYNTHETIC HEALTHCARE ANALYTICS</a:t>
            </a:r>
          </a:p>
        </p:txBody>
      </p:sp>
      <p:sp>
        <p:nvSpPr>
          <p:cNvPr id="3" name="TextBox 2"/>
          <p:cNvSpPr txBox="1"/>
          <p:nvPr/>
        </p:nvSpPr>
        <p:spPr>
          <a:xfrm>
            <a:off x="594360" y="777240"/>
            <a:ext cx="10972800" cy="914400"/>
          </a:xfrm>
          <a:prstGeom prst="rect">
            <a:avLst/>
          </a:prstGeom>
          <a:noFill/>
        </p:spPr>
        <p:txBody>
          <a:bodyPr wrap="square">
            <a:spAutoFit/>
          </a:bodyPr>
          <a:lstStyle/>
          <a:p>
            <a:pPr>
              <a:spcAft>
                <a:spcPts val="1000"/>
              </a:spcAft>
              <a:defRPr sz="3400" b="1">
                <a:solidFill>
                  <a:srgbClr val="F5F8FC"/>
                </a:solidFill>
                <a:latin typeface="Aptos"/>
              </a:defRPr>
            </a:pPr>
            <a:r>
              <a:t>Why the result is reproducible</a:t>
            </a:r>
          </a:p>
        </p:txBody>
      </p:sp>
      <p:sp>
        <p:nvSpPr>
          <p:cNvPr id="4" name="TextBox 3"/>
          <p:cNvSpPr txBox="1"/>
          <p:nvPr/>
        </p:nvSpPr>
        <p:spPr>
          <a:xfrm>
            <a:off x="594360" y="1645920"/>
            <a:ext cx="10972800" cy="594360"/>
          </a:xfrm>
          <a:prstGeom prst="rect">
            <a:avLst/>
          </a:prstGeom>
          <a:noFill/>
        </p:spPr>
        <p:txBody>
          <a:bodyPr wrap="square">
            <a:spAutoFit/>
          </a:bodyPr>
          <a:lstStyle/>
          <a:p>
            <a:pPr>
              <a:spcAft>
                <a:spcPts val="1000"/>
              </a:spcAft>
              <a:defRPr sz="1800" b="0">
                <a:solidFill>
                  <a:srgbClr val="AFC2D2"/>
                </a:solidFill>
                <a:latin typeface="Aptos"/>
              </a:defRPr>
            </a:pPr>
            <a:r>
              <a:t>Retained source data, clear rules, and checked repeat behavior.</a:t>
            </a:r>
          </a:p>
        </p:txBody>
      </p:sp>
      <p:sp>
        <p:nvSpPr>
          <p:cNvPr id="5" name="TextBox 4"/>
          <p:cNvSpPr txBox="1"/>
          <p:nvPr/>
        </p:nvSpPr>
        <p:spPr>
          <a:xfrm>
            <a:off x="594360" y="6400800"/>
            <a:ext cx="10058400" cy="228600"/>
          </a:xfrm>
          <a:prstGeom prst="rect">
            <a:avLst/>
          </a:prstGeom>
          <a:noFill/>
        </p:spPr>
        <p:txBody>
          <a:bodyPr wrap="square">
            <a:spAutoFit/>
          </a:bodyPr>
          <a:lstStyle/>
          <a:p>
            <a:pPr>
              <a:spcAft>
                <a:spcPts val="1000"/>
              </a:spcAft>
              <a:defRPr sz="1000" b="0">
                <a:solidFill>
                  <a:srgbClr val="AFC2D2"/>
                </a:solidFill>
                <a:latin typeface="Aptos"/>
              </a:defRPr>
            </a:pPr>
            <a:r>
              <a:t>Saved synthetic batch  •  October 6, 2026  •  Information availability</a:t>
            </a:r>
          </a:p>
        </p:txBody>
      </p:sp>
      <p:sp>
        <p:nvSpPr>
          <p:cNvPr id="6" name="TextBox 5"/>
          <p:cNvSpPr txBox="1"/>
          <p:nvPr/>
        </p:nvSpPr>
        <p:spPr>
          <a:xfrm>
            <a:off x="10972800" y="6400800"/>
            <a:ext cx="594360" cy="274320"/>
          </a:xfrm>
          <a:prstGeom prst="rect">
            <a:avLst/>
          </a:prstGeom>
          <a:noFill/>
        </p:spPr>
        <p:txBody>
          <a:bodyPr wrap="square">
            <a:spAutoFit/>
          </a:bodyPr>
          <a:lstStyle/>
          <a:p>
            <a:pPr>
              <a:spcAft>
                <a:spcPts val="1000"/>
              </a:spcAft>
              <a:defRPr sz="1100" b="0">
                <a:solidFill>
                  <a:srgbClr val="4DDBC1"/>
                </a:solidFill>
                <a:latin typeface="Aptos"/>
              </a:defRPr>
            </a:pPr>
            <a:r>
              <a:t>06</a:t>
            </a:r>
          </a:p>
        </p:txBody>
      </p:sp>
      <p:sp>
        <p:nvSpPr>
          <p:cNvPr id="7" name="Rounded Rectangle 6"/>
          <p:cNvSpPr/>
          <p:nvPr/>
        </p:nvSpPr>
        <p:spPr>
          <a:xfrm>
            <a:off x="640080" y="2423160"/>
            <a:ext cx="10881360" cy="850392"/>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32888"/>
            <a:ext cx="2834640" cy="594360"/>
          </a:xfrm>
          <a:prstGeom prst="rect">
            <a:avLst/>
          </a:prstGeom>
          <a:noFill/>
        </p:spPr>
        <p:txBody>
          <a:bodyPr wrap="square">
            <a:spAutoFit/>
          </a:bodyPr>
          <a:lstStyle/>
          <a:p>
            <a:pPr>
              <a:spcAft>
                <a:spcPts val="1000"/>
              </a:spcAft>
              <a:defRPr sz="2100" b="1">
                <a:solidFill>
                  <a:srgbClr val="4DDBC1"/>
                </a:solidFill>
                <a:latin typeface="Aptos"/>
              </a:defRPr>
            </a:pPr>
            <a:r>
              <a:t>Source traceability</a:t>
            </a:r>
          </a:p>
        </p:txBody>
      </p:sp>
      <p:sp>
        <p:nvSpPr>
          <p:cNvPr id="9" name="TextBox 8"/>
          <p:cNvSpPr txBox="1"/>
          <p:nvPr/>
        </p:nvSpPr>
        <p:spPr>
          <a:xfrm>
            <a:off x="3840480" y="2532888"/>
            <a:ext cx="7406640" cy="594360"/>
          </a:xfrm>
          <a:prstGeom prst="rect">
            <a:avLst/>
          </a:prstGeom>
          <a:noFill/>
        </p:spPr>
        <p:txBody>
          <a:bodyPr wrap="square">
            <a:spAutoFit/>
          </a:bodyPr>
          <a:lstStyle/>
          <a:p>
            <a:pPr>
              <a:spcAft>
                <a:spcPts val="1000"/>
              </a:spcAft>
              <a:defRPr sz="2000" b="0">
                <a:solidFill>
                  <a:srgbClr val="F5F8FC"/>
                </a:solidFill>
                <a:latin typeface="Aptos"/>
              </a:defRPr>
            </a:pPr>
            <a:r>
              <a:t>Original JSON and batch provenance retained</a:t>
            </a:r>
          </a:p>
        </p:txBody>
      </p:sp>
      <p:sp>
        <p:nvSpPr>
          <p:cNvPr id="10" name="Rounded Rectangle 9"/>
          <p:cNvSpPr/>
          <p:nvPr/>
        </p:nvSpPr>
        <p:spPr>
          <a:xfrm>
            <a:off x="640080" y="3429000"/>
            <a:ext cx="10881360" cy="850392"/>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538728"/>
            <a:ext cx="2834640" cy="594360"/>
          </a:xfrm>
          <a:prstGeom prst="rect">
            <a:avLst/>
          </a:prstGeom>
          <a:noFill/>
        </p:spPr>
        <p:txBody>
          <a:bodyPr wrap="square">
            <a:spAutoFit/>
          </a:bodyPr>
          <a:lstStyle/>
          <a:p>
            <a:pPr>
              <a:spcAft>
                <a:spcPts val="1000"/>
              </a:spcAft>
              <a:defRPr sz="2100" b="1">
                <a:solidFill>
                  <a:srgbClr val="4DDBC1"/>
                </a:solidFill>
                <a:latin typeface="Aptos"/>
              </a:defRPr>
            </a:pPr>
            <a:r>
              <a:t>Repeat behavior</a:t>
            </a:r>
          </a:p>
        </p:txBody>
      </p:sp>
      <p:sp>
        <p:nvSpPr>
          <p:cNvPr id="12" name="TextBox 11"/>
          <p:cNvSpPr txBox="1"/>
          <p:nvPr/>
        </p:nvSpPr>
        <p:spPr>
          <a:xfrm>
            <a:off x="3840480" y="3538728"/>
            <a:ext cx="7406640" cy="594360"/>
          </a:xfrm>
          <a:prstGeom prst="rect">
            <a:avLst/>
          </a:prstGeom>
          <a:noFill/>
        </p:spPr>
        <p:txBody>
          <a:bodyPr wrap="square">
            <a:spAutoFit/>
          </a:bodyPr>
          <a:lstStyle/>
          <a:p>
            <a:pPr>
              <a:spcAft>
                <a:spcPts val="1000"/>
              </a:spcAft>
              <a:defRPr sz="2000" b="0">
                <a:solidFill>
                  <a:srgbClr val="F5F8FC"/>
                </a:solidFill>
                <a:latin typeface="Aptos"/>
              </a:defRPr>
            </a:pPr>
            <a:r>
              <a:t>Typed MERGE reruns: 0 rows inserted</a:t>
            </a:r>
          </a:p>
        </p:txBody>
      </p:sp>
      <p:sp>
        <p:nvSpPr>
          <p:cNvPr id="13" name="Rounded Rectangle 12"/>
          <p:cNvSpPr/>
          <p:nvPr/>
        </p:nvSpPr>
        <p:spPr>
          <a:xfrm>
            <a:off x="640080" y="4434840"/>
            <a:ext cx="10881360" cy="850392"/>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544568"/>
            <a:ext cx="2834640" cy="594360"/>
          </a:xfrm>
          <a:prstGeom prst="rect">
            <a:avLst/>
          </a:prstGeom>
          <a:noFill/>
        </p:spPr>
        <p:txBody>
          <a:bodyPr wrap="square">
            <a:spAutoFit/>
          </a:bodyPr>
          <a:lstStyle/>
          <a:p>
            <a:pPr>
              <a:spcAft>
                <a:spcPts val="1000"/>
              </a:spcAft>
              <a:defRPr sz="2100" b="1">
                <a:solidFill>
                  <a:srgbClr val="4DDBC1"/>
                </a:solidFill>
                <a:latin typeface="Aptos"/>
              </a:defRPr>
            </a:pPr>
            <a:r>
              <a:t>Rule checks</a:t>
            </a:r>
          </a:p>
        </p:txBody>
      </p:sp>
      <p:sp>
        <p:nvSpPr>
          <p:cNvPr id="15" name="TextBox 14"/>
          <p:cNvSpPr txBox="1"/>
          <p:nvPr/>
        </p:nvSpPr>
        <p:spPr>
          <a:xfrm>
            <a:off x="3840480" y="4544568"/>
            <a:ext cx="7406640" cy="594360"/>
          </a:xfrm>
          <a:prstGeom prst="rect">
            <a:avLst/>
          </a:prstGeom>
          <a:noFill/>
        </p:spPr>
        <p:txBody>
          <a:bodyPr wrap="square">
            <a:spAutoFit/>
          </a:bodyPr>
          <a:lstStyle/>
          <a:p>
            <a:pPr>
              <a:spcAft>
                <a:spcPts val="1000"/>
              </a:spcAft>
              <a:defRPr sz="2000" b="0">
                <a:solidFill>
                  <a:srgbClr val="F5F8FC"/>
                </a:solidFill>
                <a:latin typeface="Aptos"/>
              </a:defRPr>
            </a:pPr>
            <a:r>
              <a:t>9 of 9 focused SQL predicate scenarios passed</a:t>
            </a:r>
          </a:p>
        </p:txBody>
      </p:sp>
      <p:sp>
        <p:nvSpPr>
          <p:cNvPr id="16" name="TextBox 15"/>
          <p:cNvSpPr txBox="1"/>
          <p:nvPr/>
        </p:nvSpPr>
        <p:spPr>
          <a:xfrm>
            <a:off x="731520" y="5669280"/>
            <a:ext cx="10789920" cy="365760"/>
          </a:xfrm>
          <a:prstGeom prst="rect">
            <a:avLst/>
          </a:prstGeom>
          <a:noFill/>
        </p:spPr>
        <p:txBody>
          <a:bodyPr wrap="square">
            <a:spAutoFit/>
          </a:bodyPr>
          <a:lstStyle/>
          <a:p>
            <a:pPr>
              <a:spcAft>
                <a:spcPts val="1000"/>
              </a:spcAft>
              <a:defRPr sz="1400" b="0">
                <a:solidFill>
                  <a:srgbClr val="AFC2D2"/>
                </a:solidFill>
                <a:latin typeface="Aptos"/>
              </a:defRPr>
            </a:pPr>
            <a:r>
              <a:t>Evidence: exported results and checks, plus walkthrough confirmations.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2334"/>
        </a:solidFill>
        <a:effectLst/>
      </p:bgPr>
    </p:bg>
    <p:spTree>
      <p:nvGrpSpPr>
        <p:cNvPr id="1" name=""/>
        <p:cNvGrpSpPr/>
        <p:nvPr/>
      </p:nvGrpSpPr>
      <p:grpSpPr/>
      <p:sp>
        <p:nvSpPr>
          <p:cNvPr id="2" name="TextBox 1"/>
          <p:cNvSpPr txBox="1"/>
          <p:nvPr/>
        </p:nvSpPr>
        <p:spPr>
          <a:xfrm>
            <a:off x="594360" y="274320"/>
            <a:ext cx="10972800" cy="365760"/>
          </a:xfrm>
          <a:prstGeom prst="rect">
            <a:avLst/>
          </a:prstGeom>
          <a:noFill/>
        </p:spPr>
        <p:txBody>
          <a:bodyPr wrap="square">
            <a:spAutoFit/>
          </a:bodyPr>
          <a:lstStyle/>
          <a:p>
            <a:pPr>
              <a:spcAft>
                <a:spcPts val="1000"/>
              </a:spcAft>
              <a:defRPr sz="1200" b="1">
                <a:solidFill>
                  <a:srgbClr val="4DDBC1"/>
                </a:solidFill>
                <a:latin typeface="Aptos"/>
              </a:defRPr>
            </a:pPr>
            <a:r>
              <a:t>FIRELY  /  SYNTHETIC HEALTHCARE ANALYTICS</a:t>
            </a:r>
          </a:p>
        </p:txBody>
      </p:sp>
      <p:sp>
        <p:nvSpPr>
          <p:cNvPr id="3" name="TextBox 2"/>
          <p:cNvSpPr txBox="1"/>
          <p:nvPr/>
        </p:nvSpPr>
        <p:spPr>
          <a:xfrm>
            <a:off x="594360" y="777240"/>
            <a:ext cx="10972800" cy="914400"/>
          </a:xfrm>
          <a:prstGeom prst="rect">
            <a:avLst/>
          </a:prstGeom>
          <a:noFill/>
        </p:spPr>
        <p:txBody>
          <a:bodyPr wrap="square">
            <a:spAutoFit/>
          </a:bodyPr>
          <a:lstStyle/>
          <a:p>
            <a:pPr>
              <a:spcAft>
                <a:spcPts val="1000"/>
              </a:spcAft>
              <a:defRPr sz="3400" b="1">
                <a:solidFill>
                  <a:srgbClr val="F5F8FC"/>
                </a:solidFill>
                <a:latin typeface="Aptos"/>
              </a:defRPr>
            </a:pPr>
            <a:r>
              <a:t>Next phase  |  Scale and automate</a:t>
            </a:r>
          </a:p>
        </p:txBody>
      </p:sp>
      <p:sp>
        <p:nvSpPr>
          <p:cNvPr id="4" name="TextBox 3"/>
          <p:cNvSpPr txBox="1"/>
          <p:nvPr/>
        </p:nvSpPr>
        <p:spPr>
          <a:xfrm>
            <a:off x="594360" y="1645920"/>
            <a:ext cx="10972800" cy="594360"/>
          </a:xfrm>
          <a:prstGeom prst="rect">
            <a:avLst/>
          </a:prstGeom>
          <a:noFill/>
        </p:spPr>
        <p:txBody>
          <a:bodyPr wrap="square">
            <a:spAutoFit/>
          </a:bodyPr>
          <a:lstStyle/>
          <a:p>
            <a:pPr>
              <a:spcAft>
                <a:spcPts val="1000"/>
              </a:spcAft>
              <a:defRPr sz="1800" b="0">
                <a:solidFill>
                  <a:srgbClr val="AFC2D2"/>
                </a:solidFill>
                <a:latin typeface="Aptos"/>
              </a:defRPr>
            </a:pPr>
            <a:r>
              <a:t>Build on the completed saved-batch analytics milestone.</a:t>
            </a:r>
          </a:p>
        </p:txBody>
      </p:sp>
      <p:sp>
        <p:nvSpPr>
          <p:cNvPr id="5" name="TextBox 4"/>
          <p:cNvSpPr txBox="1"/>
          <p:nvPr/>
        </p:nvSpPr>
        <p:spPr>
          <a:xfrm>
            <a:off x="594360" y="6400800"/>
            <a:ext cx="10058400" cy="228600"/>
          </a:xfrm>
          <a:prstGeom prst="rect">
            <a:avLst/>
          </a:prstGeom>
          <a:noFill/>
        </p:spPr>
        <p:txBody>
          <a:bodyPr wrap="square">
            <a:spAutoFit/>
          </a:bodyPr>
          <a:lstStyle/>
          <a:p>
            <a:pPr>
              <a:spcAft>
                <a:spcPts val="1000"/>
              </a:spcAft>
              <a:defRPr sz="1000" b="0">
                <a:solidFill>
                  <a:srgbClr val="AFC2D2"/>
                </a:solidFill>
                <a:latin typeface="Aptos"/>
              </a:defRPr>
            </a:pPr>
            <a:r>
              <a:t>Saved synthetic batch  •  October 6, 2026  •  Information availability</a:t>
            </a:r>
          </a:p>
        </p:txBody>
      </p:sp>
      <p:sp>
        <p:nvSpPr>
          <p:cNvPr id="6" name="TextBox 5"/>
          <p:cNvSpPr txBox="1"/>
          <p:nvPr/>
        </p:nvSpPr>
        <p:spPr>
          <a:xfrm>
            <a:off x="10972800" y="6400800"/>
            <a:ext cx="594360" cy="274320"/>
          </a:xfrm>
          <a:prstGeom prst="rect">
            <a:avLst/>
          </a:prstGeom>
          <a:noFill/>
        </p:spPr>
        <p:txBody>
          <a:bodyPr wrap="square">
            <a:spAutoFit/>
          </a:bodyPr>
          <a:lstStyle/>
          <a:p>
            <a:pPr>
              <a:spcAft>
                <a:spcPts val="1000"/>
              </a:spcAft>
              <a:defRPr sz="1100" b="0">
                <a:solidFill>
                  <a:srgbClr val="4DDBC1"/>
                </a:solidFill>
                <a:latin typeface="Aptos"/>
              </a:defRPr>
            </a:pPr>
            <a:r>
              <a:t>07</a:t>
            </a:r>
          </a:p>
        </p:txBody>
      </p:sp>
      <p:sp>
        <p:nvSpPr>
          <p:cNvPr id="7" name="Rounded Rectangle 6"/>
          <p:cNvSpPr/>
          <p:nvPr/>
        </p:nvSpPr>
        <p:spPr>
          <a:xfrm>
            <a:off x="640080" y="2423160"/>
            <a:ext cx="10881360" cy="96012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60320"/>
            <a:ext cx="2834640" cy="594360"/>
          </a:xfrm>
          <a:prstGeom prst="rect">
            <a:avLst/>
          </a:prstGeom>
          <a:noFill/>
        </p:spPr>
        <p:txBody>
          <a:bodyPr wrap="square">
            <a:spAutoFit/>
          </a:bodyPr>
          <a:lstStyle/>
          <a:p>
            <a:pPr>
              <a:spcAft>
                <a:spcPts val="1000"/>
              </a:spcAft>
              <a:defRPr sz="2100" b="1">
                <a:solidFill>
                  <a:srgbClr val="4DDBC1"/>
                </a:solidFill>
                <a:latin typeface="Aptos"/>
              </a:defRPr>
            </a:pPr>
            <a:r>
              <a:t>Automate ingestion</a:t>
            </a:r>
          </a:p>
        </p:txBody>
      </p:sp>
      <p:sp>
        <p:nvSpPr>
          <p:cNvPr id="9" name="TextBox 8"/>
          <p:cNvSpPr txBox="1"/>
          <p:nvPr/>
        </p:nvSpPr>
        <p:spPr>
          <a:xfrm>
            <a:off x="3840480" y="2560320"/>
            <a:ext cx="7406640" cy="640080"/>
          </a:xfrm>
          <a:prstGeom prst="rect">
            <a:avLst/>
          </a:prstGeom>
          <a:noFill/>
        </p:spPr>
        <p:txBody>
          <a:bodyPr wrap="square">
            <a:spAutoFit/>
          </a:bodyPr>
          <a:lstStyle/>
          <a:p>
            <a:pPr>
              <a:spcAft>
                <a:spcPts val="1000"/>
              </a:spcAft>
              <a:defRPr sz="2000" b="0">
                <a:solidFill>
                  <a:srgbClr val="F5F8FC"/>
                </a:solidFill>
                <a:latin typeface="Aptos"/>
              </a:defRPr>
            </a:pPr>
            <a:r>
              <a:t>Enable direct S3 → Snowflake loading after role authorization is resolved</a:t>
            </a:r>
          </a:p>
        </p:txBody>
      </p:sp>
      <p:sp>
        <p:nvSpPr>
          <p:cNvPr id="10" name="Rounded Rectangle 9"/>
          <p:cNvSpPr/>
          <p:nvPr/>
        </p:nvSpPr>
        <p:spPr>
          <a:xfrm>
            <a:off x="640080" y="3520440"/>
            <a:ext cx="10881360" cy="96012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657600"/>
            <a:ext cx="2834640" cy="594360"/>
          </a:xfrm>
          <a:prstGeom prst="rect">
            <a:avLst/>
          </a:prstGeom>
          <a:noFill/>
        </p:spPr>
        <p:txBody>
          <a:bodyPr wrap="square">
            <a:spAutoFit/>
          </a:bodyPr>
          <a:lstStyle/>
          <a:p>
            <a:pPr>
              <a:spcAft>
                <a:spcPts val="1000"/>
              </a:spcAft>
              <a:defRPr sz="2100" b="1">
                <a:solidFill>
                  <a:srgbClr val="4DDBC1"/>
                </a:solidFill>
                <a:latin typeface="Aptos"/>
              </a:defRPr>
            </a:pPr>
            <a:r>
              <a:t>Expand the cohort</a:t>
            </a:r>
          </a:p>
        </p:txBody>
      </p:sp>
      <p:sp>
        <p:nvSpPr>
          <p:cNvPr id="12" name="TextBox 11"/>
          <p:cNvSpPr txBox="1"/>
          <p:nvPr/>
        </p:nvSpPr>
        <p:spPr>
          <a:xfrm>
            <a:off x="3840480" y="3657600"/>
            <a:ext cx="7406640" cy="640080"/>
          </a:xfrm>
          <a:prstGeom prst="rect">
            <a:avLst/>
          </a:prstGeom>
          <a:noFill/>
        </p:spPr>
        <p:txBody>
          <a:bodyPr wrap="square">
            <a:spAutoFit/>
          </a:bodyPr>
          <a:lstStyle/>
          <a:p>
            <a:pPr>
              <a:spcAft>
                <a:spcPts val="1000"/>
              </a:spcAft>
              <a:defRPr sz="2000" b="0">
                <a:solidFill>
                  <a:srgbClr val="F5F8FC"/>
                </a:solidFill>
                <a:latin typeface="Aptos"/>
              </a:defRPr>
            </a:pPr>
            <a:r>
              <a:t>Add batches and resource types with defined transformation rules</a:t>
            </a:r>
          </a:p>
        </p:txBody>
      </p:sp>
      <p:sp>
        <p:nvSpPr>
          <p:cNvPr id="13" name="Rounded Rectangle 12"/>
          <p:cNvSpPr/>
          <p:nvPr/>
        </p:nvSpPr>
        <p:spPr>
          <a:xfrm>
            <a:off x="640080" y="4617720"/>
            <a:ext cx="10881360" cy="960120"/>
          </a:xfrm>
          <a:prstGeom prst="roundRect">
            <a:avLst/>
          </a:prstGeom>
          <a:solidFill>
            <a:srgbClr val="1C35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754880"/>
            <a:ext cx="2834640" cy="594360"/>
          </a:xfrm>
          <a:prstGeom prst="rect">
            <a:avLst/>
          </a:prstGeom>
          <a:noFill/>
        </p:spPr>
        <p:txBody>
          <a:bodyPr wrap="square">
            <a:spAutoFit/>
          </a:bodyPr>
          <a:lstStyle/>
          <a:p>
            <a:pPr>
              <a:spcAft>
                <a:spcPts val="1000"/>
              </a:spcAft>
              <a:defRPr sz="2100" b="1">
                <a:solidFill>
                  <a:srgbClr val="4DDBC1"/>
                </a:solidFill>
                <a:latin typeface="Aptos"/>
              </a:defRPr>
            </a:pPr>
            <a:r>
              <a:t>Operationalize</a:t>
            </a:r>
          </a:p>
        </p:txBody>
      </p:sp>
      <p:sp>
        <p:nvSpPr>
          <p:cNvPr id="15" name="TextBox 14"/>
          <p:cNvSpPr txBox="1"/>
          <p:nvPr/>
        </p:nvSpPr>
        <p:spPr>
          <a:xfrm>
            <a:off x="3840480" y="4754880"/>
            <a:ext cx="7406640" cy="640080"/>
          </a:xfrm>
          <a:prstGeom prst="rect">
            <a:avLst/>
          </a:prstGeom>
          <a:noFill/>
        </p:spPr>
        <p:txBody>
          <a:bodyPr wrap="square">
            <a:spAutoFit/>
          </a:bodyPr>
          <a:lstStyle/>
          <a:p>
            <a:pPr>
              <a:spcAft>
                <a:spcPts val="1000"/>
              </a:spcAft>
              <a:defRPr sz="2000" b="0">
                <a:solidFill>
                  <a:srgbClr val="F5F8FC"/>
                </a:solidFill>
                <a:latin typeface="Aptos"/>
              </a:defRPr>
            </a:pPr>
            <a:r>
              <a:t>Schedule loads; add monitoring and least-privilege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