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6e3c55960844215" /><Relationship Type="http://schemas.openxmlformats.org/officeDocument/2006/relationships/extended-properties" Target="/docProps/app.xml" Id="Rc70e31767351424b" /><Relationship Type="http://schemas.openxmlformats.org/officeDocument/2006/relationships/officeDocument" Target="/ppt/presentation.xml" Id="R11087646843e4ae8" /></Relationships>
</file>

<file path=ppt/presentation.xml><?xml version="1.0" encoding="utf-8"?>
<p:presentation xmlns:p="http://schemas.openxmlformats.org/presentationml/2006/main">
  <p:sldMasterIdLst>
    <p:sldMasterId xmlns:r="http://schemas.openxmlformats.org/officeDocument/2006/relationships" id="2147483648" r:id="R3025c3f0339f440d"/>
  </p:sldMasterIdLst>
  <p:notesMasterIdLst>
    <p:notesMasterId xmlns:r="http://schemas.openxmlformats.org/officeDocument/2006/relationships" r:id="R67640ca377944a37"/>
  </p:notesMasterIdLst>
  <p:sldIdLst>
    <p:sldId xmlns:r="http://schemas.openxmlformats.org/officeDocument/2006/relationships" id="256" r:id="R163b2642153a4a5b"/>
    <p:sldId xmlns:r="http://schemas.openxmlformats.org/officeDocument/2006/relationships" id="257" r:id="R71d6afbe62604800"/>
    <p:sldId xmlns:r="http://schemas.openxmlformats.org/officeDocument/2006/relationships" id="258" r:id="R53e3e66c88214b29"/>
    <p:sldId xmlns:r="http://schemas.openxmlformats.org/officeDocument/2006/relationships" id="259" r:id="R83c0ba795a104bba"/>
    <p:sldId xmlns:r="http://schemas.openxmlformats.org/officeDocument/2006/relationships" id="260" r:id="R4fe4016a9aea4a45"/>
    <p:sldId xmlns:r="http://schemas.openxmlformats.org/officeDocument/2006/relationships" id="261" r:id="R551f003020ff48c1"/>
    <p:sldId xmlns:r="http://schemas.openxmlformats.org/officeDocument/2006/relationships" id="262" r:id="R820c4217f8644fe5"/>
    <p:sldId xmlns:r="http://schemas.openxmlformats.org/officeDocument/2006/relationships" id="263" r:id="R613c9ba5f6bf44f6"/>
    <p:sldId xmlns:r="http://schemas.openxmlformats.org/officeDocument/2006/relationships" id="264" r:id="R2f53a1cc9b7540ee"/>
    <p:sldId xmlns:r="http://schemas.openxmlformats.org/officeDocument/2006/relationships" id="265" r:id="R282fee4ec86e4282"/>
    <p:sldId xmlns:r="http://schemas.openxmlformats.org/officeDocument/2006/relationships" id="266" r:id="Ra443697c96e24c41"/>
    <p:sldId xmlns:r="http://schemas.openxmlformats.org/officeDocument/2006/relationships" id="267" r:id="Rc786aeb8847847d9"/>
    <p:sldId xmlns:r="http://schemas.openxmlformats.org/officeDocument/2006/relationships" id="268" r:id="Rf9d03fa300024527"/>
    <p:sldId xmlns:r="http://schemas.openxmlformats.org/officeDocument/2006/relationships" id="269" r:id="R1cf6b9790eac42c4"/>
    <p:sldId xmlns:r="http://schemas.openxmlformats.org/officeDocument/2006/relationships" id="270" r:id="R2df9783181814085"/>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0b4b357e7c4d7b" /><Relationship Type="http://schemas.openxmlformats.org/officeDocument/2006/relationships/slideMaster" Target="/ppt/slideMasters/slideMaster1.xml" Id="R3025c3f0339f440d" /><Relationship Type="http://schemas.openxmlformats.org/officeDocument/2006/relationships/notesMaster" Target="/ppt/notesMasters/notesMaster1.xml" Id="R67640ca377944a37" /><Relationship Type="http://schemas.openxmlformats.org/officeDocument/2006/relationships/presProps" Target="/ppt/presProps.xml" Id="R386cf8be83954de7" /><Relationship Type="http://schemas.openxmlformats.org/officeDocument/2006/relationships/tableStyles" Target="/ppt/tableStyles.xml" Id="R909acc9236ed43c2" /><Relationship Type="http://schemas.openxmlformats.org/officeDocument/2006/relationships/slide" Target="/ppt/slides/slide1.xml" Id="R163b2642153a4a5b" /><Relationship Type="http://schemas.openxmlformats.org/officeDocument/2006/relationships/slide" Target="/ppt/slides/slide2.xml" Id="R71d6afbe62604800" /><Relationship Type="http://schemas.openxmlformats.org/officeDocument/2006/relationships/slide" Target="/ppt/slides/slide3.xml" Id="R53e3e66c88214b29" /><Relationship Type="http://schemas.openxmlformats.org/officeDocument/2006/relationships/slide" Target="/ppt/slides/slide4.xml" Id="R83c0ba795a104bba" /><Relationship Type="http://schemas.openxmlformats.org/officeDocument/2006/relationships/slide" Target="/ppt/slides/slide5.xml" Id="R4fe4016a9aea4a45" /><Relationship Type="http://schemas.openxmlformats.org/officeDocument/2006/relationships/slide" Target="/ppt/slides/slide6.xml" Id="R551f003020ff48c1" /><Relationship Type="http://schemas.openxmlformats.org/officeDocument/2006/relationships/slide" Target="/ppt/slides/slide7.xml" Id="R820c4217f8644fe5" /><Relationship Type="http://schemas.openxmlformats.org/officeDocument/2006/relationships/slide" Target="/ppt/slides/slide8.xml" Id="R613c9ba5f6bf44f6" /><Relationship Type="http://schemas.openxmlformats.org/officeDocument/2006/relationships/slide" Target="/ppt/slides/slide9.xml" Id="R2f53a1cc9b7540ee" /><Relationship Type="http://schemas.openxmlformats.org/officeDocument/2006/relationships/slide" Target="/ppt/slides/slide10.xml" Id="R282fee4ec86e4282" /><Relationship Type="http://schemas.openxmlformats.org/officeDocument/2006/relationships/slide" Target="/ppt/slides/slide11.xml" Id="Ra443697c96e24c41" /><Relationship Type="http://schemas.openxmlformats.org/officeDocument/2006/relationships/slide" Target="/ppt/slides/slide12.xml" Id="Rc786aeb8847847d9" /><Relationship Type="http://schemas.openxmlformats.org/officeDocument/2006/relationships/slide" Target="/ppt/slides/slide13.xml" Id="Rf9d03fa300024527" /><Relationship Type="http://schemas.openxmlformats.org/officeDocument/2006/relationships/slide" Target="/ppt/slides/slide14.xml" Id="R1cf6b9790eac42c4" /><Relationship Type="http://schemas.openxmlformats.org/officeDocument/2006/relationships/slide" Target="/ppt/slides/slide15.xml" Id="R2df97831818140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e1b415d1214c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ffd4a68e164619" /><Relationship Type="http://schemas.openxmlformats.org/officeDocument/2006/relationships/notesMaster" Target="/ppt/notesMasters/notesMaster1.xml" Id="R58ebd1c2d9c64e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9554b7c5ca4d3b" /><Relationship Type="http://schemas.openxmlformats.org/officeDocument/2006/relationships/notesMaster" Target="/ppt/notesMasters/notesMaster1.xml" Id="Rb601cd535e2b4e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965ff204794bc6" /><Relationship Type="http://schemas.openxmlformats.org/officeDocument/2006/relationships/notesMaster" Target="/ppt/notesMasters/notesMaster1.xml" Id="R3cb1b8bd2aa145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38728dc0074b2a" /><Relationship Type="http://schemas.openxmlformats.org/officeDocument/2006/relationships/notesMaster" Target="/ppt/notesMasters/notesMaster1.xml" Id="Rc2337008f9d34f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03fd74bb6a489f" /><Relationship Type="http://schemas.openxmlformats.org/officeDocument/2006/relationships/notesMaster" Target="/ppt/notesMasters/notesMaster1.xml" Id="Reca43a6619234f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4b42c027a24c3e" /><Relationship Type="http://schemas.openxmlformats.org/officeDocument/2006/relationships/notesMaster" Target="/ppt/notesMasters/notesMaster1.xml" Id="R4b695897c06044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e7ce89a5ab4498" /><Relationship Type="http://schemas.openxmlformats.org/officeDocument/2006/relationships/notesMaster" Target="/ppt/notesMasters/notesMaster1.xml" Id="R939782cf449944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07e0ca1b3d4174" /><Relationship Type="http://schemas.openxmlformats.org/officeDocument/2006/relationships/notesMaster" Target="/ppt/notesMasters/notesMaster1.xml" Id="Ra696b654f4ff47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5791deaf5e47e7" /><Relationship Type="http://schemas.openxmlformats.org/officeDocument/2006/relationships/notesMaster" Target="/ppt/notesMasters/notesMaster1.xml" Id="Ref4ea6ff97bb49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55201e04204d15" /><Relationship Type="http://schemas.openxmlformats.org/officeDocument/2006/relationships/notesMaster" Target="/ppt/notesMasters/notesMaster1.xml" Id="Rc737268c2b554d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987d79fd324f3f" /><Relationship Type="http://schemas.openxmlformats.org/officeDocument/2006/relationships/notesMaster" Target="/ppt/notesMasters/notesMaster1.xml" Id="Rd915022bdb5d4b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57d50d43c64cf2" /><Relationship Type="http://schemas.openxmlformats.org/officeDocument/2006/relationships/notesMaster" Target="/ppt/notesMasters/notesMaster1.xml" Id="R572ae9c945ba4a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786a074d5e4cfa" /><Relationship Type="http://schemas.openxmlformats.org/officeDocument/2006/relationships/notesMaster" Target="/ppt/notesMasters/notesMaster1.xml" Id="R6b9170a3f46e41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1a7386e5b54dca" /><Relationship Type="http://schemas.openxmlformats.org/officeDocument/2006/relationships/notesMaster" Target="/ppt/notesMasters/notesMaster1.xml" Id="R5b1a7aa3375040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d15b73e65740f5" /><Relationship Type="http://schemas.openxmlformats.org/officeDocument/2006/relationships/notesMaster" Target="/ppt/notesMasters/notesMaster1.xml" Id="Rc3f76dd458b444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examples-ndjson.zip, 11 selected resource types; Pasted text(1).txt transformation SQL; deck/revision/analysis.json. 933 resources including 265 Patient, 24 Medication and 3 Appointment resources. 641 records are in eight clinical categories. Coverage values are locally reproduced source-archive calculations, not a new live Snowflake query. Native FHIR examples bypass HL7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examples-ndjson.zip, 11 selected resource types; Pasted text(1).txt transformation SQL; deck/revision/analysis.json. 933 resources including 265 Patient, 24 Medication and 3 Appointment resources. 641 records are in eight clinical categories. Coverage values are locally reproduced source-archive calculations, not a new live Snowflake query. Native FHIR examples bypass HL7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examples-ndjson.zip, 11 selected resource types; Pasted text(1).txt transformation SQL; deck/revision/analysis.json. 933 resources including 265 Patient, 24 Medication and 3 Appointment resources. 641 records are in eight clinical categories. Coverage values are locally reproduced source-archive calculations, not a new live Snowflake query. Native FHIR examples bypass HL7 conversion. Operational Firely used local Docker with an AWS RDS backend. Later local-copy mode used local persistence.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examples-ndjson.zip, 11 selected resource types; Pasted text(1).txt transformation SQL; deck/revision/analysis.json. 933 resources including 265 Patient, 24 Medication and 3 Appointment resources. 641 records are in eight clinical categories. Coverage values are locally reproduced source-archive calculations, not a new live Snowflake query. Native FHIR examples bypass HL7 conversion. Supported ADT, ORU and SIU fixtures map to Patient, Observation and Appointment. Conversion did not produce all 933 native FHIR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07-HIPAA-Considerations.md, CURRENT-PROGRESS-2026-10-05.md, October 3 reviewer milestone and uploaded auth source. OIDC/PKCE, token validation, resource read/search scopes, viewer expiry capped at 15 minutes. Document gates tested in earlier reviewer workflow; later local-copy mode deferred documents. Viewer/Auth HTTPS, local FHIR HTTP, certificate-validated RDS TLS. S3 server-side encryption. No compliance certification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examples-ndjson.zip, 11 selected resource types; Pasted text(1).txt transformation SQL; deck/revision/analysis.json. 933 resources including 265 Patient, 24 Medication and 3 Appointment resources. 641 records are in eight clinical categories. Coverage values are locally reproduced source-archive calculations, not a new live Snowflake query. Native FHIR examples bypass HL7 conversion. The MERGE excerpt omits ON predicates and the full INSERT list for display. The actual key includes source dataset, batch ID, resource type and resource ID. Duplicate/conflicting payload checks precede MERGE.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examples-ndjson.zip, 11 selected resource types; Pasted text(1).txt transformation SQL; deck/revision/analysis.json. 933 resources including 265 Patient, 24 Medication and 3 Appointment resources. 641 records are in eight clinical categories. Coverage values are locally reproduced source-archive calculations, not a new live Snowflake query. Native FHIR examples bypass HL7 conversion. Patient supplies the denominator. Medication is master data. The nine counted domains are Observation, Condition, AllergyIntolerance, MedicationRequest, MedicationStatement, Encounter, DiagnosticReport, DocumentReference and Appointment.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examples-ndjson.zip, 11 selected resource types; Pasted text(1).txt transformation SQL; deck/revision/analysis.json. 933 resources including 265 Patient, 24 Medication and 3 Appointment resources. 641 records are in eight clinical categories. Coverage values are locally reproduced source-archive calculations, not a new live Snowflake query. Native FHIR examples bypass HL7 conversion. Counts are distinct patients with &gt;=1 linked record per category. Categories overlap. A zero is information coverage, not clinical absence.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examples-ndjson.zip, 11 selected resource types; Pasted text(1).txt transformation SQL; deck/revision/analysis.json. 933 resources including 265 Patient, 24 Medication and 3 Appointment resources. 641 records are in eight clinical categories. Coverage values are locally reproduced source-archive calculations, not a new live Snowflake query. Native FHIR examples bypass HL7 conversion. Coverage has no appointment-window filter. Separate glucose predicate uses code, numeric value, unit, final/amended/corrected status and [appointment−7days,appointment) time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examples-ndjson.zip, 11 selected resource types; Pasted text(1).txt transformation SQL; deck/revision/analysis.json. 933 resources including 265 Patient, 24 Medication and 3 Appointment resources. 641 records are in eight clinical categories. Coverage values are locally reproduced source-archive calculations, not a new live Snowflake query. Native FHIR examples bypass HL7 conversion. Of 641 clinical records, 609 resolve. Remaining categories: 15 unresolved Patient/id references, 10 other formats, 7 missing literal references. Appointments use participant references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examples-ndjson.zip, 11 selected resource types; Pasted text(1).txt transformation SQL; deck/revision/analysis.json. 933 resources including 265 Patient, 24 Medication and 3 Appointment resources. 641 records are in eight clinical categories. Coverage values are locally reproduced source-archive calculations, not a new live Snowflake query. Native FHIR examples bypass HL7 conversion. Prepared query examples, not completed Cortex runs. Analyst uses a semantic model; Code can inspect and execute explicit read-only 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firely-typed-analytics-2026-10-06.sql_2026-10-06-1204.csv. Five TRUE: amended, corrected, equivalent timezone, exactly at window start, one second before appointment. Four FALSE: exactly at appointment, missing time, before window, preliminary. Tests concern glucose predicate, not whole-platform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UI image(20261007-172329).png. Historical October 7 operational capture, synthetic patient. Two qualifying results displayed here are separate from expanded source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examples-ndjson.zip, 11 selected resource types; Pasted text(1).txt transformation SQL; deck/revision/analysis.json. 933 resources including 265 Patient, 24 Medication and 3 Appointment resources. 641 records are in eight clinical categories. Coverage values are locally reproduced source-archive calculations, not a new live Snowflake query. Native FHIR examples bypass HL7 conversion. Outcomes are demonstrated capabilities, not measured clinical benefit or business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daea8e2d6f4f1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d9e495c20d41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869f8f1d5647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43b7969610846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389c88f492b48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4c8a44a5ecd4e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F0CC74-6260-4A72-A127-A694EF6CF1C8}"/>
              </a:ext>
            </a:extLst>
          </p:cNvPr>
          <p:cNvSpPr>
            <a:spLocks xmlns:a="http://schemas.openxmlformats.org/drawingml/2006/main" noGrp="1"/>
          </p:cNvSpPr>
          <p:nvPr>
            <p:ph type="title" idx="0"/>
          </p:nvPr>
        </p:nvSpPr>
        <p:spPr>
          <a:xfrm xmlns:a="http://schemas.openxmlformats.org/drawingml/2006/main">
            <a:off x="1371600" y="2914650"/>
            <a:ext cx="10972800" cy="11144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4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7A2B66-B1AA-4B92-8B6C-168E8DD483C8}"/>
              </a:ext>
            </a:extLst>
          </p:cNvPr>
          <p:cNvSpPr>
            <a:spLocks xmlns:a="http://schemas.openxmlformats.org/drawingml/2006/main" noGrp="1"/>
          </p:cNvSpPr>
          <p:nvPr>
            <p:ph type="subTitle" idx="1"/>
          </p:nvPr>
        </p:nvSpPr>
        <p:spPr>
          <a:xfrm xmlns:a="http://schemas.openxmlformats.org/drawingml/2006/main">
            <a:off x="2057400" y="4243388"/>
            <a:ext cx="9601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3"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C942EA8-33CA-490C-B09F-C86130C4AC91}"/>
              </a:ext>
            </a:extLst>
          </p:cNvPr>
          <p:cNvSpPr>
            <a:spLocks xmlns:a="http://schemas.openxmlformats.org/drawingml/2006/main" noGrp="1"/>
          </p:cNvSpPr>
          <p:nvPr>
            <p:ph type="title" idx="0"/>
          </p:nvPr>
        </p:nvSpPr>
        <p:spPr>
          <a:xfrm xmlns:a="http://schemas.openxmlformats.org/drawingml/2006/main">
            <a:off x="1371600" y="3214688"/>
            <a:ext cx="10972800" cy="1285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069473-6A03-4250-A449-BA7DF580051B}"/>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EE32551-33E2-489B-B33D-F83CFEFF4663}"/>
              </a:ext>
            </a:extLst>
          </p:cNvPr>
          <p:cNvSpPr>
            <a:spLocks xmlns:a="http://schemas.openxmlformats.org/drawingml/2006/main" noGrp="1"/>
          </p:cNvSpPr>
          <p:nvPr>
            <p:ph type="body" idx="1"/>
          </p:nvPr>
        </p:nvSpPr>
        <p:spPr>
          <a:xfrm xmlns:a="http://schemas.openxmlformats.org/drawingml/2006/main">
            <a:off x="771525" y="2143125"/>
            <a:ext cx="121729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nSpc>
                <a:spcPct val="110000"/>
              </a:lnSpc>
              <a:spcBef>
                <a:spcPts val="0"/>
              </a:spcBef>
              <a:spcAft>
                <a:spcPts val="1350"/>
              </a:spcAft>
              <a:buChar char="•"/>
            </a:lvl1pPr>
            <a:lvl2pPr marL="600075" indent="-257175">
              <a:lnSpc>
                <a:spcPct val="110000"/>
              </a:lnSpc>
              <a:spcBef>
                <a:spcPts val="0"/>
              </a:spcBef>
              <a:spcAft>
                <a:spcPts val="1350"/>
              </a:spcAft>
              <a:buChar char="•"/>
            </a:lvl2pPr>
            <a:lvl3pPr marL="942975" indent="-257175">
              <a:lnSpc>
                <a:spcPct val="110000"/>
              </a:lnSpc>
              <a:spcBef>
                <a:spcPts val="0"/>
              </a:spcBef>
              <a:spcAft>
                <a:spcPts val="1350"/>
              </a:spcAft>
              <a:buChar char="•"/>
            </a:lvl3pPr>
            <a:lvl4pPr marL="1285875" indent="-257175">
              <a:lnSpc>
                <a:spcPct val="110000"/>
              </a:lnSpc>
              <a:spcBef>
                <a:spcPts val="0"/>
              </a:spcBef>
              <a:spcAft>
                <a:spcPts val="1350"/>
              </a:spcAft>
              <a:buChar char="•"/>
            </a:lvl4pPr>
            <a:lvl5pPr marL="1628775" indent="-257175">
              <a:lnSpc>
                <a:spcPct val="110000"/>
              </a:lnSpc>
              <a:spcBef>
                <a:spcPts val="0"/>
              </a:spcBef>
              <a:spcAft>
                <a:spcPts val="1350"/>
              </a:spcAft>
              <a:buChar char="•"/>
            </a:lvl5pPr>
            <a:lvl6pPr marL="1971675" indent="-257175">
              <a:lnSpc>
                <a:spcPct val="110000"/>
              </a:lnSpc>
              <a:spcBef>
                <a:spcPts val="0"/>
              </a:spcBef>
              <a:spcAft>
                <a:spcPts val="1350"/>
              </a:spcAft>
              <a:buChar char="•"/>
            </a:lvl6pPr>
            <a:lvl7pPr marL="2314575" indent="-257175">
              <a:lnSpc>
                <a:spcPct val="110000"/>
              </a:lnSpc>
              <a:spcBef>
                <a:spcPts val="0"/>
              </a:spcBef>
              <a:spcAft>
                <a:spcPts val="1350"/>
              </a:spcAft>
              <a:buChar char="•"/>
            </a:lvl7pPr>
            <a:lvl8pPr marL="2657475" indent="-257175">
              <a:lnSpc>
                <a:spcPct val="110000"/>
              </a:lnSpc>
              <a:spcBef>
                <a:spcPts val="0"/>
              </a:spcBef>
              <a:spcAft>
                <a:spcPts val="1350"/>
              </a:spcAft>
              <a:buChar char="•"/>
            </a:lvl8pPr>
            <a:lvl9pPr marL="3000375" indent="-257175">
              <a:lnSpc>
                <a:spcPct val="110000"/>
              </a:lnSpc>
              <a:spcBef>
                <a:spcPts val="0"/>
              </a:spcBef>
              <a:spcAft>
                <a:spcPts val="135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07F4DAE-75D4-4A4B-A114-15107C19952C}"/>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D9A51C-9131-446A-A2E8-FB26343F246E}"/>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nSpc>
                <a:spcPct val="110000"/>
              </a:lnSpc>
              <a:spcBef>
                <a:spcPts val="0"/>
              </a:spcBef>
              <a:spcAft>
                <a:spcPts val="1350"/>
              </a:spcAft>
              <a:buChar char="•"/>
            </a:lvl1pPr>
            <a:lvl2pPr marL="600075" indent="-257175">
              <a:lnSpc>
                <a:spcPct val="110000"/>
              </a:lnSpc>
              <a:spcBef>
                <a:spcPts val="0"/>
              </a:spcBef>
              <a:spcAft>
                <a:spcPts val="1350"/>
              </a:spcAft>
              <a:buChar char="•"/>
            </a:lvl2pPr>
            <a:lvl3pPr marL="942975" indent="-257175">
              <a:lnSpc>
                <a:spcPct val="110000"/>
              </a:lnSpc>
              <a:spcBef>
                <a:spcPts val="0"/>
              </a:spcBef>
              <a:spcAft>
                <a:spcPts val="1350"/>
              </a:spcAft>
              <a:buChar char="•"/>
            </a:lvl3pPr>
            <a:lvl4pPr marL="1285875" indent="-257175">
              <a:lnSpc>
                <a:spcPct val="110000"/>
              </a:lnSpc>
              <a:spcBef>
                <a:spcPts val="0"/>
              </a:spcBef>
              <a:spcAft>
                <a:spcPts val="1350"/>
              </a:spcAft>
              <a:buChar char="•"/>
            </a:lvl4pPr>
            <a:lvl5pPr marL="1628775" indent="-257175">
              <a:lnSpc>
                <a:spcPct val="110000"/>
              </a:lnSpc>
              <a:spcBef>
                <a:spcPts val="0"/>
              </a:spcBef>
              <a:spcAft>
                <a:spcPts val="1350"/>
              </a:spcAft>
              <a:buChar char="•"/>
            </a:lvl5pPr>
            <a:lvl6pPr marL="1971675" indent="-257175">
              <a:lnSpc>
                <a:spcPct val="110000"/>
              </a:lnSpc>
              <a:spcBef>
                <a:spcPts val="0"/>
              </a:spcBef>
              <a:spcAft>
                <a:spcPts val="1350"/>
              </a:spcAft>
              <a:buChar char="•"/>
            </a:lvl6pPr>
            <a:lvl7pPr marL="2314575" indent="-257175">
              <a:lnSpc>
                <a:spcPct val="110000"/>
              </a:lnSpc>
              <a:spcBef>
                <a:spcPts val="0"/>
              </a:spcBef>
              <a:spcAft>
                <a:spcPts val="1350"/>
              </a:spcAft>
              <a:buChar char="•"/>
            </a:lvl7pPr>
            <a:lvl8pPr marL="2657475" indent="-257175">
              <a:lnSpc>
                <a:spcPct val="110000"/>
              </a:lnSpc>
              <a:spcBef>
                <a:spcPts val="0"/>
              </a:spcBef>
              <a:spcAft>
                <a:spcPts val="1350"/>
              </a:spcAft>
              <a:buChar char="•"/>
            </a:lvl8pPr>
            <a:lvl9pPr marL="3000375" indent="-257175">
              <a:lnSpc>
                <a:spcPct val="110000"/>
              </a:lnSpc>
              <a:spcBef>
                <a:spcPts val="0"/>
              </a:spcBef>
              <a:spcAft>
                <a:spcPts val="135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D38A873-47F2-4951-8EF0-83BFE03F3B7C}"/>
              </a:ext>
            </a:extLst>
          </p:cNvPr>
          <p:cNvSpPr>
            <a:spLocks xmlns:a="http://schemas.openxmlformats.org/drawingml/2006/main" noGrp="1"/>
          </p:cNvSpPr>
          <p:nvPr>
            <p:ph type="body" idx="2"/>
          </p:nvPr>
        </p:nvSpPr>
        <p:spPr>
          <a:xfrm xmlns:a="http://schemas.openxmlformats.org/drawingml/2006/main">
            <a:off x="72866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nSpc>
                <a:spcPct val="110000"/>
              </a:lnSpc>
              <a:spcBef>
                <a:spcPts val="0"/>
              </a:spcBef>
              <a:spcAft>
                <a:spcPts val="1350"/>
              </a:spcAft>
              <a:buChar char="•"/>
            </a:lvl1pPr>
            <a:lvl2pPr marL="600075" indent="-257175">
              <a:lnSpc>
                <a:spcPct val="110000"/>
              </a:lnSpc>
              <a:spcBef>
                <a:spcPts val="0"/>
              </a:spcBef>
              <a:spcAft>
                <a:spcPts val="1350"/>
              </a:spcAft>
              <a:buChar char="•"/>
            </a:lvl2pPr>
            <a:lvl3pPr marL="942975" indent="-257175">
              <a:lnSpc>
                <a:spcPct val="110000"/>
              </a:lnSpc>
              <a:spcBef>
                <a:spcPts val="0"/>
              </a:spcBef>
              <a:spcAft>
                <a:spcPts val="1350"/>
              </a:spcAft>
              <a:buChar char="•"/>
            </a:lvl3pPr>
            <a:lvl4pPr marL="1285875" indent="-257175">
              <a:lnSpc>
                <a:spcPct val="110000"/>
              </a:lnSpc>
              <a:spcBef>
                <a:spcPts val="0"/>
              </a:spcBef>
              <a:spcAft>
                <a:spcPts val="1350"/>
              </a:spcAft>
              <a:buChar char="•"/>
            </a:lvl4pPr>
            <a:lvl5pPr marL="1628775" indent="-257175">
              <a:lnSpc>
                <a:spcPct val="110000"/>
              </a:lnSpc>
              <a:spcBef>
                <a:spcPts val="0"/>
              </a:spcBef>
              <a:spcAft>
                <a:spcPts val="1350"/>
              </a:spcAft>
              <a:buChar char="•"/>
            </a:lvl5pPr>
            <a:lvl6pPr marL="1971675" indent="-257175">
              <a:lnSpc>
                <a:spcPct val="110000"/>
              </a:lnSpc>
              <a:spcBef>
                <a:spcPts val="0"/>
              </a:spcBef>
              <a:spcAft>
                <a:spcPts val="1350"/>
              </a:spcAft>
              <a:buChar char="•"/>
            </a:lvl6pPr>
            <a:lvl7pPr marL="2314575" indent="-257175">
              <a:lnSpc>
                <a:spcPct val="110000"/>
              </a:lnSpc>
              <a:spcBef>
                <a:spcPts val="0"/>
              </a:spcBef>
              <a:spcAft>
                <a:spcPts val="1350"/>
              </a:spcAft>
              <a:buChar char="•"/>
            </a:lvl7pPr>
            <a:lvl8pPr marL="2657475" indent="-257175">
              <a:lnSpc>
                <a:spcPct val="110000"/>
              </a:lnSpc>
              <a:spcBef>
                <a:spcPts val="0"/>
              </a:spcBef>
              <a:spcAft>
                <a:spcPts val="1350"/>
              </a:spcAft>
              <a:buChar char="•"/>
            </a:lvl8pPr>
            <a:lvl9pPr marL="3000375" indent="-257175">
              <a:lnSpc>
                <a:spcPct val="110000"/>
              </a:lnSpc>
              <a:spcBef>
                <a:spcPts val="0"/>
              </a:spcBef>
              <a:spcAft>
                <a:spcPts val="135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5B272D-C264-4E04-BEB1-CCBA789C383B}"/>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7E9261-26C7-4BDB-80F9-D1CD30F71E2E}"/>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nSpc>
                <a:spcPct val="110000"/>
              </a:lnSpc>
              <a:spcBef>
                <a:spcPts val="0"/>
              </a:spcBef>
              <a:spcAft>
                <a:spcPts val="1350"/>
              </a:spcAft>
              <a:buChar char="•"/>
            </a:lvl1pPr>
            <a:lvl2pPr marL="600075" indent="-257175">
              <a:lnSpc>
                <a:spcPct val="110000"/>
              </a:lnSpc>
              <a:spcBef>
                <a:spcPts val="0"/>
              </a:spcBef>
              <a:spcAft>
                <a:spcPts val="1350"/>
              </a:spcAft>
              <a:buChar char="•"/>
            </a:lvl2pPr>
            <a:lvl3pPr marL="942975" indent="-257175">
              <a:lnSpc>
                <a:spcPct val="110000"/>
              </a:lnSpc>
              <a:spcBef>
                <a:spcPts val="0"/>
              </a:spcBef>
              <a:spcAft>
                <a:spcPts val="1350"/>
              </a:spcAft>
              <a:buChar char="•"/>
            </a:lvl3pPr>
            <a:lvl4pPr marL="1285875" indent="-257175">
              <a:lnSpc>
                <a:spcPct val="110000"/>
              </a:lnSpc>
              <a:spcBef>
                <a:spcPts val="0"/>
              </a:spcBef>
              <a:spcAft>
                <a:spcPts val="1350"/>
              </a:spcAft>
              <a:buChar char="•"/>
            </a:lvl4pPr>
            <a:lvl5pPr marL="1628775" indent="-257175">
              <a:lnSpc>
                <a:spcPct val="110000"/>
              </a:lnSpc>
              <a:spcBef>
                <a:spcPts val="0"/>
              </a:spcBef>
              <a:spcAft>
                <a:spcPts val="1350"/>
              </a:spcAft>
              <a:buChar char="•"/>
            </a:lvl5pPr>
            <a:lvl6pPr marL="1971675" indent="-257175">
              <a:lnSpc>
                <a:spcPct val="110000"/>
              </a:lnSpc>
              <a:spcBef>
                <a:spcPts val="0"/>
              </a:spcBef>
              <a:spcAft>
                <a:spcPts val="1350"/>
              </a:spcAft>
              <a:buChar char="•"/>
            </a:lvl6pPr>
            <a:lvl7pPr marL="2314575" indent="-257175">
              <a:lnSpc>
                <a:spcPct val="110000"/>
              </a:lnSpc>
              <a:spcBef>
                <a:spcPts val="0"/>
              </a:spcBef>
              <a:spcAft>
                <a:spcPts val="1350"/>
              </a:spcAft>
              <a:buChar char="•"/>
            </a:lvl7pPr>
            <a:lvl8pPr marL="2657475" indent="-257175">
              <a:lnSpc>
                <a:spcPct val="110000"/>
              </a:lnSpc>
              <a:spcBef>
                <a:spcPts val="0"/>
              </a:spcBef>
              <a:spcAft>
                <a:spcPts val="1350"/>
              </a:spcAft>
              <a:buChar char="•"/>
            </a:lvl8pPr>
            <a:lvl9pPr marL="3000375" indent="-257175">
              <a:lnSpc>
                <a:spcPct val="110000"/>
              </a:lnSpc>
              <a:spcBef>
                <a:spcPts val="0"/>
              </a:spcBef>
              <a:spcAft>
                <a:spcPts val="135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76a19e0d3f4877" /><Relationship Type="http://schemas.openxmlformats.org/officeDocument/2006/relationships/slideLayout" Target="/ppt/slideLayouts/slideLayout1.xml" Id="R75e42ac7c79f497d" /><Relationship Type="http://schemas.openxmlformats.org/officeDocument/2006/relationships/slideLayout" Target="/ppt/slideLayouts/slideLayout2.xml" Id="R9e1f2bc7e0cc4a16" /><Relationship Type="http://schemas.openxmlformats.org/officeDocument/2006/relationships/slideLayout" Target="/ppt/slideLayouts/slideLayout3.xml" Id="R5867699a317d439b" /><Relationship Type="http://schemas.openxmlformats.org/officeDocument/2006/relationships/slideLayout" Target="/ppt/slideLayouts/slideLayout4.xml" Id="Rbf3efbb895664f38" /><Relationship Type="http://schemas.openxmlformats.org/officeDocument/2006/relationships/slideLayout" Target="/ppt/slideLayouts/slideLayout5.xml" Id="R8b5975ed68ce49a8" /><Relationship Type="http://schemas.openxmlformats.org/officeDocument/2006/relationships/slideLayout" Target="/ppt/slideLayouts/slideLayout6.xml" Id="R9b5f40d9054d44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e42ac7c79f497d"/>
    <p:sldLayoutId xmlns:r="http://schemas.openxmlformats.org/officeDocument/2006/relationships" id="2147483650" r:id="R9e1f2bc7e0cc4a16"/>
    <p:sldLayoutId xmlns:r="http://schemas.openxmlformats.org/officeDocument/2006/relationships" id="2147483651" r:id="R5867699a317d439b"/>
    <p:sldLayoutId xmlns:r="http://schemas.openxmlformats.org/officeDocument/2006/relationships" id="2147483652" r:id="Rbf3efbb895664f38"/>
    <p:sldLayoutId xmlns:r="http://schemas.openxmlformats.org/officeDocument/2006/relationships" id="2147483653" r:id="R8b5975ed68ce49a8"/>
    <p:sldLayoutId xmlns:r="http://schemas.openxmlformats.org/officeDocument/2006/relationships" id="2147483654" r:id="R9b5f40d9054d44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0835cdf53cd4734" /><Relationship Type="http://schemas.openxmlformats.org/officeDocument/2006/relationships/notesSlide" Target="/ppt/notesSlides/notesSlide1.xml" Id="Rc2c38809ddd74a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3f6c4270bf4fc2" /><Relationship Type="http://schemas.openxmlformats.org/officeDocument/2006/relationships/notesSlide" Target="/ppt/notesSlides/notesSlide2.xml" Id="Rcdd3d6356ac348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b4443f18ec4eac" /><Relationship Type="http://schemas.openxmlformats.org/officeDocument/2006/relationships/notesSlide" Target="/ppt/notesSlides/notesSlide3.xml" Id="R061ca098551249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963983836e4bd4" /><Relationship Type="http://schemas.openxmlformats.org/officeDocument/2006/relationships/notesSlide" Target="/ppt/notesSlides/notesSlide4.xml" Id="R611c0489b3ac4f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754922c1a847a8" /><Relationship Type="http://schemas.openxmlformats.org/officeDocument/2006/relationships/notesSlide" Target="/ppt/notesSlides/notesSlide5.xml" Id="R82f71156c0c846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cd5f8a5614d4b46" /><Relationship Type="http://schemas.openxmlformats.org/officeDocument/2006/relationships/notesSlide" Target="/ppt/notesSlides/notesSlide6.xml" Id="R67758980d98a41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67355bd9e94b2b" /><Relationship Type="http://schemas.openxmlformats.org/officeDocument/2006/relationships/notesSlide" Target="/ppt/notesSlides/notesSlide7.xml" Id="R4bbf4bddf40b43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7cff1bba100424d" /><Relationship Type="http://schemas.openxmlformats.org/officeDocument/2006/relationships/notesSlide" Target="/ppt/notesSlides/notesSlide8.xml" Id="Rd8889682916540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da0c099b2fb414a" /><Relationship Type="http://schemas.openxmlformats.org/officeDocument/2006/relationships/chart" Target="/ppt/slides/charts/chart1.xml" Id="R67fb541da6cd4ab4" /><Relationship Type="http://schemas.openxmlformats.org/officeDocument/2006/relationships/notesSlide" Target="/ppt/notesSlides/notesSlide9.xml" Id="Rda40d97a609b43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f28fb6d74924505" /><Relationship Type="http://schemas.openxmlformats.org/officeDocument/2006/relationships/notesSlide" Target="/ppt/notesSlides/notesSlide10.xml" Id="Ra379095bce5648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691640401474c68" /><Relationship Type="http://schemas.openxmlformats.org/officeDocument/2006/relationships/notesSlide" Target="/ppt/notesSlides/notesSlide11.xml" Id="R110e4f08429b4f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6b3bd2619c74f36" /><Relationship Type="http://schemas.openxmlformats.org/officeDocument/2006/relationships/notesSlide" Target="/ppt/notesSlides/notesSlide12.xml" Id="R4dab8786146948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d42a9dc35a74229" /><Relationship Type="http://schemas.openxmlformats.org/officeDocument/2006/relationships/notesSlide" Target="/ppt/notesSlides/notesSlide13.xml" Id="Rd0ef47b3407e46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f7805e676514788" /><Relationship Type="http://schemas.openxmlformats.org/officeDocument/2006/relationships/image" Target="/ppt/media/image.png" Id="R82e873455de748ef" /><Relationship Type="http://schemas.openxmlformats.org/officeDocument/2006/relationships/notesSlide" Target="/ppt/notesSlides/notesSlide14.xml" Id="R46bd235d5b684a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c361a4e66b547ac" /><Relationship Type="http://schemas.openxmlformats.org/officeDocument/2006/relationships/notesSlide" Target="/ppt/notesSlides/notesSlide15.xml" Id="Rc5f09e8fc711422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Patients</c:v>
          </c:tx>
          <c:spPr>
            <a:solidFill xmlns:a="http://schemas.openxmlformats.org/drawingml/2006/main">
              <a:srgbClr val="1765BA"/>
            </a:solidFill>
          </c:spPr>
          <c:cat>
            <c:strRef>
              <c:f>'Chart Data'!$A$2:$A$10</c:f>
              <c:strCache>
                <c:ptCount val="9"/>
                <c:pt idx="0">
                  <c:v>Observations</c:v>
                </c:pt>
                <c:pt idx="1">
                  <c:v>Diagnostic reports</c:v>
                </c:pt>
                <c:pt idx="2">
                  <c:v>Encounters</c:v>
                </c:pt>
                <c:pt idx="3">
                  <c:v>Conditions</c:v>
                </c:pt>
                <c:pt idx="4">
                  <c:v>Allergies</c:v>
                </c:pt>
                <c:pt idx="5">
                  <c:v>Medication orders</c:v>
                </c:pt>
                <c:pt idx="6">
                  <c:v>Medication statements</c:v>
                </c:pt>
                <c:pt idx="7">
                  <c:v>Documents</c:v>
                </c:pt>
                <c:pt idx="8">
                  <c:v>Appointments</c:v>
                </c:pt>
              </c:strCache>
            </c:strRef>
          </c:cat>
          <c:val>
            <c:numRef>
              <c:f>'Chart Data'!$B$2:$B$10</c:f>
              <c:numCache>
                <c:formatCode>General</c:formatCode>
                <c:ptCount val="9"/>
                <c:pt idx="0">
                  <c:v>15</c:v>
                </c:pt>
                <c:pt idx="1">
                  <c:v>15</c:v>
                </c:pt>
                <c:pt idx="2">
                  <c:v>5</c:v>
                </c:pt>
                <c:pt idx="3">
                  <c:v>3</c:v>
                </c:pt>
                <c:pt idx="4">
                  <c:v>2</c:v>
                </c:pt>
                <c:pt idx="5">
                  <c:v>1</c:v>
                </c:pt>
                <c:pt idx="6">
                  <c:v>1</c:v>
                </c:pt>
                <c:pt idx="7">
                  <c:v>1</c:v>
                </c:pt>
                <c:pt idx="8">
                  <c:v>1</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2375F"/>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30455F"/>
                </a:solidFill>
                <a:latin typeface="DejaVu Sans"/>
                <a:ea typeface="DejaVu Sans"/>
                <a:cs typeface="DejaVu Sans"/>
              </a:defRPr>
            </a:pPr>
          </a:p>
        </c:txPr>
        <c:crossAx val="48672768"/>
      </c:catAx>
      <c:valAx>
        <c:axId val="48672768"/>
        <c:scaling>
          <c:orientation val="minMax"/>
          <c:max val="20"/>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C93"/>
                </a:solidFill>
                <a:latin typeface="DejaVu Sans"/>
                <a:ea typeface="DejaVu Sans"/>
                <a:cs typeface="DejaVu Sans"/>
              </a:defRPr>
            </a:pPr>
          </a:p>
        </c:txPr>
        <c:crossAx val="48650112"/>
        <c:crossBetween val="between"/>
        <c:majorUnit val="5"/>
      </c:valAx>
      <c:spPr>
        <a:solidFill xmlns:a="http://schemas.openxmlformats.org/drawingml/2006/main">
          <a:srgbClr val="F5F8FD"/>
        </a:solidFill>
      </c:spPr>
    </c:plotArea>
    <c:plotVisOnly val="1"/>
  </c:chart>
  <c:spPr>
    <a:solidFill xmlns:a="http://schemas.openxmlformats.org/drawingml/2006/main">
      <a:srgbClr val="F5F8FD"/>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3A5924-8EBC-453E-B924-6E913CEC8CCF}"/>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Connected Care Data Platform</a:t>
            </a:r>
          </a:p>
        </p:txBody>
      </p:sp>
      <p:sp>
        <p:nvSpPr>
          <p:cNvPr id="2" name="">
            <a:extLst xmlns:a="http://schemas.openxmlformats.org/drawingml/2006/main">
              <a:ext uri="{FF2B5EF4-FFF2-40B4-BE49-F238E27FC236}">
                <a16:creationId xmlns:a16="http://schemas.microsoft.com/office/drawing/2014/main" id="{9A2674FB-0CCC-442D-94C9-DB9EE11A559C}"/>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97E540A0-AFFE-4B92-B38E-2B088363365E}"/>
              </a:ext>
            </a:extLst>
          </p:cNvPr>
          <p:cNvSpPr>
            <a:spLocks xmlns:a="http://schemas.openxmlformats.org/drawingml/2006/main" noGrp="1"/>
          </p:cNvSpPr>
          <p:nvPr/>
        </p:nvSpPr>
        <p:spPr>
          <a:xfrm xmlns:a="http://schemas.openxmlformats.org/drawingml/2006/main">
            <a:off x="685800" y="2505075"/>
            <a:ext cx="1209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0">
                <a:solidFill>
                  <a:srgbClr val="12375F"/>
                </a:solidFill>
                <a:latin typeface="DejaVu Sans"/>
                <a:ea typeface="DejaVu Sans"/>
                <a:cs typeface="DejaVu Sans"/>
              </a:defRPr>
            </a:defPPr>
          </a:lstStyle>
          <a:p xmlns:a="http://schemas.openxmlformats.org/drawingml/2006/main">
            <a:pPr>
              <a:defRPr sz="3600" b="0">
                <a:solidFill>
                  <a:srgbClr val="12375F"/>
                </a:solidFill>
                <a:latin typeface="DejaVu Sans"/>
                <a:ea typeface="DejaVu Sans"/>
                <a:cs typeface="DejaVu Sans"/>
              </a:defRPr>
            </a:pPr>
            <a:r>
              <a:rPr sz="3600" b="0">
                <a:solidFill>
                  <a:srgbClr val="12375F"/>
                </a:solidFill>
                <a:latin typeface="DejaVu Sans"/>
                <a:ea typeface="DejaVu Sans"/>
                <a:cs typeface="DejaVu Sans"/>
              </a:rPr>
              <a:t>Clinical interoperability and cloud analytics</a:t>
            </a:r>
          </a:p>
        </p:txBody>
      </p:sp>
      <p:sp>
        <p:nvSpPr>
          <p:cNvPr id="4" name="">
            <a:extLst xmlns:a="http://schemas.openxmlformats.org/drawingml/2006/main">
              <a:ext uri="{FF2B5EF4-FFF2-40B4-BE49-F238E27FC236}">
                <a16:creationId xmlns:a16="http://schemas.microsoft.com/office/drawing/2014/main" id="{FA797BE4-B094-4A89-B56B-9A2D371A29EB}"/>
              </a:ext>
            </a:extLst>
          </p:cNvPr>
          <p:cNvSpPr>
            <a:spLocks xmlns:a="http://schemas.openxmlformats.org/drawingml/2006/main" noGrp="1"/>
          </p:cNvSpPr>
          <p:nvPr/>
        </p:nvSpPr>
        <p:spPr>
          <a:xfrm xmlns:a="http://schemas.openxmlformats.org/drawingml/2006/main">
            <a:off x="685800" y="4810125"/>
            <a:ext cx="1209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16867F"/>
                </a:solidFill>
                <a:latin typeface="DejaVu Sans"/>
                <a:ea typeface="DejaVu Sans"/>
                <a:cs typeface="DejaVu Sans"/>
              </a:defRPr>
            </a:defPPr>
          </a:lstStyle>
          <a:p xmlns:a="http://schemas.openxmlformats.org/drawingml/2006/main">
            <a:pPr>
              <a:defRPr sz="2700" b="0">
                <a:solidFill>
                  <a:srgbClr val="16867F"/>
                </a:solidFill>
                <a:latin typeface="DejaVu Sans"/>
                <a:ea typeface="DejaVu Sans"/>
                <a:cs typeface="DejaVu Sans"/>
              </a:defRPr>
            </a:pPr>
            <a:r>
              <a:rPr sz="2700" b="0">
                <a:solidFill>
                  <a:srgbClr val="16867F"/>
                </a:solidFill>
                <a:latin typeface="DejaVu Sans"/>
                <a:ea typeface="DejaVu Sans"/>
                <a:cs typeface="DejaVu Sans"/>
              </a:rPr>
              <a:t>933 FHIR resources     265 patients     11 resource types</a:t>
            </a:r>
          </a:p>
        </p:txBody>
      </p:sp>
    </p:spTree>
    <p:extLst>
      <p:ext uri="{BB962C8B-B14F-4D97-AF65-F5344CB8AC3E}">
        <p14:creationId xmlns:p14="http://schemas.microsoft.com/office/powerpoint/2010/main" val="152253569"/>
      </p:ext>
    </p:extLst>
  </p:cSld>
</p:sld>
</file>

<file path=ppt/slides/slide2.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646DEF-7B59-4260-B587-ABBF20061296}"/>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Fragmented records obscure patient information</a:t>
            </a:r>
          </a:p>
        </p:txBody>
      </p:sp>
      <p:sp>
        <p:nvSpPr>
          <p:cNvPr id="2" name="">
            <a:extLst xmlns:a="http://schemas.openxmlformats.org/drawingml/2006/main">
              <a:ext uri="{FF2B5EF4-FFF2-40B4-BE49-F238E27FC236}">
                <a16:creationId xmlns:a16="http://schemas.microsoft.com/office/drawing/2014/main" id="{BB64E224-5503-4C53-B1A9-C07D77203E4E}"/>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384A0A49-F564-4B1C-A579-B24B70FD476D}"/>
              </a:ext>
            </a:extLst>
          </p:cNvPr>
          <p:cNvSpPr>
            <a:spLocks xmlns:a="http://schemas.openxmlformats.org/drawingml/2006/main" noGrp="1"/>
          </p:cNvSpPr>
          <p:nvPr/>
        </p:nvSpPr>
        <p:spPr>
          <a:xfrm xmlns:a="http://schemas.openxmlformats.org/drawingml/2006/main">
            <a:off x="685800" y="2305050"/>
            <a:ext cx="11763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0">
                <a:solidFill>
                  <a:srgbClr val="12375F"/>
                </a:solidFill>
                <a:latin typeface="DejaVu Sans"/>
                <a:ea typeface="DejaVu Sans"/>
                <a:cs typeface="DejaVu Sans"/>
              </a:defRPr>
            </a:defPPr>
          </a:lstStyle>
          <a:p xmlns:a="http://schemas.openxmlformats.org/drawingml/2006/main">
            <a:pPr>
              <a:defRPr sz="3225" b="0">
                <a:solidFill>
                  <a:srgbClr val="12375F"/>
                </a:solidFill>
                <a:latin typeface="DejaVu Sans"/>
                <a:ea typeface="DejaVu Sans"/>
                <a:cs typeface="DejaVu Sans"/>
              </a:defRPr>
            </a:pPr>
            <a:r>
              <a:rPr sz="3225" b="0">
                <a:solidFill>
                  <a:srgbClr val="12375F"/>
                </a:solidFill>
                <a:latin typeface="DejaVu Sans"/>
                <a:ea typeface="DejaVu Sans"/>
                <a:cs typeface="DejaVu Sans"/>
              </a:rPr>
              <a:t>A record can exist yet fail to support the right patient or visit.</a:t>
            </a:r>
          </a:p>
        </p:txBody>
      </p:sp>
      <p:sp>
        <p:nvSpPr>
          <p:cNvPr id="4" name="">
            <a:extLst xmlns:a="http://schemas.openxmlformats.org/drawingml/2006/main">
              <a:ext uri="{FF2B5EF4-FFF2-40B4-BE49-F238E27FC236}">
                <a16:creationId xmlns:a16="http://schemas.microsoft.com/office/drawing/2014/main" id="{ACA2B264-5FBE-45F3-88EE-B869DE7B0FBF}"/>
              </a:ext>
            </a:extLst>
          </p:cNvPr>
          <p:cNvSpPr>
            <a:spLocks xmlns:a="http://schemas.openxmlformats.org/drawingml/2006/main" noGrp="1"/>
          </p:cNvSpPr>
          <p:nvPr/>
        </p:nvSpPr>
        <p:spPr>
          <a:xfrm xmlns:a="http://schemas.openxmlformats.org/drawingml/2006/main">
            <a:off x="685800" y="4610100"/>
            <a:ext cx="11763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30455F"/>
                </a:solidFill>
                <a:latin typeface="DejaVu Sans"/>
                <a:ea typeface="DejaVu Sans"/>
                <a:cs typeface="DejaVu Sans"/>
              </a:defRPr>
            </a:defPPr>
          </a:lstStyle>
          <a:p xmlns:a="http://schemas.openxmlformats.org/drawingml/2006/main">
            <a:pPr>
              <a:defRPr sz="2700" b="0">
                <a:solidFill>
                  <a:srgbClr val="30455F"/>
                </a:solidFill>
                <a:latin typeface="DejaVu Sans"/>
                <a:ea typeface="DejaVu Sans"/>
                <a:cs typeface="DejaVu Sans"/>
              </a:defRPr>
            </a:pPr>
            <a:r>
              <a:rPr sz="2700" b="0">
                <a:solidFill>
                  <a:srgbClr val="30455F"/>
                </a:solidFill>
                <a:latin typeface="DejaVu Sans"/>
                <a:ea typeface="DejaVu Sans"/>
                <a:cs typeface="DejaVu Sans"/>
              </a:rPr>
              <a:t>Missing links, dates and context leave reviewers unsure what is available.</a:t>
            </a:r>
          </a:p>
        </p:txBody>
      </p:sp>
    </p:spTree>
    <p:extLst>
      <p:ext uri="{BB962C8B-B14F-4D97-AF65-F5344CB8AC3E}">
        <p14:creationId xmlns:p14="http://schemas.microsoft.com/office/powerpoint/2010/main" val="229632703"/>
      </p:ext>
    </p:extLst>
  </p:cSld>
</p:sld>
</file>

<file path=ppt/slides/slide3.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94FE582-82BF-43D0-8BB5-734495032096}"/>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Three phases connect clinical events to analytics</a:t>
            </a:r>
          </a:p>
        </p:txBody>
      </p:sp>
      <p:sp>
        <p:nvSpPr>
          <p:cNvPr id="2" name="">
            <a:extLst xmlns:a="http://schemas.openxmlformats.org/drawingml/2006/main">
              <a:ext uri="{FF2B5EF4-FFF2-40B4-BE49-F238E27FC236}">
                <a16:creationId xmlns:a16="http://schemas.microsoft.com/office/drawing/2014/main" id="{60ECB802-F9BF-424E-8C87-C702637A7B44}"/>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2FC2B32A-6376-42A2-82B7-C152D95DD6C5}"/>
              </a:ext>
            </a:extLst>
          </p:cNvPr>
          <p:cNvSpPr>
            <a:spLocks xmlns:a="http://schemas.openxmlformats.org/drawingml/2006/main" noGrp="1"/>
          </p:cNvSpPr>
          <p:nvPr/>
        </p:nvSpPr>
        <p:spPr>
          <a:xfrm xmlns:a="http://schemas.openxmlformats.org/drawingml/2006/main">
            <a:off x="685800" y="2476500"/>
            <a:ext cx="1228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0">
                <a:solidFill>
                  <a:srgbClr val="1765BA"/>
                </a:solidFill>
                <a:latin typeface="DejaVu Sans"/>
                <a:ea typeface="DejaVu Sans"/>
                <a:cs typeface="DejaVu Sans"/>
              </a:defRPr>
            </a:defPPr>
          </a:lstStyle>
          <a:p xmlns:a="http://schemas.openxmlformats.org/drawingml/2006/main">
            <a:pPr>
              <a:defRPr sz="2850" b="0">
                <a:solidFill>
                  <a:srgbClr val="1765BA"/>
                </a:solidFill>
                <a:latin typeface="DejaVu Sans"/>
                <a:ea typeface="DejaVu Sans"/>
                <a:cs typeface="DejaVu Sans"/>
              </a:defRPr>
            </a:pPr>
            <a:r>
              <a:rPr sz="2850" b="0">
                <a:solidFill>
                  <a:srgbClr val="1765BA"/>
                </a:solidFill>
                <a:latin typeface="DejaVu Sans"/>
                <a:ea typeface="DejaVu Sans"/>
                <a:cs typeface="DejaVu Sans"/>
              </a:rPr>
              <a:t>1  HL7 → FHIR       2  S3 ingestion       3  Snowflake</a:t>
            </a:r>
          </a:p>
        </p:txBody>
      </p:sp>
      <p:sp>
        <p:nvSpPr>
          <p:cNvPr id="4" name="">
            <a:extLst xmlns:a="http://schemas.openxmlformats.org/drawingml/2006/main">
              <a:ext uri="{FF2B5EF4-FFF2-40B4-BE49-F238E27FC236}">
                <a16:creationId xmlns:a16="http://schemas.microsoft.com/office/drawing/2014/main" id="{7CB5694F-0662-4B28-A907-BE5CF9BE7BE3}"/>
              </a:ext>
            </a:extLst>
          </p:cNvPr>
          <p:cNvSpPr>
            <a:spLocks xmlns:a="http://schemas.openxmlformats.org/drawingml/2006/main" noGrp="1"/>
          </p:cNvSpPr>
          <p:nvPr/>
        </p:nvSpPr>
        <p:spPr>
          <a:xfrm xmlns:a="http://schemas.openxmlformats.org/drawingml/2006/main">
            <a:off x="685800" y="4800600"/>
            <a:ext cx="11763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0">
                <a:solidFill>
                  <a:srgbClr val="30455F"/>
                </a:solidFill>
                <a:latin typeface="DejaVu Sans"/>
                <a:ea typeface="DejaVu Sans"/>
                <a:cs typeface="DejaVu Sans"/>
              </a:defRPr>
            </a:defPPr>
          </a:lstStyle>
          <a:p xmlns:a="http://schemas.openxmlformats.org/drawingml/2006/main">
            <a:pPr>
              <a:defRPr sz="2850" b="0">
                <a:solidFill>
                  <a:srgbClr val="30455F"/>
                </a:solidFill>
                <a:latin typeface="DejaVu Sans"/>
                <a:ea typeface="DejaVu Sans"/>
                <a:cs typeface="DejaVu Sans"/>
              </a:defRPr>
            </a:pPr>
            <a:r>
              <a:rPr sz="2850" b="0">
                <a:solidFill>
                  <a:srgbClr val="30455F"/>
                </a:solidFill>
                <a:latin typeface="DejaVu Sans"/>
                <a:ea typeface="DejaVu Sans"/>
                <a:cs typeface="DejaVu Sans"/>
              </a:rPr>
              <a:t>The 933-resource native FHIR dataset expands downstream coverage.</a:t>
            </a:r>
          </a:p>
        </p:txBody>
      </p:sp>
    </p:spTree>
    <p:extLst>
      <p:ext uri="{BB962C8B-B14F-4D97-AF65-F5344CB8AC3E}">
        <p14:creationId xmlns:p14="http://schemas.microsoft.com/office/powerpoint/2010/main" val="975287932"/>
      </p:ext>
    </p:extLst>
  </p:cSld>
</p:sld>
</file>

<file path=ppt/slides/slide4.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384B30-DDA9-466A-9285-602056BBCC12}"/>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Two source paths converge in cloud analytics</a:t>
            </a:r>
          </a:p>
        </p:txBody>
      </p:sp>
      <p:sp>
        <p:nvSpPr>
          <p:cNvPr id="2" name="">
            <a:extLst xmlns:a="http://schemas.openxmlformats.org/drawingml/2006/main">
              <a:ext uri="{FF2B5EF4-FFF2-40B4-BE49-F238E27FC236}">
                <a16:creationId xmlns:a16="http://schemas.microsoft.com/office/drawing/2014/main" id="{F31ADD56-6954-4BB7-90E9-CA694E76D4EC}"/>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9EE67F48-BA9F-4E09-9E1F-6017BBC2B583}"/>
              </a:ext>
            </a:extLst>
          </p:cNvPr>
          <p:cNvSpPr>
            <a:spLocks xmlns:a="http://schemas.openxmlformats.org/drawingml/2006/main" noGrp="1"/>
          </p:cNvSpPr>
          <p:nvPr/>
        </p:nvSpPr>
        <p:spPr>
          <a:xfrm xmlns:a="http://schemas.openxmlformats.org/drawingml/2006/main">
            <a:off x="685800" y="2428875"/>
            <a:ext cx="1219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1765BA"/>
                </a:solidFill>
                <a:latin typeface="DejaVu Sans"/>
                <a:ea typeface="DejaVu Sans"/>
                <a:cs typeface="DejaVu Sans"/>
              </a:defRPr>
            </a:defPPr>
          </a:lstStyle>
          <a:p xmlns:a="http://schemas.openxmlformats.org/drawingml/2006/main">
            <a:pPr>
              <a:defRPr sz="2700" b="0">
                <a:solidFill>
                  <a:srgbClr val="1765BA"/>
                </a:solidFill>
                <a:latin typeface="DejaVu Sans"/>
                <a:ea typeface="DejaVu Sans"/>
                <a:cs typeface="DejaVu Sans"/>
              </a:defRPr>
            </a:pPr>
            <a:r>
              <a:rPr sz="2700" b="0">
                <a:solidFill>
                  <a:srgbClr val="1765BA"/>
                </a:solidFill>
                <a:latin typeface="DejaVu Sans"/>
                <a:ea typeface="DejaVu Sans"/>
                <a:cs typeface="DejaVu Sans"/>
              </a:rPr>
              <a:t>HL7 events → Python mapping → Firely → authorized export</a:t>
            </a:r>
          </a:p>
        </p:txBody>
      </p:sp>
      <p:sp>
        <p:nvSpPr>
          <p:cNvPr id="4" name="">
            <a:extLst xmlns:a="http://schemas.openxmlformats.org/drawingml/2006/main">
              <a:ext uri="{FF2B5EF4-FFF2-40B4-BE49-F238E27FC236}">
                <a16:creationId xmlns:a16="http://schemas.microsoft.com/office/drawing/2014/main" id="{47DF40AB-EF43-4F6C-8B80-7F96BD7659C8}"/>
              </a:ext>
            </a:extLst>
          </p:cNvPr>
          <p:cNvSpPr>
            <a:spLocks xmlns:a="http://schemas.openxmlformats.org/drawingml/2006/main" noGrp="1"/>
          </p:cNvSpPr>
          <p:nvPr/>
        </p:nvSpPr>
        <p:spPr>
          <a:xfrm xmlns:a="http://schemas.openxmlformats.org/drawingml/2006/main">
            <a:off x="685800" y="4733925"/>
            <a:ext cx="1219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16867F"/>
                </a:solidFill>
                <a:latin typeface="DejaVu Sans"/>
                <a:ea typeface="DejaVu Sans"/>
                <a:cs typeface="DejaVu Sans"/>
              </a:defRPr>
            </a:defPPr>
          </a:lstStyle>
          <a:p xmlns:a="http://schemas.openxmlformats.org/drawingml/2006/main">
            <a:pPr>
              <a:defRPr sz="2700" b="0">
                <a:solidFill>
                  <a:srgbClr val="16867F"/>
                </a:solidFill>
                <a:latin typeface="DejaVu Sans"/>
                <a:ea typeface="DejaVu Sans"/>
                <a:cs typeface="DejaVu Sans"/>
              </a:defRPr>
            </a:pPr>
            <a:r>
              <a:rPr sz="2700" b="0">
                <a:solidFill>
                  <a:srgbClr val="16867F"/>
                </a:solidFill>
                <a:latin typeface="DejaVu Sans"/>
                <a:ea typeface="DejaVu Sans"/>
                <a:cs typeface="DejaVu Sans"/>
              </a:rPr>
              <a:t>Native FHIR + exported batches → private S3 → Snowflake</a:t>
            </a:r>
          </a:p>
        </p:txBody>
      </p:sp>
    </p:spTree>
    <p:extLst>
      <p:ext uri="{BB962C8B-B14F-4D97-AF65-F5344CB8AC3E}">
        <p14:creationId xmlns:p14="http://schemas.microsoft.com/office/powerpoint/2010/main" val="869533704"/>
      </p:ext>
    </p:extLst>
  </p:cSld>
</p:sld>
</file>

<file path=ppt/slides/slide5.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3689BE-0465-44C0-8F16-3311AC66FBF6}"/>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FHIR preserves patient and visit context</a:t>
            </a:r>
          </a:p>
        </p:txBody>
      </p:sp>
      <p:sp>
        <p:nvSpPr>
          <p:cNvPr id="2" name="">
            <a:extLst xmlns:a="http://schemas.openxmlformats.org/drawingml/2006/main">
              <a:ext uri="{FF2B5EF4-FFF2-40B4-BE49-F238E27FC236}">
                <a16:creationId xmlns:a16="http://schemas.microsoft.com/office/drawing/2014/main" id="{B1AD1A20-449F-457C-8E1B-1D45A7E33CFE}"/>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68F46F3A-8089-4499-B2F9-DEB7C583C39E}"/>
              </a:ext>
            </a:extLst>
          </p:cNvPr>
          <p:cNvSpPr>
            <a:spLocks xmlns:a="http://schemas.openxmlformats.org/drawingml/2006/main" noGrp="1"/>
          </p:cNvSpPr>
          <p:nvPr/>
        </p:nvSpPr>
        <p:spPr>
          <a:xfrm xmlns:a="http://schemas.openxmlformats.org/drawingml/2006/main">
            <a:off x="685800" y="2409825"/>
            <a:ext cx="1219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765BA"/>
                </a:solidFill>
                <a:latin typeface="DejaVu Sans"/>
                <a:ea typeface="DejaVu Sans"/>
                <a:cs typeface="DejaVu Sans"/>
              </a:defRPr>
            </a:defPPr>
          </a:lstStyle>
          <a:p xmlns:a="http://schemas.openxmlformats.org/drawingml/2006/main">
            <a:pPr>
              <a:defRPr sz="2400" b="0">
                <a:solidFill>
                  <a:srgbClr val="1765BA"/>
                </a:solidFill>
                <a:latin typeface="DejaVu Sans"/>
                <a:ea typeface="DejaVu Sans"/>
                <a:cs typeface="DejaVu Sans"/>
              </a:defRPr>
            </a:pPr>
            <a:r>
              <a:rPr sz="2400" b="0">
                <a:solidFill>
                  <a:srgbClr val="1765BA"/>
                </a:solidFill>
                <a:latin typeface="DejaVu Sans"/>
                <a:ea typeface="DejaVu Sans"/>
                <a:cs typeface="DejaVu Sans"/>
              </a:rPr>
              <a:t>ADT → Patient     ORU → Observation     SIU → Appointment</a:t>
            </a:r>
          </a:p>
        </p:txBody>
      </p:sp>
      <p:sp>
        <p:nvSpPr>
          <p:cNvPr id="4" name="">
            <a:extLst xmlns:a="http://schemas.openxmlformats.org/drawingml/2006/main">
              <a:ext uri="{FF2B5EF4-FFF2-40B4-BE49-F238E27FC236}">
                <a16:creationId xmlns:a16="http://schemas.microsoft.com/office/drawing/2014/main" id="{136F62F6-E6C1-423F-93B0-DF1F8BE25A2E}"/>
              </a:ext>
            </a:extLst>
          </p:cNvPr>
          <p:cNvSpPr>
            <a:spLocks xmlns:a="http://schemas.openxmlformats.org/drawingml/2006/main" noGrp="1"/>
          </p:cNvSpPr>
          <p:nvPr/>
        </p:nvSpPr>
        <p:spPr>
          <a:xfrm xmlns:a="http://schemas.openxmlformats.org/drawingml/2006/main">
            <a:off x="685800" y="4524375"/>
            <a:ext cx="1219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30455F"/>
                </a:solidFill>
                <a:latin typeface="DejaVu Sans"/>
                <a:ea typeface="DejaVu Sans"/>
                <a:cs typeface="DejaVu Sans"/>
              </a:defRPr>
            </a:defPPr>
          </a:lstStyle>
          <a:p xmlns:a="http://schemas.openxmlformats.org/drawingml/2006/main">
            <a:pPr>
              <a:defRPr sz="2700" b="0">
                <a:solidFill>
                  <a:srgbClr val="30455F"/>
                </a:solidFill>
                <a:latin typeface="DejaVu Sans"/>
                <a:ea typeface="DejaVu Sans"/>
                <a:cs typeface="DejaVu Sans"/>
              </a:defRPr>
            </a:pPr>
            <a:r>
              <a:rPr sz="2700" b="0">
                <a:solidFill>
                  <a:srgbClr val="30455F"/>
                </a:solidFill>
                <a:latin typeface="DejaVu Sans"/>
                <a:ea typeface="DejaVu Sans"/>
                <a:cs typeface="DejaVu Sans"/>
              </a:rPr>
              <a:t>Stable IDs and references connect records.</a:t>
            </a:r>
          </a:p>
          <a:p xmlns:a="http://schemas.openxmlformats.org/drawingml/2006/main">
            <a:pPr>
              <a:defRPr sz="2700" b="0">
                <a:solidFill>
                  <a:srgbClr val="30455F"/>
                </a:solidFill>
                <a:latin typeface="DejaVu Sans"/>
                <a:ea typeface="DejaVu Sans"/>
                <a:cs typeface="DejaVu Sans"/>
              </a:defRPr>
            </a:pPr>
            <a:r>
              <a:rPr sz="2700" b="0">
                <a:solidFill>
                  <a:srgbClr val="30455F"/>
                </a:solidFill>
                <a:latin typeface="DejaVu Sans"/>
                <a:ea typeface="DejaVu Sans"/>
                <a:cs typeface="DejaVu Sans"/>
              </a:rPr>
              <a:t>Native FHIR extends the model to 11 resource types.</a:t>
            </a:r>
          </a:p>
        </p:txBody>
      </p:sp>
    </p:spTree>
    <p:extLst>
      <p:ext uri="{BB962C8B-B14F-4D97-AF65-F5344CB8AC3E}">
        <p14:creationId xmlns:p14="http://schemas.microsoft.com/office/powerpoint/2010/main" val="847871606"/>
      </p:ext>
    </p:extLst>
  </p:cSld>
</p:sld>
</file>

<file path=ppt/slides/slide6.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468805-4700-4F45-A1AD-9B8E03BD1A78}"/>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Privacy controls govern review and data handling</a:t>
            </a:r>
          </a:p>
        </p:txBody>
      </p:sp>
      <p:sp>
        <p:nvSpPr>
          <p:cNvPr id="2" name="">
            <a:extLst xmlns:a="http://schemas.openxmlformats.org/drawingml/2006/main">
              <a:ext uri="{FF2B5EF4-FFF2-40B4-BE49-F238E27FC236}">
                <a16:creationId xmlns:a16="http://schemas.microsoft.com/office/drawing/2014/main" id="{F28CF17F-BE9F-45FD-8748-17FC2FBF6DCE}"/>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8BA1DF6C-C1A7-4088-95B3-3EFF2724A29E}"/>
              </a:ext>
            </a:extLst>
          </p:cNvPr>
          <p:cNvSpPr>
            <a:spLocks xmlns:a="http://schemas.openxmlformats.org/drawingml/2006/main" noGrp="1"/>
          </p:cNvSpPr>
          <p:nvPr/>
        </p:nvSpPr>
        <p:spPr>
          <a:xfrm xmlns:a="http://schemas.openxmlformats.org/drawingml/2006/main">
            <a:off x="685800" y="2343150"/>
            <a:ext cx="1209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0">
                <a:solidFill>
                  <a:srgbClr val="1765BA"/>
                </a:solidFill>
                <a:latin typeface="DejaVu Sans"/>
                <a:ea typeface="DejaVu Sans"/>
                <a:cs typeface="DejaVu Sans"/>
              </a:defRPr>
            </a:defPPr>
          </a:lstStyle>
          <a:p xmlns:a="http://schemas.openxmlformats.org/drawingml/2006/main">
            <a:pPr>
              <a:defRPr sz="2775" b="0">
                <a:solidFill>
                  <a:srgbClr val="1765BA"/>
                </a:solidFill>
                <a:latin typeface="DejaVu Sans"/>
                <a:ea typeface="DejaVu Sans"/>
                <a:cs typeface="DejaVu Sans"/>
              </a:defRPr>
            </a:pPr>
            <a:r>
              <a:rPr sz="2775" b="0">
                <a:solidFill>
                  <a:srgbClr val="1765BA"/>
                </a:solidFill>
                <a:latin typeface="DejaVu Sans"/>
                <a:ea typeface="DejaVu Sans"/>
                <a:cs typeface="DejaVu Sans"/>
              </a:rPr>
              <a:t>Verified reviewer access</a:t>
            </a:r>
          </a:p>
          <a:p xmlns:a="http://schemas.openxmlformats.org/drawingml/2006/main">
            <a:pPr>
              <a:defRPr sz="2775" b="0">
                <a:solidFill>
                  <a:srgbClr val="1765BA"/>
                </a:solidFill>
                <a:latin typeface="DejaVu Sans"/>
                <a:ea typeface="DejaVu Sans"/>
                <a:cs typeface="DejaVu Sans"/>
              </a:defRPr>
            </a:pPr>
            <a:r>
              <a:rPr sz="2775" b="0">
                <a:solidFill>
                  <a:srgbClr val="1765BA"/>
                </a:solidFill>
                <a:latin typeface="DejaVu Sans"/>
                <a:ea typeface="DejaVu Sans"/>
                <a:cs typeface="DejaVu Sans"/>
              </a:rPr>
              <a:t>OIDC/PKCE, bounded sessions and document checks</a:t>
            </a:r>
          </a:p>
        </p:txBody>
      </p:sp>
      <p:sp>
        <p:nvSpPr>
          <p:cNvPr id="4" name="">
            <a:extLst xmlns:a="http://schemas.openxmlformats.org/drawingml/2006/main">
              <a:ext uri="{FF2B5EF4-FFF2-40B4-BE49-F238E27FC236}">
                <a16:creationId xmlns:a16="http://schemas.microsoft.com/office/drawing/2014/main" id="{950871C3-2994-47CA-9782-E7C956CCE8C0}"/>
              </a:ext>
            </a:extLst>
          </p:cNvPr>
          <p:cNvSpPr>
            <a:spLocks xmlns:a="http://schemas.openxmlformats.org/drawingml/2006/main" noGrp="1"/>
          </p:cNvSpPr>
          <p:nvPr/>
        </p:nvSpPr>
        <p:spPr>
          <a:xfrm xmlns:a="http://schemas.openxmlformats.org/drawingml/2006/main">
            <a:off x="685800" y="4581525"/>
            <a:ext cx="12096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6867F"/>
                </a:solidFill>
                <a:latin typeface="DejaVu Sans"/>
                <a:ea typeface="DejaVu Sans"/>
                <a:cs typeface="DejaVu Sans"/>
              </a:defRPr>
            </a:defPPr>
          </a:lstStyle>
          <a:p xmlns:a="http://schemas.openxmlformats.org/drawingml/2006/main">
            <a:pPr>
              <a:defRPr sz="2625" b="0">
                <a:solidFill>
                  <a:srgbClr val="16867F"/>
                </a:solidFill>
                <a:latin typeface="DejaVu Sans"/>
                <a:ea typeface="DejaVu Sans"/>
                <a:cs typeface="DejaVu Sans"/>
              </a:defRPr>
            </a:pPr>
            <a:r>
              <a:rPr sz="2625" b="0">
                <a:solidFill>
                  <a:srgbClr val="16867F"/>
                </a:solidFill>
                <a:latin typeface="DejaVu Sans"/>
                <a:ea typeface="DejaVu Sans"/>
                <a:cs typeface="DejaVu Sans"/>
              </a:rPr>
              <a:t>Protected cloud handling</a:t>
            </a:r>
          </a:p>
          <a:p xmlns:a="http://schemas.openxmlformats.org/drawingml/2006/main">
            <a:pPr>
              <a:defRPr sz="2625" b="0">
                <a:solidFill>
                  <a:srgbClr val="16867F"/>
                </a:solidFill>
                <a:latin typeface="DejaVu Sans"/>
                <a:ea typeface="DejaVu Sans"/>
                <a:cs typeface="DejaVu Sans"/>
              </a:defRPr>
            </a:pPr>
            <a:r>
              <a:rPr sz="2625" b="0">
                <a:solidFill>
                  <a:srgbClr val="16867F"/>
                </a:solidFill>
                <a:latin typeface="DejaVu Sans"/>
                <a:ea typeface="DejaVu Sans"/>
                <a:cs typeface="DejaVu Sans"/>
              </a:rPr>
              <a:t>Private encrypted S3 and certificate-validated RDS connections</a:t>
            </a:r>
          </a:p>
        </p:txBody>
      </p:sp>
    </p:spTree>
    <p:extLst>
      <p:ext uri="{BB962C8B-B14F-4D97-AF65-F5344CB8AC3E}">
        <p14:creationId xmlns:p14="http://schemas.microsoft.com/office/powerpoint/2010/main" val="2042406384"/>
      </p:ext>
    </p:extLst>
  </p:cSld>
</p:sld>
</file>

<file path=ppt/slides/slide7.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C912C8-618E-4E84-95F8-9197E74FF04F}"/>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Batch identity makes ingestion repeatable</a:t>
            </a:r>
          </a:p>
        </p:txBody>
      </p:sp>
      <p:sp>
        <p:nvSpPr>
          <p:cNvPr id="2" name="">
            <a:extLst xmlns:a="http://schemas.openxmlformats.org/drawingml/2006/main">
              <a:ext uri="{FF2B5EF4-FFF2-40B4-BE49-F238E27FC236}">
                <a16:creationId xmlns:a16="http://schemas.microsoft.com/office/drawing/2014/main" id="{252D7F2E-FD80-40B2-98CE-15C85440F4FC}"/>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07</a:t>
            </a:r>
          </a:p>
        </p:txBody>
      </p:sp>
      <p:sp>
        <p:nvSpPr>
          <p:cNvPr id="3" name="">
            <a:extLst xmlns:a="http://schemas.openxmlformats.org/drawingml/2006/main">
              <a:ext uri="{FF2B5EF4-FFF2-40B4-BE49-F238E27FC236}">
                <a16:creationId xmlns:a16="http://schemas.microsoft.com/office/drawing/2014/main" id="{CAF3D164-5A96-4C6F-9BD8-D40B2D05457A}"/>
              </a:ext>
            </a:extLst>
          </p:cNvPr>
          <p:cNvSpPr>
            <a:spLocks xmlns:a="http://schemas.openxmlformats.org/drawingml/2006/main" noGrp="1"/>
          </p:cNvSpPr>
          <p:nvPr/>
        </p:nvSpPr>
        <p:spPr>
          <a:xfrm xmlns:a="http://schemas.openxmlformats.org/drawingml/2006/main">
            <a:off x="685800" y="2038350"/>
            <a:ext cx="1228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12375F"/>
                </a:solidFill>
                <a:latin typeface="DejaVu Sans"/>
                <a:ea typeface="DejaVu Sans"/>
                <a:cs typeface="DejaVu Sans"/>
              </a:defRPr>
            </a:defPPr>
          </a:lstStyle>
          <a:p xmlns:a="http://schemas.openxmlformats.org/drawingml/2006/main">
            <a:pPr>
              <a:defRPr sz="2550" b="0">
                <a:solidFill>
                  <a:srgbClr val="12375F"/>
                </a:solidFill>
                <a:latin typeface="DejaVu Sans"/>
                <a:ea typeface="DejaVu Sans"/>
                <a:cs typeface="DejaVu Sans"/>
              </a:defRPr>
            </a:pPr>
            <a:r>
              <a:rPr sz="2550" b="0">
                <a:solidFill>
                  <a:srgbClr val="12375F"/>
                </a:solidFill>
                <a:latin typeface="DejaVu Sans"/>
                <a:ea typeface="DejaVu Sans"/>
                <a:cs typeface="DejaVu Sans"/>
              </a:rPr>
              <a:t>Source + batch + resource type + resource ID define one ingestion key.</a:t>
            </a:r>
          </a:p>
        </p:txBody>
      </p:sp>
      <p:sp>
        <p:nvSpPr>
          <p:cNvPr id="4" name="">
            <a:extLst xmlns:a="http://schemas.openxmlformats.org/drawingml/2006/main">
              <a:ext uri="{FF2B5EF4-FFF2-40B4-BE49-F238E27FC236}">
                <a16:creationId xmlns:a16="http://schemas.microsoft.com/office/drawing/2014/main" id="{9024411A-AE26-41F0-B17D-D1FEC8B1F555}"/>
              </a:ext>
            </a:extLst>
          </p:cNvPr>
          <p:cNvSpPr>
            <a:spLocks xmlns:a="http://schemas.openxmlformats.org/drawingml/2006/main" noGrp="1"/>
          </p:cNvSpPr>
          <p:nvPr/>
        </p:nvSpPr>
        <p:spPr>
          <a:xfrm xmlns:a="http://schemas.openxmlformats.org/drawingml/2006/main">
            <a:off x="685800" y="3581400"/>
            <a:ext cx="12287250" cy="251460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198DFC7-DBA6-485E-85A2-E90809730A7A}"/>
              </a:ext>
            </a:extLst>
          </p:cNvPr>
          <p:cNvSpPr>
            <a:spLocks xmlns:a="http://schemas.openxmlformats.org/drawingml/2006/main" noGrp="1"/>
          </p:cNvSpPr>
          <p:nvPr/>
        </p:nvSpPr>
        <p:spPr>
          <a:xfrm xmlns:a="http://schemas.openxmlformats.org/drawingml/2006/main">
            <a:off x="1000125" y="3933825"/>
            <a:ext cx="904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80BFFF"/>
                </a:solidFill>
                <a:latin typeface="DejaVu Sans"/>
                <a:ea typeface="DejaVu Sans"/>
                <a:cs typeface="DejaVu Sans"/>
              </a:defRPr>
            </a:defPPr>
          </a:lstStyle>
          <a:p xmlns:a="http://schemas.openxmlformats.org/drawingml/2006/main">
            <a:pPr>
              <a:defRPr sz="2100" b="1">
                <a:solidFill>
                  <a:srgbClr val="80BFFF"/>
                </a:solidFill>
                <a:latin typeface="DejaVu Sans"/>
                <a:ea typeface="DejaVu Sans"/>
                <a:cs typeface="DejaVu Sans"/>
              </a:defRPr>
            </a:pPr>
            <a:r>
              <a:rPr sz="2100" b="1">
                <a:solidFill>
                  <a:srgbClr val="80BFFF"/>
                </a:solidFill>
                <a:latin typeface="DejaVu Sans"/>
                <a:ea typeface="DejaVu Sans"/>
                <a:cs typeface="DejaVu Sans"/>
              </a:rPr>
              <a:t>MERGE INTO</a:t>
            </a:r>
          </a:p>
        </p:txBody>
      </p:sp>
      <p:sp>
        <p:nvSpPr>
          <p:cNvPr id="6" name="">
            <a:extLst xmlns:a="http://schemas.openxmlformats.org/drawingml/2006/main">
              <a:ext uri="{FF2B5EF4-FFF2-40B4-BE49-F238E27FC236}">
                <a16:creationId xmlns:a16="http://schemas.microsoft.com/office/drawing/2014/main" id="{B2063378-B11E-4D9C-B8EC-60ADCDFB9652}"/>
              </a:ext>
            </a:extLst>
          </p:cNvPr>
          <p:cNvSpPr>
            <a:spLocks xmlns:a="http://schemas.openxmlformats.org/drawingml/2006/main" noGrp="1"/>
          </p:cNvSpPr>
          <p:nvPr/>
        </p:nvSpPr>
        <p:spPr>
          <a:xfrm xmlns:a="http://schemas.openxmlformats.org/drawingml/2006/main">
            <a:off x="3286125" y="3933825"/>
            <a:ext cx="361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EDF3FA"/>
                </a:solidFill>
                <a:latin typeface="DejaVu Sans"/>
                <a:ea typeface="DejaVu Sans"/>
                <a:cs typeface="DejaVu Sans"/>
              </a:defRPr>
            </a:defPPr>
          </a:lstStyle>
          <a:p xmlns:a="http://schemas.openxmlformats.org/drawingml/2006/main">
            <a:pPr>
              <a:defRPr sz="2100" b="0">
                <a:solidFill>
                  <a:srgbClr val="EDF3FA"/>
                </a:solidFill>
                <a:latin typeface="DejaVu Sans"/>
                <a:ea typeface="DejaVu Sans"/>
                <a:cs typeface="DejaVu Sans"/>
              </a:defRPr>
            </a:pPr>
            <a:r>
              <a:rPr sz="2100" b="0">
                <a:solidFill>
                  <a:srgbClr val="EDF3FA"/>
                </a:solidFill>
                <a:latin typeface="DejaVu Sans"/>
                <a:ea typeface="DejaVu Sans"/>
                <a:cs typeface="DejaVu Sans"/>
              </a:rPr>
              <a:t> RESOURCE_RAW</a:t>
            </a:r>
          </a:p>
        </p:txBody>
      </p:sp>
      <p:sp>
        <p:nvSpPr>
          <p:cNvPr id="7" name="">
            <a:extLst xmlns:a="http://schemas.openxmlformats.org/drawingml/2006/main">
              <a:ext uri="{FF2B5EF4-FFF2-40B4-BE49-F238E27FC236}">
                <a16:creationId xmlns:a16="http://schemas.microsoft.com/office/drawing/2014/main" id="{7A2A638F-80F3-438E-B7DE-22142666BF05}"/>
              </a:ext>
            </a:extLst>
          </p:cNvPr>
          <p:cNvSpPr>
            <a:spLocks xmlns:a="http://schemas.openxmlformats.org/drawingml/2006/main" noGrp="1"/>
          </p:cNvSpPr>
          <p:nvPr/>
        </p:nvSpPr>
        <p:spPr>
          <a:xfrm xmlns:a="http://schemas.openxmlformats.org/drawingml/2006/main">
            <a:off x="1000125" y="4562475"/>
            <a:ext cx="904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80BFFF"/>
                </a:solidFill>
                <a:latin typeface="DejaVu Sans"/>
                <a:ea typeface="DejaVu Sans"/>
                <a:cs typeface="DejaVu Sans"/>
              </a:defRPr>
            </a:defPPr>
          </a:lstStyle>
          <a:p xmlns:a="http://schemas.openxmlformats.org/drawingml/2006/main">
            <a:pPr>
              <a:defRPr sz="2100" b="1">
                <a:solidFill>
                  <a:srgbClr val="80BFFF"/>
                </a:solidFill>
                <a:latin typeface="DejaVu Sans"/>
                <a:ea typeface="DejaVu Sans"/>
                <a:cs typeface="DejaVu Sans"/>
              </a:defRPr>
            </a:pPr>
            <a:r>
              <a:rPr sz="2100" b="1">
                <a:solidFill>
                  <a:srgbClr val="80BFFF"/>
                </a:solidFill>
                <a:latin typeface="DejaVu Sans"/>
                <a:ea typeface="DejaVu Sans"/>
                <a:cs typeface="DejaVu Sans"/>
              </a:rPr>
              <a:t>USING</a:t>
            </a:r>
          </a:p>
        </p:txBody>
      </p:sp>
      <p:sp>
        <p:nvSpPr>
          <p:cNvPr id="8" name="">
            <a:extLst xmlns:a="http://schemas.openxmlformats.org/drawingml/2006/main">
              <a:ext uri="{FF2B5EF4-FFF2-40B4-BE49-F238E27FC236}">
                <a16:creationId xmlns:a16="http://schemas.microsoft.com/office/drawing/2014/main" id="{D8177E3E-03D6-4390-8B04-464930BAB99F}"/>
              </a:ext>
            </a:extLst>
          </p:cNvPr>
          <p:cNvSpPr>
            <a:spLocks xmlns:a="http://schemas.openxmlformats.org/drawingml/2006/main" noGrp="1"/>
          </p:cNvSpPr>
          <p:nvPr/>
        </p:nvSpPr>
        <p:spPr>
          <a:xfrm xmlns:a="http://schemas.openxmlformats.org/drawingml/2006/main">
            <a:off x="2286000" y="4562475"/>
            <a:ext cx="361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EDF3FA"/>
                </a:solidFill>
                <a:latin typeface="DejaVu Sans"/>
                <a:ea typeface="DejaVu Sans"/>
                <a:cs typeface="DejaVu Sans"/>
              </a:defRPr>
            </a:defPPr>
          </a:lstStyle>
          <a:p xmlns:a="http://schemas.openxmlformats.org/drawingml/2006/main">
            <a:pPr>
              <a:defRPr sz="2100" b="0">
                <a:solidFill>
                  <a:srgbClr val="EDF3FA"/>
                </a:solidFill>
                <a:latin typeface="DejaVu Sans"/>
                <a:ea typeface="DejaVu Sans"/>
                <a:cs typeface="DejaVu Sans"/>
              </a:defRPr>
            </a:pPr>
            <a:r>
              <a:rPr sz="2100" b="0">
                <a:solidFill>
                  <a:srgbClr val="EDF3FA"/>
                </a:solidFill>
                <a:latin typeface="DejaVu Sans"/>
                <a:ea typeface="DejaVu Sans"/>
                <a:cs typeface="DejaVu Sans"/>
              </a:rPr>
              <a:t> LOAD_WORK</a:t>
            </a:r>
          </a:p>
        </p:txBody>
      </p:sp>
      <p:sp>
        <p:nvSpPr>
          <p:cNvPr id="9" name="">
            <a:extLst xmlns:a="http://schemas.openxmlformats.org/drawingml/2006/main">
              <a:ext uri="{FF2B5EF4-FFF2-40B4-BE49-F238E27FC236}">
                <a16:creationId xmlns:a16="http://schemas.microsoft.com/office/drawing/2014/main" id="{49D76853-74BD-4885-B7FD-D6C51A5DDB00}"/>
              </a:ext>
            </a:extLst>
          </p:cNvPr>
          <p:cNvSpPr>
            <a:spLocks xmlns:a="http://schemas.openxmlformats.org/drawingml/2006/main" noGrp="1"/>
          </p:cNvSpPr>
          <p:nvPr/>
        </p:nvSpPr>
        <p:spPr>
          <a:xfrm xmlns:a="http://schemas.openxmlformats.org/drawingml/2006/main">
            <a:off x="1000125" y="5191125"/>
            <a:ext cx="904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80BFFF"/>
                </a:solidFill>
                <a:latin typeface="DejaVu Sans"/>
                <a:ea typeface="DejaVu Sans"/>
                <a:cs typeface="DejaVu Sans"/>
              </a:defRPr>
            </a:defPPr>
          </a:lstStyle>
          <a:p xmlns:a="http://schemas.openxmlformats.org/drawingml/2006/main">
            <a:pPr>
              <a:defRPr sz="2100" b="1">
                <a:solidFill>
                  <a:srgbClr val="80BFFF"/>
                </a:solidFill>
                <a:latin typeface="DejaVu Sans"/>
                <a:ea typeface="DejaVu Sans"/>
                <a:cs typeface="DejaVu Sans"/>
              </a:defRPr>
            </a:pPr>
            <a:r>
              <a:rPr sz="2100" b="1">
                <a:solidFill>
                  <a:srgbClr val="80BFFF"/>
                </a:solidFill>
                <a:latin typeface="DejaVu Sans"/>
                <a:ea typeface="DejaVu Sans"/>
                <a:cs typeface="DejaVu Sans"/>
              </a:rPr>
              <a:t>WHEN NOT MATCHED THEN INSERT</a:t>
            </a:r>
          </a:p>
        </p:txBody>
      </p:sp>
      <p:sp>
        <p:nvSpPr>
          <p:cNvPr id="10" name="">
            <a:extLst xmlns:a="http://schemas.openxmlformats.org/drawingml/2006/main">
              <a:ext uri="{FF2B5EF4-FFF2-40B4-BE49-F238E27FC236}">
                <a16:creationId xmlns:a16="http://schemas.microsoft.com/office/drawing/2014/main" id="{499A5517-2E56-4206-AFCF-CDDD54BE1058}"/>
              </a:ext>
            </a:extLst>
          </p:cNvPr>
          <p:cNvSpPr>
            <a:spLocks xmlns:a="http://schemas.openxmlformats.org/drawingml/2006/main" noGrp="1"/>
          </p:cNvSpPr>
          <p:nvPr/>
        </p:nvSpPr>
        <p:spPr>
          <a:xfrm xmlns:a="http://schemas.openxmlformats.org/drawingml/2006/main">
            <a:off x="9048750" y="5191125"/>
            <a:ext cx="361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EDF3FA"/>
                </a:solidFill>
                <a:latin typeface="DejaVu Sans"/>
                <a:ea typeface="DejaVu Sans"/>
                <a:cs typeface="DejaVu Sans"/>
              </a:defRPr>
            </a:defPPr>
          </a:lstStyle>
          <a:p xmlns:a="http://schemas.openxmlformats.org/drawingml/2006/main">
            <a:pPr>
              <a:defRPr sz="2100" b="0">
                <a:solidFill>
                  <a:srgbClr val="EDF3FA"/>
                </a:solidFill>
                <a:latin typeface="DejaVu Sans"/>
                <a:ea typeface="DejaVu Sans"/>
                <a:cs typeface="DejaVu Sans"/>
              </a:defRPr>
            </a:pPr>
            <a:r>
              <a:rPr sz="2100" b="0">
                <a:solidFill>
                  <a:srgbClr val="EDF3FA"/>
                </a:solidFill>
                <a:latin typeface="DejaVu Sans"/>
                <a:ea typeface="DejaVu Sans"/>
                <a:cs typeface="DejaVu Sans"/>
              </a:rPr>
              <a:t> (...)</a:t>
            </a:r>
          </a:p>
        </p:txBody>
      </p:sp>
    </p:spTree>
    <p:extLst>
      <p:ext uri="{BB962C8B-B14F-4D97-AF65-F5344CB8AC3E}">
        <p14:creationId xmlns:p14="http://schemas.microsoft.com/office/powerpoint/2010/main" val="215498127"/>
      </p:ext>
    </p:extLst>
  </p:cSld>
</p:sld>
</file>

<file path=ppt/slides/slide8.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36571F-7A24-42BA-A80A-2A336AC31586}"/>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Eleven resource types produce nine coverage metrics</a:t>
            </a:r>
          </a:p>
        </p:txBody>
      </p:sp>
      <p:sp>
        <p:nvSpPr>
          <p:cNvPr id="2" name="">
            <a:extLst xmlns:a="http://schemas.openxmlformats.org/drawingml/2006/main">
              <a:ext uri="{FF2B5EF4-FFF2-40B4-BE49-F238E27FC236}">
                <a16:creationId xmlns:a16="http://schemas.microsoft.com/office/drawing/2014/main" id="{6E7C8A89-2E0A-4228-A790-33959E05B59A}"/>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25B87762-9ACC-4795-9BC7-2C864756B386}"/>
              </a:ext>
            </a:extLst>
          </p:cNvPr>
          <p:cNvSpPr>
            <a:spLocks xmlns:a="http://schemas.openxmlformats.org/drawingml/2006/main" noGrp="1"/>
          </p:cNvSpPr>
          <p:nvPr/>
        </p:nvSpPr>
        <p:spPr>
          <a:xfrm xmlns:a="http://schemas.openxmlformats.org/drawingml/2006/main">
            <a:off x="685800" y="2286000"/>
            <a:ext cx="1219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75" b="0">
                <a:solidFill>
                  <a:srgbClr val="1765BA"/>
                </a:solidFill>
                <a:latin typeface="DejaVu Sans"/>
                <a:ea typeface="DejaVu Sans"/>
                <a:cs typeface="DejaVu Sans"/>
              </a:defRPr>
            </a:defPPr>
          </a:lstStyle>
          <a:p xmlns:a="http://schemas.openxmlformats.org/drawingml/2006/main">
            <a:pPr>
              <a:defRPr sz="3075" b="0">
                <a:solidFill>
                  <a:srgbClr val="1765BA"/>
                </a:solidFill>
                <a:latin typeface="DejaVu Sans"/>
                <a:ea typeface="DejaVu Sans"/>
                <a:cs typeface="DejaVu Sans"/>
              </a:defRPr>
            </a:pPr>
            <a:r>
              <a:rPr sz="3075" b="0">
                <a:solidFill>
                  <a:srgbClr val="1765BA"/>
                </a:solidFill>
                <a:latin typeface="DejaVu Sans"/>
                <a:ea typeface="DejaVu Sans"/>
                <a:cs typeface="DejaVu Sans"/>
              </a:rPr>
              <a:t>Patient defines the denominator.</a:t>
            </a:r>
          </a:p>
          <a:p xmlns:a="http://schemas.openxmlformats.org/drawingml/2006/main">
            <a:pPr>
              <a:defRPr sz="3075" b="0">
                <a:solidFill>
                  <a:srgbClr val="1765BA"/>
                </a:solidFill>
                <a:latin typeface="DejaVu Sans"/>
                <a:ea typeface="DejaVu Sans"/>
                <a:cs typeface="DejaVu Sans"/>
              </a:defRPr>
            </a:pPr>
            <a:r>
              <a:rPr sz="3075" b="0">
                <a:solidFill>
                  <a:srgbClr val="1765BA"/>
                </a:solidFill>
                <a:latin typeface="DejaVu Sans"/>
                <a:ea typeface="DejaVu Sans"/>
                <a:cs typeface="DejaVu Sans"/>
              </a:rPr>
              <a:t>Medication supplies master data.</a:t>
            </a:r>
          </a:p>
        </p:txBody>
      </p:sp>
      <p:sp>
        <p:nvSpPr>
          <p:cNvPr id="4" name="">
            <a:extLst xmlns:a="http://schemas.openxmlformats.org/drawingml/2006/main">
              <a:ext uri="{FF2B5EF4-FFF2-40B4-BE49-F238E27FC236}">
                <a16:creationId xmlns:a16="http://schemas.microsoft.com/office/drawing/2014/main" id="{207A73FC-229B-45A4-904D-B9CE5B95D8B7}"/>
              </a:ext>
            </a:extLst>
          </p:cNvPr>
          <p:cNvSpPr>
            <a:spLocks xmlns:a="http://schemas.openxmlformats.org/drawingml/2006/main" noGrp="1"/>
          </p:cNvSpPr>
          <p:nvPr/>
        </p:nvSpPr>
        <p:spPr>
          <a:xfrm xmlns:a="http://schemas.openxmlformats.org/drawingml/2006/main">
            <a:off x="685800" y="4676775"/>
            <a:ext cx="1219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30455F"/>
                </a:solidFill>
                <a:latin typeface="DejaVu Sans"/>
                <a:ea typeface="DejaVu Sans"/>
                <a:cs typeface="DejaVu Sans"/>
              </a:defRPr>
            </a:defPPr>
          </a:lstStyle>
          <a:p xmlns:a="http://schemas.openxmlformats.org/drawingml/2006/main">
            <a:pPr>
              <a:defRPr sz="2700" b="0">
                <a:solidFill>
                  <a:srgbClr val="30455F"/>
                </a:solidFill>
                <a:latin typeface="DejaVu Sans"/>
                <a:ea typeface="DejaVu Sans"/>
                <a:cs typeface="DejaVu Sans"/>
              </a:defRPr>
            </a:pPr>
            <a:r>
              <a:rPr sz="2700" b="0">
                <a:solidFill>
                  <a:srgbClr val="30455F"/>
                </a:solidFill>
                <a:latin typeface="DejaVu Sans"/>
                <a:ea typeface="DejaVu Sans"/>
                <a:cs typeface="DejaVu Sans"/>
              </a:rPr>
              <a:t>Nine other resource types measure linked information,</a:t>
            </a:r>
          </a:p>
          <a:p xmlns:a="http://schemas.openxmlformats.org/drawingml/2006/main">
            <a:pPr>
              <a:defRPr sz="2700" b="0">
                <a:solidFill>
                  <a:srgbClr val="30455F"/>
                </a:solidFill>
                <a:latin typeface="DejaVu Sans"/>
                <a:ea typeface="DejaVu Sans"/>
                <a:cs typeface="DejaVu Sans"/>
              </a:defRPr>
            </a:pPr>
            <a:r>
              <a:rPr sz="2700" b="0">
                <a:solidFill>
                  <a:srgbClr val="30455F"/>
                </a:solidFill>
                <a:latin typeface="DejaVu Sans"/>
                <a:ea typeface="DejaVu Sans"/>
                <a:cs typeface="DejaVu Sans"/>
              </a:rPr>
              <a:t>including allergies, medications and encounters.</a:t>
            </a:r>
          </a:p>
        </p:txBody>
      </p:sp>
    </p:spTree>
    <p:extLst>
      <p:ext uri="{BB962C8B-B14F-4D97-AF65-F5344CB8AC3E}">
        <p14:creationId xmlns:p14="http://schemas.microsoft.com/office/powerpoint/2010/main" val="1966900735"/>
      </p:ext>
    </p:extLst>
  </p:cSld>
</p:sld>
</file>

<file path=ppt/slides/slide9.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43EE4A-5B86-4442-9002-8495203CB743}"/>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Linked coverage varies across the 265 patients</a:t>
            </a:r>
          </a:p>
        </p:txBody>
      </p:sp>
      <p:sp>
        <p:nvSpPr>
          <p:cNvPr id="2" name="">
            <a:extLst xmlns:a="http://schemas.openxmlformats.org/drawingml/2006/main">
              <a:ext uri="{FF2B5EF4-FFF2-40B4-BE49-F238E27FC236}">
                <a16:creationId xmlns:a16="http://schemas.microsoft.com/office/drawing/2014/main" id="{9EFC19C9-A678-4F73-B469-28072FB5811C}"/>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09</a:t>
            </a:r>
          </a:p>
        </p:txBody>
      </p:sp>
      <p:graphicFrame>
        <p:nvGraphicFramePr>
          <p:cNvPr id="3" name="Chart">
            <a:extLst xmlns:a="http://schemas.openxmlformats.org/drawingml/2006/main">
              <a:ext uri="{FF2B5EF4-FFF2-40B4-BE49-F238E27FC236}">
                <a16:creationId xmlns:a16="http://schemas.microsoft.com/office/drawing/2014/main" id="{E05AF53C-689B-4D39-BF34-4E7D6A2AA8BE}"/>
              </a:ext>
            </a:extLst>
          </p:cNvPr>
          <p:cNvGraphicFramePr/>
          <p:nvPr/>
        </p:nvGraphicFramePr>
        <p:xfrm>
          <a:off xmlns:a="http://schemas.openxmlformats.org/drawingml/2006/main" x="685800" y="1981200"/>
          <a:ext xmlns:a="http://schemas.openxmlformats.org/drawingml/2006/main" cx="12287250" cy="4000500"/>
        </p:xfrm>
        <a:graphic xmlns:a="http://schemas.openxmlformats.org/drawingml/2006/main">
          <a:graphicData uri="http://schemas.openxmlformats.org/drawingml/2006/chart">
            <c:chart xmlns:r="http://schemas.openxmlformats.org/officeDocument/2006/relationships" xmlns:c="http://schemas.openxmlformats.org/drawingml/2006/chart" r:id="R67fb541da6cd4ab4"/>
          </a:graphicData>
        </a:graphic>
      </p:graphicFrame>
      <p:sp>
        <p:nvSpPr>
          <p:cNvPr id="4" name="">
            <a:extLst xmlns:a="http://schemas.openxmlformats.org/drawingml/2006/main">
              <a:ext uri="{FF2B5EF4-FFF2-40B4-BE49-F238E27FC236}">
                <a16:creationId xmlns:a16="http://schemas.microsoft.com/office/drawing/2014/main" id="{418B705B-211B-4658-89F2-3BF27918DB61}"/>
              </a:ext>
            </a:extLst>
          </p:cNvPr>
          <p:cNvSpPr>
            <a:spLocks xmlns:a="http://schemas.openxmlformats.org/drawingml/2006/main" noGrp="1"/>
          </p:cNvSpPr>
          <p:nvPr/>
        </p:nvSpPr>
        <p:spPr>
          <a:xfrm xmlns:a="http://schemas.openxmlformats.org/drawingml/2006/main">
            <a:off x="685800" y="6486525"/>
            <a:ext cx="1228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6867F"/>
                </a:solidFill>
                <a:latin typeface="DejaVu Sans"/>
                <a:ea typeface="DejaVu Sans"/>
                <a:cs typeface="DejaVu Sans"/>
              </a:defRPr>
            </a:defPPr>
          </a:lstStyle>
          <a:p xmlns:a="http://schemas.openxmlformats.org/drawingml/2006/main">
            <a:pPr>
              <a:defRPr sz="2025" b="0">
                <a:solidFill>
                  <a:srgbClr val="16867F"/>
                </a:solidFill>
                <a:latin typeface="DejaVu Sans"/>
                <a:ea typeface="DejaVu Sans"/>
                <a:cs typeface="DejaVu Sans"/>
              </a:defRPr>
            </a:pPr>
            <a:r>
              <a:rPr sz="2025" b="0">
                <a:solidFill>
                  <a:srgbClr val="16867F"/>
                </a:solidFill>
                <a:latin typeface="DejaVu Sans"/>
                <a:ea typeface="DejaVu Sans"/>
                <a:cs typeface="DejaVu Sans"/>
              </a:rPr>
              <a:t>Source-archive calculation: 20 patients have ≥1 linked clinical record.</a:t>
            </a:r>
          </a:p>
        </p:txBody>
      </p:sp>
    </p:spTree>
    <p:extLst>
      <p:ext uri="{BB962C8B-B14F-4D97-AF65-F5344CB8AC3E}">
        <p14:creationId xmlns:p14="http://schemas.microsoft.com/office/powerpoint/2010/main" val="82348282"/>
      </p:ext>
    </p:extLst>
  </p:cSld>
</p:sld>
</file>

<file path=ppt/slides/slide10.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CE52C8-6336-43DE-B256-2B27DEEFE053}"/>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Coverage and visit eligibility answer different questions</a:t>
            </a:r>
          </a:p>
        </p:txBody>
      </p:sp>
      <p:sp>
        <p:nvSpPr>
          <p:cNvPr id="2" name="">
            <a:extLst xmlns:a="http://schemas.openxmlformats.org/drawingml/2006/main">
              <a:ext uri="{FF2B5EF4-FFF2-40B4-BE49-F238E27FC236}">
                <a16:creationId xmlns:a16="http://schemas.microsoft.com/office/drawing/2014/main" id="{7688240E-F297-4448-9E06-9660EF9930C8}"/>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10</a:t>
            </a:r>
          </a:p>
        </p:txBody>
      </p:sp>
      <p:sp>
        <p:nvSpPr>
          <p:cNvPr id="3" name="">
            <a:extLst xmlns:a="http://schemas.openxmlformats.org/drawingml/2006/main">
              <a:ext uri="{FF2B5EF4-FFF2-40B4-BE49-F238E27FC236}">
                <a16:creationId xmlns:a16="http://schemas.microsoft.com/office/drawing/2014/main" id="{45953AC2-4F65-4A61-9ADB-616F4AAAACEE}"/>
              </a:ext>
            </a:extLst>
          </p:cNvPr>
          <p:cNvSpPr>
            <a:spLocks xmlns:a="http://schemas.openxmlformats.org/drawingml/2006/main" noGrp="1"/>
          </p:cNvSpPr>
          <p:nvPr/>
        </p:nvSpPr>
        <p:spPr>
          <a:xfrm xmlns:a="http://schemas.openxmlformats.org/drawingml/2006/main">
            <a:off x="685800" y="2428875"/>
            <a:ext cx="1219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0">
                <a:solidFill>
                  <a:srgbClr val="1765BA"/>
                </a:solidFill>
                <a:latin typeface="DejaVu Sans"/>
                <a:ea typeface="DejaVu Sans"/>
                <a:cs typeface="DejaVu Sans"/>
              </a:defRPr>
            </a:defPPr>
          </a:lstStyle>
          <a:p xmlns:a="http://schemas.openxmlformats.org/drawingml/2006/main">
            <a:pPr>
              <a:defRPr sz="3150" b="0">
                <a:solidFill>
                  <a:srgbClr val="1765BA"/>
                </a:solidFill>
                <a:latin typeface="DejaVu Sans"/>
                <a:ea typeface="DejaVu Sans"/>
                <a:cs typeface="DejaVu Sans"/>
              </a:defRPr>
            </a:pPr>
            <a:r>
              <a:rPr sz="3150" b="0">
                <a:solidFill>
                  <a:srgbClr val="1765BA"/>
                </a:solidFill>
                <a:latin typeface="DejaVu Sans"/>
                <a:ea typeface="DejaVu Sans"/>
                <a:cs typeface="DejaVu Sans"/>
              </a:rPr>
              <a:t>Coverage: which records are linked to this patient?</a:t>
            </a:r>
          </a:p>
        </p:txBody>
      </p:sp>
      <p:sp>
        <p:nvSpPr>
          <p:cNvPr id="4" name="">
            <a:extLst xmlns:a="http://schemas.openxmlformats.org/drawingml/2006/main">
              <a:ext uri="{FF2B5EF4-FFF2-40B4-BE49-F238E27FC236}">
                <a16:creationId xmlns:a16="http://schemas.microsoft.com/office/drawing/2014/main" id="{278F266A-634A-4E81-B62D-297796AB9809}"/>
              </a:ext>
            </a:extLst>
          </p:cNvPr>
          <p:cNvSpPr>
            <a:spLocks xmlns:a="http://schemas.openxmlformats.org/drawingml/2006/main" noGrp="1"/>
          </p:cNvSpPr>
          <p:nvPr/>
        </p:nvSpPr>
        <p:spPr>
          <a:xfrm xmlns:a="http://schemas.openxmlformats.org/drawingml/2006/main">
            <a:off x="685800" y="4667250"/>
            <a:ext cx="12192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0">
                <a:solidFill>
                  <a:srgbClr val="16867F"/>
                </a:solidFill>
                <a:latin typeface="DejaVu Sans"/>
                <a:ea typeface="DejaVu Sans"/>
                <a:cs typeface="DejaVu Sans"/>
              </a:defRPr>
            </a:defPPr>
          </a:lstStyle>
          <a:p xmlns:a="http://schemas.openxmlformats.org/drawingml/2006/main">
            <a:pPr>
              <a:defRPr sz="2850" b="0">
                <a:solidFill>
                  <a:srgbClr val="16867F"/>
                </a:solidFill>
                <a:latin typeface="DejaVu Sans"/>
                <a:ea typeface="DejaVu Sans"/>
                <a:cs typeface="DejaVu Sans"/>
              </a:defRPr>
            </a:pPr>
            <a:r>
              <a:rPr sz="2850" b="0">
                <a:solidFill>
                  <a:srgbClr val="16867F"/>
                </a:solidFill>
                <a:latin typeface="DejaVu Sans"/>
                <a:ea typeface="DejaVu Sans"/>
                <a:cs typeface="DejaVu Sans"/>
              </a:rPr>
              <a:t>Visit eligibility: which glucose results meet the configured criteria before the appointment?</a:t>
            </a:r>
          </a:p>
        </p:txBody>
      </p:sp>
    </p:spTree>
    <p:extLst>
      <p:ext uri="{BB962C8B-B14F-4D97-AF65-F5344CB8AC3E}">
        <p14:creationId xmlns:p14="http://schemas.microsoft.com/office/powerpoint/2010/main" val="1833347128"/>
      </p:ext>
    </p:extLst>
  </p:cSld>
</p:sld>
</file>

<file path=ppt/slides/slide11.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BBC221-84CD-49B8-91C3-5803F95FDD53}"/>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Reference resolution explains inclusion and exclusion</a:t>
            </a:r>
          </a:p>
        </p:txBody>
      </p:sp>
      <p:sp>
        <p:nvSpPr>
          <p:cNvPr id="2" name="">
            <a:extLst xmlns:a="http://schemas.openxmlformats.org/drawingml/2006/main">
              <a:ext uri="{FF2B5EF4-FFF2-40B4-BE49-F238E27FC236}">
                <a16:creationId xmlns:a16="http://schemas.microsoft.com/office/drawing/2014/main" id="{9E1F0F7E-F57B-470A-BF43-C114BBAC4008}"/>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30AB4244-8ACF-4D76-95A3-1452127948A8}"/>
              </a:ext>
            </a:extLst>
          </p:cNvPr>
          <p:cNvSpPr>
            <a:spLocks xmlns:a="http://schemas.openxmlformats.org/drawingml/2006/main" noGrp="1"/>
          </p:cNvSpPr>
          <p:nvPr/>
        </p:nvSpPr>
        <p:spPr>
          <a:xfrm xmlns:a="http://schemas.openxmlformats.org/drawingml/2006/main">
            <a:off x="685800" y="2133600"/>
            <a:ext cx="12287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12375F"/>
                </a:solidFill>
                <a:latin typeface="DejaVu Sans"/>
                <a:ea typeface="DejaVu Sans"/>
                <a:cs typeface="DejaVu Sans"/>
              </a:defRPr>
            </a:defPPr>
          </a:lstStyle>
          <a:p xmlns:a="http://schemas.openxmlformats.org/drawingml/2006/main">
            <a:pPr>
              <a:defRPr sz="2700" b="0">
                <a:solidFill>
                  <a:srgbClr val="12375F"/>
                </a:solidFill>
                <a:latin typeface="DejaVu Sans"/>
                <a:ea typeface="DejaVu Sans"/>
                <a:cs typeface="DejaVu Sans"/>
              </a:defRPr>
            </a:pPr>
            <a:r>
              <a:rPr sz="2700" b="0">
                <a:solidFill>
                  <a:srgbClr val="12375F"/>
                </a:solidFill>
                <a:latin typeface="DejaVu Sans"/>
                <a:ea typeface="DejaVu Sans"/>
                <a:cs typeface="DejaVu Sans"/>
              </a:rPr>
              <a:t>609 of 641 clinical records resolve to a patient.</a:t>
            </a:r>
          </a:p>
          <a:p xmlns:a="http://schemas.openxmlformats.org/drawingml/2006/main">
            <a:pPr>
              <a:defRPr sz="2700" b="0">
                <a:solidFill>
                  <a:srgbClr val="12375F"/>
                </a:solidFill>
                <a:latin typeface="DejaVu Sans"/>
                <a:ea typeface="DejaVu Sans"/>
                <a:cs typeface="DejaVu Sans"/>
              </a:defRPr>
            </a:pPr>
            <a:r>
              <a:rPr sz="2700" b="0">
                <a:solidFill>
                  <a:srgbClr val="12375F"/>
                </a:solidFill>
                <a:latin typeface="DejaVu Sans"/>
                <a:ea typeface="DejaVu Sans"/>
                <a:cs typeface="DejaVu Sans"/>
              </a:rPr>
              <a:t>32 retain an explicit reference status for review.</a:t>
            </a:r>
          </a:p>
        </p:txBody>
      </p:sp>
      <p:sp>
        <p:nvSpPr>
          <p:cNvPr id="4" name="">
            <a:extLst xmlns:a="http://schemas.openxmlformats.org/drawingml/2006/main">
              <a:ext uri="{FF2B5EF4-FFF2-40B4-BE49-F238E27FC236}">
                <a16:creationId xmlns:a16="http://schemas.microsoft.com/office/drawing/2014/main" id="{1C9951F7-307E-4696-9025-E8D0297D10BE}"/>
              </a:ext>
            </a:extLst>
          </p:cNvPr>
          <p:cNvSpPr>
            <a:spLocks xmlns:a="http://schemas.openxmlformats.org/drawingml/2006/main" noGrp="1"/>
          </p:cNvSpPr>
          <p:nvPr/>
        </p:nvSpPr>
        <p:spPr>
          <a:xfrm xmlns:a="http://schemas.openxmlformats.org/drawingml/2006/main">
            <a:off x="685800" y="4114800"/>
            <a:ext cx="12287250" cy="2047875"/>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1605422-8CC8-49A8-9E8B-85EE79CD2D2B}"/>
              </a:ext>
            </a:extLst>
          </p:cNvPr>
          <p:cNvSpPr>
            <a:spLocks xmlns:a="http://schemas.openxmlformats.org/drawingml/2006/main" noGrp="1"/>
          </p:cNvSpPr>
          <p:nvPr/>
        </p:nvSpPr>
        <p:spPr>
          <a:xfrm xmlns:a="http://schemas.openxmlformats.org/drawingml/2006/main">
            <a:off x="1028700" y="44862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D6A8FF"/>
                </a:solidFill>
                <a:latin typeface="DejaVu Sans"/>
                <a:ea typeface="DejaVu Sans"/>
                <a:cs typeface="DejaVu Sans"/>
              </a:defRPr>
            </a:defPPr>
          </a:lstStyle>
          <a:p xmlns:a="http://schemas.openxmlformats.org/drawingml/2006/main">
            <a:pPr>
              <a:defRPr sz="2400" b="1">
                <a:solidFill>
                  <a:srgbClr val="D6A8FF"/>
                </a:solidFill>
                <a:latin typeface="DejaVu Sans"/>
                <a:ea typeface="DejaVu Sans"/>
                <a:cs typeface="DejaVu Sans"/>
              </a:defRPr>
            </a:pPr>
            <a:r>
              <a:rPr sz="2400" b="1">
                <a:solidFill>
                  <a:srgbClr val="D6A8FF"/>
                </a:solidFill>
                <a:latin typeface="DejaVu Sans"/>
                <a:ea typeface="DejaVu Sans"/>
                <a:cs typeface="DejaVu Sans"/>
              </a:rPr>
              <a:t>REGEXP_LIKE</a:t>
            </a:r>
          </a:p>
        </p:txBody>
      </p:sp>
      <p:sp>
        <p:nvSpPr>
          <p:cNvPr id="6" name="">
            <a:extLst xmlns:a="http://schemas.openxmlformats.org/drawingml/2006/main">
              <a:ext uri="{FF2B5EF4-FFF2-40B4-BE49-F238E27FC236}">
                <a16:creationId xmlns:a16="http://schemas.microsoft.com/office/drawing/2014/main" id="{54232EAA-4E4B-484D-8C58-D9E3684A8872}"/>
              </a:ext>
            </a:extLst>
          </p:cNvPr>
          <p:cNvSpPr>
            <a:spLocks xmlns:a="http://schemas.openxmlformats.org/drawingml/2006/main" noGrp="1"/>
          </p:cNvSpPr>
          <p:nvPr/>
        </p:nvSpPr>
        <p:spPr>
          <a:xfrm xmlns:a="http://schemas.openxmlformats.org/drawingml/2006/main">
            <a:off x="4210050" y="4486275"/>
            <a:ext cx="742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EDF3FA"/>
                </a:solidFill>
                <a:latin typeface="DejaVu Sans"/>
                <a:ea typeface="DejaVu Sans"/>
                <a:cs typeface="DejaVu Sans"/>
              </a:defRPr>
            </a:defPPr>
          </a:lstStyle>
          <a:p xmlns:a="http://schemas.openxmlformats.org/drawingml/2006/main">
            <a:pPr>
              <a:defRPr sz="2400" b="0">
                <a:solidFill>
                  <a:srgbClr val="EDF3FA"/>
                </a:solidFill>
                <a:latin typeface="DejaVu Sans"/>
                <a:ea typeface="DejaVu Sans"/>
                <a:cs typeface="DejaVu Sans"/>
              </a:defRPr>
            </a:pPr>
            <a:r>
              <a:rPr sz="2400" b="0">
                <a:solidFill>
                  <a:srgbClr val="EDF3FA"/>
                </a:solidFill>
                <a:latin typeface="DejaVu Sans"/>
                <a:ea typeface="DejaVu Sans"/>
                <a:cs typeface="DejaVu Sans"/>
              </a:rPr>
              <a:t>(reference,</a:t>
            </a:r>
          </a:p>
        </p:txBody>
      </p:sp>
      <p:sp>
        <p:nvSpPr>
          <p:cNvPr id="7" name="">
            <a:extLst xmlns:a="http://schemas.openxmlformats.org/drawingml/2006/main">
              <a:ext uri="{FF2B5EF4-FFF2-40B4-BE49-F238E27FC236}">
                <a16:creationId xmlns:a16="http://schemas.microsoft.com/office/drawing/2014/main" id="{A0DF8B8E-58F2-4AA1-B98E-165AC5511329}"/>
              </a:ext>
            </a:extLst>
          </p:cNvPr>
          <p:cNvSpPr>
            <a:spLocks xmlns:a="http://schemas.openxmlformats.org/drawingml/2006/main" noGrp="1"/>
          </p:cNvSpPr>
          <p:nvPr/>
        </p:nvSpPr>
        <p:spPr>
          <a:xfrm xmlns:a="http://schemas.openxmlformats.org/drawingml/2006/main">
            <a:off x="1457325" y="51530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86E0B5"/>
                </a:solidFill>
                <a:latin typeface="DejaVu Sans"/>
                <a:ea typeface="DejaVu Sans"/>
                <a:cs typeface="DejaVu Sans"/>
              </a:defRPr>
            </a:defPPr>
          </a:lstStyle>
          <a:p xmlns:a="http://schemas.openxmlformats.org/drawingml/2006/main">
            <a:pPr>
              <a:defRPr sz="2400" b="0">
                <a:solidFill>
                  <a:srgbClr val="86E0B5"/>
                </a:solidFill>
                <a:latin typeface="DejaVu Sans"/>
                <a:ea typeface="DejaVu Sans"/>
                <a:cs typeface="DejaVu Sans"/>
              </a:defRPr>
            </a:pPr>
            <a:r>
              <a:rPr sz="2400" b="0">
                <a:solidFill>
                  <a:srgbClr val="86E0B5"/>
                </a:solidFill>
                <a:latin typeface="DejaVu Sans"/>
                <a:ea typeface="DejaVu Sans"/>
                <a:cs typeface="DejaVu Sans"/>
              </a:rPr>
              <a:t>'Patient/[A-Za-z0-9.-]+'</a:t>
            </a:r>
          </a:p>
        </p:txBody>
      </p:sp>
      <p:sp>
        <p:nvSpPr>
          <p:cNvPr id="8" name="">
            <a:extLst xmlns:a="http://schemas.openxmlformats.org/drawingml/2006/main">
              <a:ext uri="{FF2B5EF4-FFF2-40B4-BE49-F238E27FC236}">
                <a16:creationId xmlns:a16="http://schemas.microsoft.com/office/drawing/2014/main" id="{BAD5087F-42C8-4F79-BD90-31BFD91E3D07}"/>
              </a:ext>
            </a:extLst>
          </p:cNvPr>
          <p:cNvSpPr>
            <a:spLocks xmlns:a="http://schemas.openxmlformats.org/drawingml/2006/main" noGrp="1"/>
          </p:cNvSpPr>
          <p:nvPr/>
        </p:nvSpPr>
        <p:spPr>
          <a:xfrm xmlns:a="http://schemas.openxmlformats.org/drawingml/2006/main">
            <a:off x="9715500" y="5153025"/>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EDF3FA"/>
                </a:solidFill>
                <a:latin typeface="DejaVu Sans"/>
                <a:ea typeface="DejaVu Sans"/>
                <a:cs typeface="DejaVu Sans"/>
              </a:defRPr>
            </a:defPPr>
          </a:lstStyle>
          <a:p xmlns:a="http://schemas.openxmlformats.org/drawingml/2006/main">
            <a:pPr>
              <a:defRPr sz="2400" b="0">
                <a:solidFill>
                  <a:srgbClr val="EDF3FA"/>
                </a:solidFill>
                <a:latin typeface="DejaVu Sans"/>
                <a:ea typeface="DejaVu Sans"/>
                <a:cs typeface="DejaVu Sans"/>
              </a:defRPr>
            </a:pPr>
            <a:r>
              <a:rPr sz="2400" b="0">
                <a:solidFill>
                  <a:srgbClr val="EDF3FA"/>
                </a:solidFill>
                <a:latin typeface="DejaVu Sans"/>
                <a:ea typeface="DejaVu Sans"/>
                <a:cs typeface="DejaVu Sans"/>
              </a:rPr>
              <a:t>)</a:t>
            </a:r>
          </a:p>
        </p:txBody>
      </p:sp>
    </p:spTree>
    <p:extLst>
      <p:ext uri="{BB962C8B-B14F-4D97-AF65-F5344CB8AC3E}">
        <p14:creationId xmlns:p14="http://schemas.microsoft.com/office/powerpoint/2010/main" val="1480020834"/>
      </p:ext>
    </p:extLst>
  </p:cSld>
</p:sld>
</file>

<file path=ppt/slides/slide12.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09BF86-EE43-49ED-AAFF-F1C627A3B787}"/>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Cortex questions connect clinical domains</a:t>
            </a:r>
          </a:p>
        </p:txBody>
      </p:sp>
      <p:sp>
        <p:nvSpPr>
          <p:cNvPr id="2" name="">
            <a:extLst xmlns:a="http://schemas.openxmlformats.org/drawingml/2006/main">
              <a:ext uri="{FF2B5EF4-FFF2-40B4-BE49-F238E27FC236}">
                <a16:creationId xmlns:a16="http://schemas.microsoft.com/office/drawing/2014/main" id="{B5830E4A-AFD7-41BA-95A3-B9CCA4E25EC8}"/>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FAC05B64-06FB-437B-8BAC-8BD894790452}"/>
              </a:ext>
            </a:extLst>
          </p:cNvPr>
          <p:cNvSpPr>
            <a:spLocks xmlns:a="http://schemas.openxmlformats.org/drawingml/2006/main" noGrp="1"/>
          </p:cNvSpPr>
          <p:nvPr/>
        </p:nvSpPr>
        <p:spPr>
          <a:xfrm xmlns:a="http://schemas.openxmlformats.org/drawingml/2006/main">
            <a:off x="685800" y="2390775"/>
            <a:ext cx="12192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0">
                <a:solidFill>
                  <a:srgbClr val="1765BA"/>
                </a:solidFill>
                <a:latin typeface="DejaVu Sans"/>
                <a:ea typeface="DejaVu Sans"/>
                <a:cs typeface="DejaVu Sans"/>
              </a:defRPr>
            </a:defPPr>
          </a:lstStyle>
          <a:p xmlns:a="http://schemas.openxmlformats.org/drawingml/2006/main">
            <a:pPr>
              <a:defRPr sz="3150" b="0">
                <a:solidFill>
                  <a:srgbClr val="1765BA"/>
                </a:solidFill>
                <a:latin typeface="DejaVu Sans"/>
                <a:ea typeface="DejaVu Sans"/>
                <a:cs typeface="DejaVu Sans"/>
              </a:defRPr>
            </a:pPr>
            <a:r>
              <a:rPr sz="3150" b="0">
                <a:solidFill>
                  <a:srgbClr val="1765BA"/>
                </a:solidFill>
                <a:latin typeface="DejaVu Sans"/>
                <a:ea typeface="DejaVu Sans"/>
                <a:cs typeface="DejaVu Sans"/>
              </a:rPr>
              <a:t>Which observation patients have no linked allergy record?</a:t>
            </a:r>
          </a:p>
        </p:txBody>
      </p:sp>
      <p:sp>
        <p:nvSpPr>
          <p:cNvPr id="4" name="">
            <a:extLst xmlns:a="http://schemas.openxmlformats.org/drawingml/2006/main">
              <a:ext uri="{FF2B5EF4-FFF2-40B4-BE49-F238E27FC236}">
                <a16:creationId xmlns:a16="http://schemas.microsoft.com/office/drawing/2014/main" id="{1E7C9D34-D2E3-4658-B77F-027C7AEC4FC7}"/>
              </a:ext>
            </a:extLst>
          </p:cNvPr>
          <p:cNvSpPr>
            <a:spLocks xmlns:a="http://schemas.openxmlformats.org/drawingml/2006/main" noGrp="1"/>
          </p:cNvSpPr>
          <p:nvPr/>
        </p:nvSpPr>
        <p:spPr>
          <a:xfrm xmlns:a="http://schemas.openxmlformats.org/drawingml/2006/main">
            <a:off x="685800" y="4648200"/>
            <a:ext cx="12192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0">
                <a:solidFill>
                  <a:srgbClr val="30455F"/>
                </a:solidFill>
                <a:latin typeface="DejaVu Sans"/>
                <a:ea typeface="DejaVu Sans"/>
                <a:cs typeface="DejaVu Sans"/>
              </a:defRPr>
            </a:defPPr>
          </a:lstStyle>
          <a:p xmlns:a="http://schemas.openxmlformats.org/drawingml/2006/main">
            <a:pPr>
              <a:defRPr sz="2775" b="0">
                <a:solidFill>
                  <a:srgbClr val="30455F"/>
                </a:solidFill>
                <a:latin typeface="DejaVu Sans"/>
                <a:ea typeface="DejaVu Sans"/>
                <a:cs typeface="DejaVu Sans"/>
              </a:defRPr>
            </a:pPr>
            <a:r>
              <a:rPr sz="2775" b="0">
                <a:solidFill>
                  <a:srgbClr val="30455F"/>
                </a:solidFill>
                <a:latin typeface="DejaVu Sans"/>
                <a:ea typeface="DejaVu Sans"/>
                <a:cs typeface="DejaVu Sans"/>
              </a:rPr>
              <a:t>Source benchmark: 14 of 15.</a:t>
            </a:r>
          </a:p>
          <a:p xmlns:a="http://schemas.openxmlformats.org/drawingml/2006/main">
            <a:pPr>
              <a:defRPr sz="2775" b="0">
                <a:solidFill>
                  <a:srgbClr val="30455F"/>
                </a:solidFill>
                <a:latin typeface="DejaVu Sans"/>
                <a:ea typeface="DejaVu Sans"/>
                <a:cs typeface="DejaVu Sans"/>
              </a:defRPr>
            </a:pPr>
            <a:r>
              <a:rPr sz="2775" b="0">
                <a:solidFill>
                  <a:srgbClr val="30455F"/>
                </a:solidFill>
                <a:latin typeface="DejaVu Sans"/>
                <a:ea typeface="DejaVu Sans"/>
                <a:cs typeface="DejaVu Sans"/>
              </a:rPr>
              <a:t>Prepared SQL retains the exact batch and patient IDs.</a:t>
            </a:r>
          </a:p>
        </p:txBody>
      </p:sp>
    </p:spTree>
    <p:extLst>
      <p:ext uri="{BB962C8B-B14F-4D97-AF65-F5344CB8AC3E}">
        <p14:creationId xmlns:p14="http://schemas.microsoft.com/office/powerpoint/2010/main" val="1175990246"/>
      </p:ext>
    </p:extLst>
  </p:cSld>
</p:sld>
</file>

<file path=ppt/slides/slide13.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CE60A0-4673-4228-BDC4-42DC9829592F}"/>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All 9 visit-rule tests matched expectations</a:t>
            </a:r>
          </a:p>
        </p:txBody>
      </p:sp>
      <p:sp>
        <p:nvSpPr>
          <p:cNvPr id="2" name="">
            <a:extLst xmlns:a="http://schemas.openxmlformats.org/drawingml/2006/main">
              <a:ext uri="{FF2B5EF4-FFF2-40B4-BE49-F238E27FC236}">
                <a16:creationId xmlns:a16="http://schemas.microsoft.com/office/drawing/2014/main" id="{08BF2E2E-D70C-4848-8ADD-E8DF7EBCC087}"/>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13</a:t>
            </a:r>
          </a:p>
        </p:txBody>
      </p:sp>
      <p:sp>
        <p:nvSpPr>
          <p:cNvPr id="3" name="">
            <a:extLst xmlns:a="http://schemas.openxmlformats.org/drawingml/2006/main">
              <a:ext uri="{FF2B5EF4-FFF2-40B4-BE49-F238E27FC236}">
                <a16:creationId xmlns:a16="http://schemas.microsoft.com/office/drawing/2014/main" id="{A53909D5-3E66-49B2-98A0-C562DA7BEDC6}"/>
              </a:ext>
            </a:extLst>
          </p:cNvPr>
          <p:cNvSpPr>
            <a:spLocks xmlns:a="http://schemas.openxmlformats.org/drawingml/2006/main" noGrp="1"/>
          </p:cNvSpPr>
          <p:nvPr/>
        </p:nvSpPr>
        <p:spPr>
          <a:xfrm xmlns:a="http://schemas.openxmlformats.org/drawingml/2006/main">
            <a:off x="685800" y="2562225"/>
            <a:ext cx="58578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16867F"/>
                </a:solidFill>
                <a:latin typeface="DejaVu Sans"/>
                <a:ea typeface="DejaVu Sans"/>
                <a:cs typeface="DejaVu Sans"/>
              </a:defRPr>
            </a:defPPr>
          </a:lstStyle>
          <a:p xmlns:a="http://schemas.openxmlformats.org/drawingml/2006/main">
            <a:pPr>
              <a:defRPr sz="3300" b="0">
                <a:solidFill>
                  <a:srgbClr val="16867F"/>
                </a:solidFill>
                <a:latin typeface="DejaVu Sans"/>
                <a:ea typeface="DejaVu Sans"/>
                <a:cs typeface="DejaVu Sans"/>
              </a:defRPr>
            </a:pPr>
            <a:r>
              <a:rPr sz="3300" b="0">
                <a:solidFill>
                  <a:srgbClr val="16867F"/>
                </a:solidFill>
                <a:latin typeface="DejaVu Sans"/>
                <a:ea typeface="DejaVu Sans"/>
                <a:cs typeface="DejaVu Sans"/>
              </a:rPr>
              <a:t>5 correctly included</a:t>
            </a:r>
          </a:p>
          <a:p xmlns:a="http://schemas.openxmlformats.org/drawingml/2006/main">
            <a:pPr>
              <a:defRPr sz="3300" b="0">
                <a:solidFill>
                  <a:srgbClr val="16867F"/>
                </a:solidFill>
                <a:latin typeface="DejaVu Sans"/>
                <a:ea typeface="DejaVu Sans"/>
                <a:cs typeface="DejaVu Sans"/>
              </a:defRPr>
            </a:pPr>
            <a:r>
              <a:rPr sz="3300" b="0">
                <a:solidFill>
                  <a:srgbClr val="16867F"/>
                </a:solidFill>
                <a:latin typeface="DejaVu Sans"/>
                <a:ea typeface="DejaVu Sans"/>
                <a:cs typeface="DejaVu Sans"/>
              </a:rPr>
              <a:t>Eligible timing and result status</a:t>
            </a:r>
          </a:p>
        </p:txBody>
      </p:sp>
      <p:sp>
        <p:nvSpPr>
          <p:cNvPr id="4" name="">
            <a:extLst xmlns:a="http://schemas.openxmlformats.org/drawingml/2006/main">
              <a:ext uri="{FF2B5EF4-FFF2-40B4-BE49-F238E27FC236}">
                <a16:creationId xmlns:a16="http://schemas.microsoft.com/office/drawing/2014/main" id="{6A61FF76-DEB1-4D25-B5F6-7E3BBAD6D6C1}"/>
              </a:ext>
            </a:extLst>
          </p:cNvPr>
          <p:cNvSpPr>
            <a:spLocks xmlns:a="http://schemas.openxmlformats.org/drawingml/2006/main" noGrp="1"/>
          </p:cNvSpPr>
          <p:nvPr/>
        </p:nvSpPr>
        <p:spPr>
          <a:xfrm xmlns:a="http://schemas.openxmlformats.org/drawingml/2006/main">
            <a:off x="7305675" y="2562225"/>
            <a:ext cx="5667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0">
                <a:solidFill>
                  <a:srgbClr val="1765BA"/>
                </a:solidFill>
                <a:latin typeface="DejaVu Sans"/>
                <a:ea typeface="DejaVu Sans"/>
                <a:cs typeface="DejaVu Sans"/>
              </a:defRPr>
            </a:defPPr>
          </a:lstStyle>
          <a:p xmlns:a="http://schemas.openxmlformats.org/drawingml/2006/main">
            <a:pPr>
              <a:defRPr sz="3000" b="0">
                <a:solidFill>
                  <a:srgbClr val="1765BA"/>
                </a:solidFill>
                <a:latin typeface="DejaVu Sans"/>
                <a:ea typeface="DejaVu Sans"/>
                <a:cs typeface="DejaVu Sans"/>
              </a:defRPr>
            </a:pPr>
            <a:r>
              <a:rPr sz="3000" b="0">
                <a:solidFill>
                  <a:srgbClr val="1765BA"/>
                </a:solidFill>
                <a:latin typeface="DejaVu Sans"/>
                <a:ea typeface="DejaVu Sans"/>
                <a:cs typeface="DejaVu Sans"/>
              </a:rPr>
              <a:t>4 correctly excluded</a:t>
            </a:r>
          </a:p>
          <a:p xmlns:a="http://schemas.openxmlformats.org/drawingml/2006/main">
            <a:pPr>
              <a:defRPr sz="3000" b="0">
                <a:solidFill>
                  <a:srgbClr val="1765BA"/>
                </a:solidFill>
                <a:latin typeface="DejaVu Sans"/>
                <a:ea typeface="DejaVu Sans"/>
                <a:cs typeface="DejaVu Sans"/>
              </a:defRPr>
            </a:pPr>
            <a:r>
              <a:rPr sz="3000" b="0">
                <a:solidFill>
                  <a:srgbClr val="1765BA"/>
                </a:solidFill>
                <a:latin typeface="DejaVu Sans"/>
                <a:ea typeface="DejaVu Sans"/>
                <a:cs typeface="DejaVu Sans"/>
              </a:rPr>
              <a:t>Outside the window, missing time or preliminary</a:t>
            </a:r>
          </a:p>
        </p:txBody>
      </p:sp>
    </p:spTree>
    <p:extLst>
      <p:ext uri="{BB962C8B-B14F-4D97-AF65-F5344CB8AC3E}">
        <p14:creationId xmlns:p14="http://schemas.microsoft.com/office/powerpoint/2010/main" val="1698742262"/>
      </p:ext>
    </p:extLst>
  </p:cSld>
</p:sld>
</file>

<file path=ppt/slides/slide14.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127D23-45B3-4761-A731-F22D1AFF39BC}"/>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The reviewer sees status and its supporting count</a:t>
            </a:r>
          </a:p>
        </p:txBody>
      </p:sp>
      <p:sp>
        <p:nvSpPr>
          <p:cNvPr id="2" name="">
            <a:extLst xmlns:a="http://schemas.openxmlformats.org/drawingml/2006/main">
              <a:ext uri="{FF2B5EF4-FFF2-40B4-BE49-F238E27FC236}">
                <a16:creationId xmlns:a16="http://schemas.microsoft.com/office/drawing/2014/main" id="{511F97C6-5DDB-46B1-A542-862EBD146EB8}"/>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14</a:t>
            </a:r>
          </a:p>
        </p:txBody>
      </p:sp>
      <p:pic>
        <p:nvPicPr>
          <p:cNvPr id="3" name="">
            <a:extLst xmlns:a="http://schemas.openxmlformats.org/drawingml/2006/main">
              <a:ext uri="{FF2B5EF4-FFF2-40B4-BE49-F238E27FC236}">
                <a16:creationId xmlns:a16="http://schemas.microsoft.com/office/drawing/2014/main" id="{BC0EF685-117E-408C-AA71-2BE09ED8705D}"/>
              </a:ext>
            </a:extLst>
          </p:cNvPr>
          <p:cNvPicPr>
            <a:picLocks xmlns:a="http://schemas.openxmlformats.org/drawingml/2006/main" noChangeAspect="1"/>
          </p:cNvPicPr>
          <p:nvPr/>
        </p:nvPicPr>
        <p:blipFill>
          <a:blip xmlns:r="http://schemas.openxmlformats.org/officeDocument/2006/relationships" xmlns:a="http://schemas.openxmlformats.org/drawingml/2006/main" r:embed="R82e873455de748ef"/>
          <a:stretch xmlns:a="http://schemas.openxmlformats.org/drawingml/2006/main"/>
        </p:blipFill>
        <p:spPr>
          <a:xfrm xmlns:a="http://schemas.openxmlformats.org/drawingml/2006/main">
            <a:off x="1495346" y="1809750"/>
            <a:ext cx="5448459" cy="5048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9A4E16-4327-4130-BE6C-C3D21374A4E4}"/>
              </a:ext>
            </a:extLst>
          </p:cNvPr>
          <p:cNvSpPr>
            <a:spLocks xmlns:a="http://schemas.openxmlformats.org/drawingml/2006/main" noGrp="1"/>
          </p:cNvSpPr>
          <p:nvPr/>
        </p:nvSpPr>
        <p:spPr>
          <a:xfrm xmlns:a="http://schemas.openxmlformats.org/drawingml/2006/main">
            <a:off x="8477250" y="2400300"/>
            <a:ext cx="4495800" cy="3638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12375F"/>
                </a:solidFill>
                <a:latin typeface="DejaVu Sans"/>
                <a:ea typeface="DejaVu Sans"/>
                <a:cs typeface="DejaVu Sans"/>
              </a:defRPr>
            </a:defPPr>
          </a:lstStyle>
          <a:p xmlns:a="http://schemas.openxmlformats.org/drawingml/2006/main">
            <a:pPr>
              <a:defRPr sz="2550" b="0">
                <a:solidFill>
                  <a:srgbClr val="12375F"/>
                </a:solidFill>
                <a:latin typeface="DejaVu Sans"/>
                <a:ea typeface="DejaVu Sans"/>
                <a:cs typeface="DejaVu Sans"/>
              </a:defRPr>
            </a:pPr>
            <a:r>
              <a:rPr sz="2550" b="0">
                <a:solidFill>
                  <a:srgbClr val="12375F"/>
                </a:solidFill>
                <a:latin typeface="DejaVu Sans"/>
                <a:ea typeface="DejaVu Sans"/>
                <a:cs typeface="DejaVu Sans"/>
              </a:rPr>
              <a:t>Signed-in review</a:t>
            </a:r>
          </a:p>
          <a:p xmlns:a="http://schemas.openxmlformats.org/drawingml/2006/main">
            <a:r>
              <a:t/>
            </a:r>
          </a:p>
          <a:p xmlns:a="http://schemas.openxmlformats.org/drawingml/2006/main">
            <a:pPr>
              <a:defRPr sz="2550" b="0">
                <a:solidFill>
                  <a:srgbClr val="12375F"/>
                </a:solidFill>
                <a:latin typeface="DejaVu Sans"/>
                <a:ea typeface="DejaVu Sans"/>
                <a:cs typeface="DejaVu Sans"/>
              </a:defRPr>
            </a:pPr>
            <a:r>
              <a:rPr sz="2550" b="0">
                <a:solidFill>
                  <a:srgbClr val="12375F"/>
                </a:solidFill>
                <a:latin typeface="DejaVu Sans"/>
                <a:ea typeface="DejaVu Sans"/>
                <a:cs typeface="DejaVu Sans"/>
              </a:rPr>
              <a:t>Patient context</a:t>
            </a:r>
          </a:p>
          <a:p xmlns:a="http://schemas.openxmlformats.org/drawingml/2006/main">
            <a:r>
              <a:t/>
            </a:r>
          </a:p>
          <a:p xmlns:a="http://schemas.openxmlformats.org/drawingml/2006/main">
            <a:pPr>
              <a:defRPr sz="2550" b="0">
                <a:solidFill>
                  <a:srgbClr val="12375F"/>
                </a:solidFill>
                <a:latin typeface="DejaVu Sans"/>
                <a:ea typeface="DejaVu Sans"/>
                <a:cs typeface="DejaVu Sans"/>
              </a:defRPr>
            </a:pPr>
            <a:r>
              <a:rPr sz="2550" b="0">
                <a:solidFill>
                  <a:srgbClr val="12375F"/>
                </a:solidFill>
                <a:latin typeface="DejaVu Sans"/>
                <a:ea typeface="DejaVu Sans"/>
                <a:cs typeface="DejaVu Sans"/>
              </a:rPr>
              <a:t>Appointment status with qualifying results</a:t>
            </a:r>
          </a:p>
        </p:txBody>
      </p:sp>
    </p:spTree>
    <p:extLst>
      <p:ext uri="{BB962C8B-B14F-4D97-AF65-F5344CB8AC3E}">
        <p14:creationId xmlns:p14="http://schemas.microsoft.com/office/powerpoint/2010/main" val="515382651"/>
      </p:ext>
    </p:extLst>
  </p:cSld>
</p:sld>
</file>

<file path=ppt/slides/slide15.xml><?xml version="1.0" encoding="utf-8"?>
<p:sld xmlns:p="http://schemas.openxmlformats.org/presentationml/2006/main">
  <p:cSld>
    <p:bg>
      <p:bgPr>
        <a:solidFill xmlns:a="http://schemas.openxmlformats.org/drawingml/2006/main">
          <a:srgbClr val="F5F8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163BF5-7BF7-4F94-AF0B-C9D3451DB6F7}"/>
              </a:ext>
            </a:extLst>
          </p:cNvPr>
          <p:cNvSpPr>
            <a:spLocks xmlns:a="http://schemas.openxmlformats.org/drawingml/2006/main" noGrp="1"/>
          </p:cNvSpPr>
          <p:nvPr/>
        </p:nvSpPr>
        <p:spPr>
          <a:xfrm xmlns:a="http://schemas.openxmlformats.org/drawingml/2006/main">
            <a:off x="685800" y="552450"/>
            <a:ext cx="1228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2375F"/>
                </a:solidFill>
                <a:latin typeface="DejaVu Sans"/>
                <a:ea typeface="DejaVu Sans"/>
                <a:cs typeface="DejaVu Sans"/>
              </a:defRPr>
            </a:defPPr>
          </a:lstStyle>
          <a:p xmlns:a="http://schemas.openxmlformats.org/drawingml/2006/main">
            <a:pPr>
              <a:defRPr sz="3300" b="1">
                <a:solidFill>
                  <a:srgbClr val="12375F"/>
                </a:solidFill>
                <a:latin typeface="DejaVu Sans"/>
                <a:ea typeface="DejaVu Sans"/>
                <a:cs typeface="DejaVu Sans"/>
              </a:defRPr>
            </a:pPr>
            <a:r>
              <a:rPr sz="3300" b="1">
                <a:solidFill>
                  <a:srgbClr val="12375F"/>
                </a:solidFill>
                <a:latin typeface="DejaVu Sans"/>
                <a:ea typeface="DejaVu Sans"/>
                <a:cs typeface="DejaVu Sans"/>
              </a:rPr>
              <a:t>Connected care requires traceable information</a:t>
            </a:r>
          </a:p>
        </p:txBody>
      </p:sp>
      <p:sp>
        <p:nvSpPr>
          <p:cNvPr id="2" name="">
            <a:extLst xmlns:a="http://schemas.openxmlformats.org/drawingml/2006/main">
              <a:ext uri="{FF2B5EF4-FFF2-40B4-BE49-F238E27FC236}">
                <a16:creationId xmlns:a16="http://schemas.microsoft.com/office/drawing/2014/main" id="{B85641CC-A623-438B-816A-D93E9FB12875}"/>
              </a:ext>
            </a:extLst>
          </p:cNvPr>
          <p:cNvSpPr>
            <a:spLocks xmlns:a="http://schemas.openxmlformats.org/drawingml/2006/main" noGrp="1"/>
          </p:cNvSpPr>
          <p:nvPr/>
        </p:nvSpPr>
        <p:spPr>
          <a:xfrm xmlns:a="http://schemas.openxmlformats.org/drawingml/2006/main">
            <a:off x="12525375" y="72485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7C93"/>
                </a:solidFill>
                <a:latin typeface="DejaVu Sans"/>
                <a:ea typeface="DejaVu Sans"/>
                <a:cs typeface="DejaVu Sans"/>
              </a:defRPr>
            </a:defPPr>
          </a:lstStyle>
          <a:p xmlns:a="http://schemas.openxmlformats.org/drawingml/2006/main">
            <a:pPr>
              <a:defRPr sz="1125" b="0">
                <a:solidFill>
                  <a:srgbClr val="667C93"/>
                </a:solidFill>
                <a:latin typeface="DejaVu Sans"/>
                <a:ea typeface="DejaVu Sans"/>
                <a:cs typeface="DejaVu Sans"/>
              </a:defRPr>
            </a:pPr>
            <a:r>
              <a:rPr sz="1125" b="0">
                <a:solidFill>
                  <a:srgbClr val="667C93"/>
                </a:solidFill>
                <a:latin typeface="DejaVu Sans"/>
                <a:ea typeface="DejaVu Sans"/>
                <a:cs typeface="DejaVu Sans"/>
              </a:rPr>
              <a:t>15</a:t>
            </a:r>
          </a:p>
        </p:txBody>
      </p:sp>
      <p:sp>
        <p:nvSpPr>
          <p:cNvPr id="3" name="">
            <a:extLst xmlns:a="http://schemas.openxmlformats.org/drawingml/2006/main">
              <a:ext uri="{FF2B5EF4-FFF2-40B4-BE49-F238E27FC236}">
                <a16:creationId xmlns:a16="http://schemas.microsoft.com/office/drawing/2014/main" id="{3EC90705-7E60-4F56-9167-396DE041F4C6}"/>
              </a:ext>
            </a:extLst>
          </p:cNvPr>
          <p:cNvSpPr>
            <a:spLocks xmlns:a="http://schemas.openxmlformats.org/drawingml/2006/main" noGrp="1"/>
          </p:cNvSpPr>
          <p:nvPr/>
        </p:nvSpPr>
        <p:spPr>
          <a:xfrm xmlns:a="http://schemas.openxmlformats.org/drawingml/2006/main">
            <a:off x="685800" y="2266950"/>
            <a:ext cx="1219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0">
                <a:solidFill>
                  <a:srgbClr val="1765BA"/>
                </a:solidFill>
                <a:latin typeface="DejaVu Sans"/>
                <a:ea typeface="DejaVu Sans"/>
                <a:cs typeface="DejaVu Sans"/>
              </a:defRPr>
            </a:defPPr>
          </a:lstStyle>
          <a:p xmlns:a="http://schemas.openxmlformats.org/drawingml/2006/main">
            <a:pPr>
              <a:defRPr sz="3150" b="0">
                <a:solidFill>
                  <a:srgbClr val="1765BA"/>
                </a:solidFill>
                <a:latin typeface="DejaVu Sans"/>
                <a:ea typeface="DejaVu Sans"/>
                <a:cs typeface="DejaVu Sans"/>
              </a:defRPr>
            </a:pPr>
            <a:r>
              <a:rPr sz="3150" b="0">
                <a:solidFill>
                  <a:srgbClr val="1765BA"/>
                </a:solidFill>
                <a:latin typeface="DejaVu Sans"/>
                <a:ea typeface="DejaVu Sans"/>
                <a:cs typeface="DejaVu Sans"/>
              </a:rPr>
              <a:t>Delivered: HL7/FHIR integration, controlled cloud ingestion and patient coverage analytics.</a:t>
            </a:r>
          </a:p>
        </p:txBody>
      </p:sp>
      <p:sp>
        <p:nvSpPr>
          <p:cNvPr id="4" name="">
            <a:extLst xmlns:a="http://schemas.openxmlformats.org/drawingml/2006/main">
              <a:ext uri="{FF2B5EF4-FFF2-40B4-BE49-F238E27FC236}">
                <a16:creationId xmlns:a16="http://schemas.microsoft.com/office/drawing/2014/main" id="{8CC1F5FE-8871-4FD5-8079-DB8E1D9A7920}"/>
              </a:ext>
            </a:extLst>
          </p:cNvPr>
          <p:cNvSpPr>
            <a:spLocks xmlns:a="http://schemas.openxmlformats.org/drawingml/2006/main" noGrp="1"/>
          </p:cNvSpPr>
          <p:nvPr/>
        </p:nvSpPr>
        <p:spPr>
          <a:xfrm xmlns:a="http://schemas.openxmlformats.org/drawingml/2006/main">
            <a:off x="685800" y="4695825"/>
            <a:ext cx="12192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0">
                <a:solidFill>
                  <a:srgbClr val="16867F"/>
                </a:solidFill>
                <a:latin typeface="DejaVu Sans"/>
                <a:ea typeface="DejaVu Sans"/>
                <a:cs typeface="DejaVu Sans"/>
              </a:defRPr>
            </a:defPPr>
          </a:lstStyle>
          <a:p xmlns:a="http://schemas.openxmlformats.org/drawingml/2006/main">
            <a:pPr>
              <a:defRPr sz="3000" b="0">
                <a:solidFill>
                  <a:srgbClr val="16867F"/>
                </a:solidFill>
                <a:latin typeface="DejaVu Sans"/>
                <a:ea typeface="DejaVu Sans"/>
                <a:cs typeface="DejaVu Sans"/>
              </a:defRPr>
            </a:pPr>
            <a:r>
              <a:rPr sz="3000" b="0">
                <a:solidFill>
                  <a:srgbClr val="16867F"/>
                </a:solidFill>
                <a:latin typeface="DejaVu Sans"/>
                <a:ea typeface="DejaVu Sans"/>
                <a:cs typeface="DejaVu Sans"/>
              </a:rPr>
              <a:t>Value: reviewers can see what information is available and why it qualifies.</a:t>
            </a:r>
          </a:p>
        </p:txBody>
      </p:sp>
    </p:spTree>
    <p:extLst>
      <p:ext uri="{BB962C8B-B14F-4D97-AF65-F5344CB8AC3E}">
        <p14:creationId xmlns:p14="http://schemas.microsoft.com/office/powerpoint/2010/main" val="4901401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2026-10-11T02:14:27.4620000Z</dcterms:created>
  <dcterms:modified xsi:type="dcterms:W3CDTF">2026-10-11T02:14:27.4620000Z</dcterms:modified>
</coreProperties>
</file>