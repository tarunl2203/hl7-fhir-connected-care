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0287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80" d="100"/>
          <a:sy n="80" d="100"/>
        </p:scale>
        <p:origin x="2824" y="2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7F4E949-9A86-D250-05DA-9E33417987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52E6CB-2EEF-542B-D3B6-7745791E790E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75578F-A291-DF4F-BEB6-182C034D887E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1FCA49BE-3A94-5ADA-5922-08448B41DA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946EA4E9-3780-AD16-2408-FAF6BF91CE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25228F-4F60-FF8C-D6EE-EA699FABF148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DD2956-B571-1BE1-A6AF-A26D57BDEC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EDD8FB-3BDB-EE4F-B918-6A928C52B455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74FB671-E886-4058-9CF1-ACC68DC06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3886200"/>
            <a:ext cx="8229600" cy="14859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0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17CB344D-9ED6-4974-A1CC-6CD6A46CA0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43050" y="5657850"/>
            <a:ext cx="72009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983EFA4F-5634-4085-8A7C-9664D5091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700" y="4286250"/>
            <a:ext cx="8229600" cy="1714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54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08C2A43-FD50-4B6E-8DAD-E9BCDBEE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44" y="800100"/>
            <a:ext cx="9129713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84216F54-EE3B-42F4-9F11-DA2A1B1346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644" y="2857500"/>
            <a:ext cx="9129713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1pPr>
            <a:lvl2pPr marL="4500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2pPr>
            <a:lvl3pPr marL="7072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3pPr>
            <a:lvl4pPr marL="9644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4pPr>
            <a:lvl5pPr marL="12215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5pPr>
            <a:lvl6pPr marL="14787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6pPr>
            <a:lvl7pPr marL="17359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7pPr>
            <a:lvl8pPr marL="19931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8pPr>
            <a:lvl9pPr marL="22502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6A2A13-B3CF-450E-A034-48E8E81DD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44" y="800100"/>
            <a:ext cx="9129713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82DD80B6-D6AA-49BD-96AF-F293426EC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644" y="2857500"/>
            <a:ext cx="4243388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1pPr>
            <a:lvl2pPr marL="4500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2pPr>
            <a:lvl3pPr marL="7072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3pPr>
            <a:lvl4pPr marL="9644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4pPr>
            <a:lvl5pPr marL="12215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5pPr>
            <a:lvl6pPr marL="14787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6pPr>
            <a:lvl7pPr marL="17359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7pPr>
            <a:lvl8pPr marL="19931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8pPr>
            <a:lvl9pPr marL="22502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7A7FA01-33C8-465A-AC08-ADF192E220B7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5464969" y="2857500"/>
            <a:ext cx="4243388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772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1pPr>
            <a:lvl2pPr marL="4500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2pPr>
            <a:lvl3pPr marL="7072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3pPr>
            <a:lvl4pPr marL="9644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4pPr>
            <a:lvl5pPr marL="12215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5pPr>
            <a:lvl6pPr marL="14787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6pPr>
            <a:lvl7pPr marL="17359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7pPr>
            <a:lvl8pPr marL="19931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8pPr>
            <a:lvl9pPr marL="22502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9D3ACBB-E69C-46A5-8E68-28A014E92A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8644" y="800100"/>
            <a:ext cx="9129713" cy="12573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784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90B1DC8D-A69B-4733-8B7B-077292FFC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8644" y="2857500"/>
            <a:ext cx="4243388" cy="64008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89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928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1pPr>
            <a:lvl2pPr marL="4500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2pPr>
            <a:lvl3pPr marL="7072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3pPr>
            <a:lvl4pPr marL="9644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4pPr>
            <a:lvl5pPr marL="12215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5pPr>
            <a:lvl6pPr marL="147875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6pPr>
            <a:lvl7pPr marL="173593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7pPr>
            <a:lvl8pPr marL="1993106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8pPr>
            <a:lvl9pPr marL="2250281" indent="-192881">
              <a:lnSpc>
                <a:spcPct val="110000"/>
              </a:lnSpc>
              <a:spcBef>
                <a:spcPts val="0"/>
              </a:spcBef>
              <a:spcAft>
                <a:spcPts val="1013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A159079-5779-4B80-83D7-9E473EDEEA76}"/>
              </a:ext>
            </a:extLst>
          </p:cNvPr>
          <p:cNvSpPr>
            <a:spLocks noGrp="1"/>
          </p:cNvSpPr>
          <p:nvPr/>
        </p:nvSpPr>
        <p:spPr>
          <a:xfrm>
            <a:off x="723900" y="762000"/>
            <a:ext cx="8858250" cy="1857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rPr>
              <a:t>Connected Care:</a:t>
            </a:r>
          </a:p>
          <a:p>
            <a:pPr>
              <a:def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rPr>
              <a:t>Healthcare Data Platform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C58DDF-3AD8-4A40-BD8A-A85041555F4B}"/>
              </a:ext>
            </a:extLst>
          </p:cNvPr>
          <p:cNvSpPr>
            <a:spLocks noGrp="1"/>
          </p:cNvSpPr>
          <p:nvPr/>
        </p:nvSpPr>
        <p:spPr>
          <a:xfrm>
            <a:off x="762000" y="2809875"/>
            <a:ext cx="8763000" cy="114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925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925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Is the right patient information available</a:t>
            </a:r>
          </a:p>
          <a:p>
            <a:pPr>
              <a:defRPr sz="2925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925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before a healthcare appointment?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DAF1A0-503B-472D-81D7-B22A2CBD4C2D}"/>
              </a:ext>
            </a:extLst>
          </p:cNvPr>
          <p:cNvSpPr>
            <a:spLocks noGrp="1"/>
          </p:cNvSpPr>
          <p:nvPr/>
        </p:nvSpPr>
        <p:spPr>
          <a:xfrm>
            <a:off x="762000" y="4333875"/>
            <a:ext cx="8763000" cy="2857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 dirty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Patient records, lab results and appointment</a:t>
            </a:r>
          </a:p>
          <a:p>
            <a: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 dirty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details can arrive in different formats.</a:t>
            </a:r>
            <a:endParaRPr lang="en-US" sz="2700" b="0" dirty="0">
              <a:solidFill>
                <a:srgbClr val="30455F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endParaRPr lang="en-US" sz="2700" dirty="0">
              <a:solidFill>
                <a:srgbClr val="30455F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625" b="1">
                <a:solidFill>
                  <a:srgbClr val="1765BA"/>
                </a:solidFill>
                <a:latin typeface="DejaVu Sans"/>
                <a:ea typeface="DejaVu Sans"/>
                <a:cs typeface="DejaVu Sans"/>
              </a:defRPr>
            </a:pPr>
            <a:r>
              <a:rPr lang="en-US" sz="2800" b="1" dirty="0">
                <a:solidFill>
                  <a:srgbClr val="1765BA"/>
                </a:solidFill>
                <a:latin typeface="DejaVu Sans"/>
                <a:ea typeface="DejaVu Sans"/>
                <a:cs typeface="DejaVu Sans"/>
              </a:rPr>
              <a:t>HL7 v2 / FHIR R4 / </a:t>
            </a:r>
            <a:r>
              <a:rPr lang="en-US" sz="2800" b="1" dirty="0" err="1">
                <a:solidFill>
                  <a:srgbClr val="1765BA"/>
                </a:solidFill>
                <a:latin typeface="DejaVu Sans"/>
                <a:ea typeface="DejaVu Sans"/>
                <a:cs typeface="DejaVu Sans"/>
              </a:rPr>
              <a:t>Firely</a:t>
            </a:r>
            <a:endParaRPr lang="en-US" sz="2800" b="1" dirty="0">
              <a:solidFill>
                <a:srgbClr val="1765BA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625" b="1">
                <a:solidFill>
                  <a:srgbClr val="1765BA"/>
                </a:solidFill>
                <a:latin typeface="DejaVu Sans"/>
                <a:ea typeface="DejaVu Sans"/>
                <a:cs typeface="DejaVu Sans"/>
              </a:defRPr>
            </a:pPr>
            <a:r>
              <a:rPr lang="en-US" sz="2800" b="1" dirty="0">
                <a:solidFill>
                  <a:srgbClr val="1765BA"/>
                </a:solidFill>
                <a:latin typeface="DejaVu Sans"/>
                <a:ea typeface="DejaVu Sans"/>
                <a:cs typeface="DejaVu Sans"/>
              </a:rPr>
              <a:t>Python / AWS S3 / Snowflake</a:t>
            </a:r>
          </a:p>
          <a:p>
            <a:endParaRPr sz="2700" b="0" dirty="0">
              <a:solidFill>
                <a:srgbClr val="30455F"/>
              </a:solidFill>
              <a:latin typeface="DejaVu Sans"/>
              <a:ea typeface="DejaVu Sans"/>
              <a:cs typeface="DejaVu Sans"/>
            </a:endParaRPr>
          </a:p>
          <a:p>
            <a: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 dirty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I built a workflow to connect these records</a:t>
            </a:r>
          </a:p>
          <a:p>
            <a: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 dirty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and assess information availability</a:t>
            </a:r>
          </a:p>
          <a:p>
            <a:pPr>
              <a:defRPr sz="27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700" b="0" dirty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for patient review.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33E280-17CF-443E-B2F7-AD48A71AF774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8763000" cy="12382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625" b="1">
                <a:solidFill>
                  <a:srgbClr val="1765BA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625" b="1">
                <a:solidFill>
                  <a:srgbClr val="1765BA"/>
                </a:solidFill>
                <a:latin typeface="DejaVu Sans"/>
                <a:ea typeface="DejaVu Sans"/>
                <a:cs typeface="DejaVu Sans"/>
              </a:defRPr>
            </a:pPr>
            <a:endParaRPr sz="2625" b="1" dirty="0">
              <a:solidFill>
                <a:srgbClr val="1765BA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31033585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D8785984-EDCE-4489-84B1-C807120D195B}"/>
              </a:ext>
            </a:extLst>
          </p:cNvPr>
          <p:cNvSpPr>
            <a:spLocks noGrp="1"/>
          </p:cNvSpPr>
          <p:nvPr/>
        </p:nvSpPr>
        <p:spPr>
          <a:xfrm>
            <a:off x="723900" y="723900"/>
            <a:ext cx="8858250" cy="1714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4275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4275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12375F"/>
                </a:solidFill>
                <a:latin typeface="DejaVu Sans"/>
                <a:ea typeface="DejaVu Sans"/>
                <a:cs typeface="DejaVu Sans"/>
              </a:rPr>
              <a:t>The platform connects</a:t>
            </a:r>
          </a:p>
          <a:p>
            <a:pPr>
              <a:defRPr sz="4275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pPr>
            <a:r>
              <a:rPr sz="4275" b="1">
                <a:solidFill>
                  <a:srgbClr val="12375F"/>
                </a:solidFill>
                <a:latin typeface="DejaVu Sans"/>
                <a:ea typeface="DejaVu Sans"/>
                <a:cs typeface="DejaVu Sans"/>
              </a:rPr>
              <a:t>clinical data to analytics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66F75B-1409-436A-8D56-EE2418D43CB9}"/>
              </a:ext>
            </a:extLst>
          </p:cNvPr>
          <p:cNvSpPr>
            <a:spLocks noGrp="1"/>
          </p:cNvSpPr>
          <p:nvPr/>
        </p:nvSpPr>
        <p:spPr>
          <a:xfrm>
            <a:off x="762000" y="2762250"/>
            <a:ext cx="8763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Interoperability Foundation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0E1A12-C71B-4ABF-AAEB-F11D125F094B}"/>
              </a:ext>
            </a:extLst>
          </p:cNvPr>
          <p:cNvSpPr>
            <a:spLocks noGrp="1"/>
          </p:cNvSpPr>
          <p:nvPr/>
        </p:nvSpPr>
        <p:spPr>
          <a:xfrm>
            <a:off x="762000" y="3400425"/>
            <a:ext cx="8763000" cy="1381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HL7-to-FHIR transformation with linked patient,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laboratory and appointment records,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managed through Firely.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FBB85E-FA08-46F8-A222-910B7B430B67}"/>
              </a:ext>
            </a:extLst>
          </p:cNvPr>
          <p:cNvSpPr>
            <a:spLocks noGrp="1"/>
          </p:cNvSpPr>
          <p:nvPr/>
        </p:nvSpPr>
        <p:spPr>
          <a:xfrm>
            <a:off x="762000" y="5057775"/>
            <a:ext cx="8763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Cloud Analytics Platform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3619018-6844-4445-9EA2-135DB6041542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8763000" cy="1381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An AWS S3–Snowflake pipeline with private,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encrypted cloud storage, traceable batches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and structured clinical data.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E6154E8-25B5-4CBE-814F-26638F708A46}"/>
              </a:ext>
            </a:extLst>
          </p:cNvPr>
          <p:cNvSpPr>
            <a:spLocks noGrp="1"/>
          </p:cNvSpPr>
          <p:nvPr/>
        </p:nvSpPr>
        <p:spPr>
          <a:xfrm>
            <a:off x="762000" y="7362825"/>
            <a:ext cx="8763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Connected Care Insights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558CD77-5FD6-4455-909D-D88FC2FA6929}"/>
              </a:ext>
            </a:extLst>
          </p:cNvPr>
          <p:cNvSpPr>
            <a:spLocks noGrp="1"/>
          </p:cNvSpPr>
          <p:nvPr/>
        </p:nvSpPr>
        <p:spPr>
          <a:xfrm>
            <a:off x="762000" y="8001000"/>
            <a:ext cx="8763000" cy="1381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Patient information coverage across clinical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resources, plus appointment-specific checks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for qualifying laboratory results.</a:t>
            </a:r>
          </a:p>
        </p:txBody>
      </p:sp>
    </p:spTree>
    <p:extLst>
      <p:ext uri="{BB962C8B-B14F-4D97-AF65-F5344CB8AC3E}">
        <p14:creationId xmlns:p14="http://schemas.microsoft.com/office/powerpoint/2010/main" val="21385385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503EDDD-2DBA-49B3-B078-235D303D7F6D}"/>
              </a:ext>
            </a:extLst>
          </p:cNvPr>
          <p:cNvSpPr>
            <a:spLocks noGrp="1"/>
          </p:cNvSpPr>
          <p:nvPr/>
        </p:nvSpPr>
        <p:spPr>
          <a:xfrm>
            <a:off x="723900" y="723900"/>
            <a:ext cx="8858250" cy="1714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rPr>
              <a:t>Patient information</a:t>
            </a:r>
          </a:p>
          <a:p>
            <a:pPr>
              <a:def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defRPr>
            </a:pPr>
            <a:r>
              <a:rPr sz="4500" b="1">
                <a:solidFill>
                  <a:srgbClr val="12375F"/>
                </a:solidFill>
                <a:latin typeface="DejaVu Sans"/>
                <a:ea typeface="DejaVu Sans"/>
                <a:cs typeface="DejaVu Sans"/>
              </a:rPr>
              <a:t>with context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A69851-D3A1-4A10-BB82-443650E49C5C}"/>
              </a:ext>
            </a:extLst>
          </p:cNvPr>
          <p:cNvSpPr>
            <a:spLocks noGrp="1"/>
          </p:cNvSpPr>
          <p:nvPr/>
        </p:nvSpPr>
        <p:spPr>
          <a:xfrm>
            <a:off x="762000" y="2695575"/>
            <a:ext cx="8763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Broader data coverage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A19E2A-776E-4A24-993B-582061DD20B7}"/>
              </a:ext>
            </a:extLst>
          </p:cNvPr>
          <p:cNvSpPr>
            <a:spLocks noGrp="1"/>
          </p:cNvSpPr>
          <p:nvPr/>
        </p:nvSpPr>
        <p:spPr>
          <a:xfrm>
            <a:off x="762000" y="3314700"/>
            <a:ext cx="8763000" cy="1381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933 native FHIR resources across 11 types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extended downstream analytics to allergies,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medications, encounters and other records.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92DA23-997B-4024-9D68-41F0AF0AA7AC}"/>
              </a:ext>
            </a:extLst>
          </p:cNvPr>
          <p:cNvSpPr>
            <a:spLocks noGrp="1"/>
          </p:cNvSpPr>
          <p:nvPr/>
        </p:nvSpPr>
        <p:spPr>
          <a:xfrm>
            <a:off x="762000" y="4914900"/>
            <a:ext cx="8763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defRPr>
            </a:pPr>
            <a:r>
              <a:rPr sz="2850" b="1">
                <a:solidFill>
                  <a:srgbClr val="16867F"/>
                </a:solidFill>
                <a:latin typeface="DejaVu Sans"/>
                <a:ea typeface="DejaVu Sans"/>
                <a:cs typeface="DejaVu Sans"/>
              </a:rPr>
              <a:t>A working reviewer demonstration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6FFCE9E-60CC-4D43-895D-BD1D30795BC6}"/>
              </a:ext>
            </a:extLst>
          </p:cNvPr>
          <p:cNvSpPr>
            <a:spLocks noGrp="1"/>
          </p:cNvSpPr>
          <p:nvPr/>
        </p:nvSpPr>
        <p:spPr>
          <a:xfrm>
            <a:off x="762000" y="5534025"/>
            <a:ext cx="8763000" cy="1381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Authenticated access shows appointment status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and qualifying glucose results. All 9 configured</a:t>
            </a:r>
          </a:p>
          <a:p>
            <a:pPr>
              <a:def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400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visit-rule tests matched expected outcomes.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6F1BA5-B034-4BE1-B490-37D153693084}"/>
              </a:ext>
            </a:extLst>
          </p:cNvPr>
          <p:cNvSpPr>
            <a:spLocks noGrp="1"/>
          </p:cNvSpPr>
          <p:nvPr/>
        </p:nvSpPr>
        <p:spPr>
          <a:xfrm>
            <a:off x="762000" y="7305675"/>
            <a:ext cx="87630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700" b="1">
                <a:solidFill>
                  <a:srgbClr val="1765BA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700" b="1">
                <a:solidFill>
                  <a:srgbClr val="1765BA"/>
                </a:solidFill>
                <a:latin typeface="DejaVu Sans"/>
                <a:ea typeface="DejaVu Sans"/>
                <a:cs typeface="DejaVu Sans"/>
              </a:defRPr>
            </a:pPr>
            <a:r>
              <a:rPr sz="2700" b="1">
                <a:solidFill>
                  <a:srgbClr val="1765BA"/>
                </a:solidFill>
                <a:latin typeface="DejaVu Sans"/>
                <a:ea typeface="DejaVu Sans"/>
                <a:cs typeface="DejaVu Sans"/>
              </a:rPr>
              <a:t>Building similar healthcare platforms?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A076B4D-45A8-4132-9F66-5A30BB9D023E}"/>
              </a:ext>
            </a:extLst>
          </p:cNvPr>
          <p:cNvSpPr>
            <a:spLocks noGrp="1"/>
          </p:cNvSpPr>
          <p:nvPr/>
        </p:nvSpPr>
        <p:spPr>
          <a:xfrm>
            <a:off x="762000" y="7934325"/>
            <a:ext cx="8763000" cy="1428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>
            <a:noAutofit/>
          </a:bodyPr>
          <a:lstStyle>
            <a:defPPr>
              <a:def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defPPr>
          </a:lstStyle>
          <a:p>
            <a:pPr>
              <a:def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I’d value your perspective on these challenges.</a:t>
            </a:r>
          </a:p>
          <a:p>
            <a:pPr>
              <a:def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If this overlaps with your team’s work, I’d welcome</a:t>
            </a:r>
          </a:p>
          <a:p>
            <a:pPr>
              <a:def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defRPr>
            </a:pPr>
            <a:r>
              <a:rPr sz="2325" b="0">
                <a:solidFill>
                  <a:srgbClr val="30455F"/>
                </a:solidFill>
                <a:latin typeface="DejaVu Sans"/>
                <a:ea typeface="DejaVu Sans"/>
                <a:cs typeface="DejaVu Sans"/>
              </a:rPr>
              <a:t>a conversation about where I could contribute.</a:t>
            </a:r>
          </a:p>
        </p:txBody>
      </p:sp>
    </p:spTree>
    <p:extLst>
      <p:ext uri="{BB962C8B-B14F-4D97-AF65-F5344CB8AC3E}">
        <p14:creationId xmlns:p14="http://schemas.microsoft.com/office/powerpoint/2010/main" val="415127123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206</Words>
  <Application>Microsoft Macintosh PowerPoint</Application>
  <DocSecurity>0</DocSecurity>
  <PresentationFormat>Custom</PresentationFormat>
  <Paragraphs>41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Aptos</vt:lpstr>
      <vt:lpstr>DejaVu Sans</vt:lpstr>
      <vt:lpstr>ChatGPT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Sai Tarun Reddy Lakkireddy</cp:lastModifiedBy>
  <cp:revision>3</cp:revision>
  <dcterms:created xsi:type="dcterms:W3CDTF">2026-10-11T23:45:07Z</dcterms:created>
  <dcterms:modified xsi:type="dcterms:W3CDTF">2026-10-12T00:00:40Z</dcterms:modified>
</cp:coreProperties>
</file>