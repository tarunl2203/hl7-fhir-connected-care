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96a65db8f54aaa" /><Relationship Type="http://schemas.openxmlformats.org/officeDocument/2006/relationships/extended-properties" Target="/docProps/app.xml" Id="Rc8dc74a3f1c3480f" /><Relationship Type="http://schemas.openxmlformats.org/officeDocument/2006/relationships/officeDocument" Target="/ppt/presentation.xml" Id="Rcb8fa11ffeeb4e90" /></Relationships>
</file>

<file path=ppt/presentation.xml><?xml version="1.0" encoding="utf-8"?>
<p:presentation xmlns:p="http://schemas.openxmlformats.org/presentationml/2006/main">
  <p:sldMasterIdLst>
    <p:sldMasterId xmlns:r="http://schemas.openxmlformats.org/officeDocument/2006/relationships" id="2147483648" r:id="R585a16a0ce44405e"/>
  </p:sldMasterIdLst>
  <p:notesMasterIdLst>
    <p:notesMasterId xmlns:r="http://schemas.openxmlformats.org/officeDocument/2006/relationships" r:id="R6c72fa023c7a43fb"/>
  </p:notesMasterIdLst>
  <p:sldIdLst>
    <p:sldId xmlns:r="http://schemas.openxmlformats.org/officeDocument/2006/relationships" id="256" r:id="R414004ccf5db46e4"/>
    <p:sldId xmlns:r="http://schemas.openxmlformats.org/officeDocument/2006/relationships" id="257" r:id="Rfa40b7e773a247b2"/>
    <p:sldId xmlns:r="http://schemas.openxmlformats.org/officeDocument/2006/relationships" id="258" r:id="R4dc9a3f87faf427e"/>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f78b4ba03d48f1" /><Relationship Type="http://schemas.openxmlformats.org/officeDocument/2006/relationships/slideMaster" Target="/ppt/slideMasters/slideMaster1.xml" Id="R585a16a0ce44405e" /><Relationship Type="http://schemas.openxmlformats.org/officeDocument/2006/relationships/notesMaster" Target="/ppt/notesMasters/notesMaster1.xml" Id="R6c72fa023c7a43fb" /><Relationship Type="http://schemas.openxmlformats.org/officeDocument/2006/relationships/presProps" Target="/ppt/presProps.xml" Id="R3851b2b124444c02" /><Relationship Type="http://schemas.openxmlformats.org/officeDocument/2006/relationships/tableStyles" Target="/ppt/tableStyles.xml" Id="Rdade0e4440514824" /><Relationship Type="http://schemas.openxmlformats.org/officeDocument/2006/relationships/slide" Target="/ppt/slides/slide1.xml" Id="R414004ccf5db46e4" /><Relationship Type="http://schemas.openxmlformats.org/officeDocument/2006/relationships/slide" Target="/ppt/slides/slide2.xml" Id="Rfa40b7e773a247b2" /><Relationship Type="http://schemas.openxmlformats.org/officeDocument/2006/relationships/slide" Target="/ppt/slides/slide3.xml" Id="R4dc9a3f87faf42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ef89a969d44e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01ce38c09b4328" /><Relationship Type="http://schemas.openxmlformats.org/officeDocument/2006/relationships/notesMaster" Target="/ppt/notesMasters/notesMaster1.xml" Id="R0722e219a1cd47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cf0fe1aad6465f" /><Relationship Type="http://schemas.openxmlformats.org/officeDocument/2006/relationships/notesMaster" Target="/ppt/notesMasters/notesMaster1.xml" Id="R867c1caa33b2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91957857604807" /><Relationship Type="http://schemas.openxmlformats.org/officeDocument/2006/relationships/notesMaster" Target="/ppt/notesMasters/notesMaster1.xml" Id="Rd901cdec921745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connected care project. The scope is information availability and configured visit rules, not a clinical recommendation or proof of improved patient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HL7 conversion path covers ADT, ORU and SIU to Patient, Observation and Appointment. The expanded dataset contains 933 native FHIR resources including 265 Patient resources and 11 selected resource types. Native FHIR bypasses HL7 conversion and extends downstream analytics. Evidence also covers authenticated reviewer access, S3 encryption, batch lineage, reference resolution and configured visit-rule tests. Resource counts are source-archive calculations, not 933 HL7 conversions.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analytics describe linked records in a selected batch. Configured appointment checks apply to the demonstrated glucose rules; they do not establish clinical readiness. The authenticated reviewer UI displays configured information status and qualifying-result counts. The invitation is for peer feedback and potential collaboration.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4a98d159fc45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d22ba3f3444a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6b22b1f57f41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c4d55ed3a748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eda17bbc094c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2a45fbf59a47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EAAB9-1997-4A08-A3D7-8A751A6A9470}"/>
              </a:ext>
            </a:extLst>
          </p:cNvPr>
          <p:cNvSpPr>
            <a:spLocks xmlns:a="http://schemas.openxmlformats.org/drawingml/2006/main" noGrp="1"/>
          </p:cNvSpPr>
          <p:nvPr>
            <p:ph type="title" idx="0"/>
          </p:nvPr>
        </p:nvSpPr>
        <p:spPr>
          <a:xfrm xmlns:a="http://schemas.openxmlformats.org/drawingml/2006/main">
            <a:off x="1028700" y="3886200"/>
            <a:ext cx="82296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A940A7-7C41-4ED6-BC7F-7F63299C0B16}"/>
              </a:ext>
            </a:extLst>
          </p:cNvPr>
          <p:cNvSpPr>
            <a:spLocks xmlns:a="http://schemas.openxmlformats.org/drawingml/2006/main" noGrp="1"/>
          </p:cNvSpPr>
          <p:nvPr>
            <p:ph type="subTitle" idx="1"/>
          </p:nvPr>
        </p:nvSpPr>
        <p:spPr>
          <a:xfrm xmlns:a="http://schemas.openxmlformats.org/drawingml/2006/main">
            <a:off x="1543050" y="5657850"/>
            <a:ext cx="72009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1296BA-84BE-4C1B-BEF7-252B8A64A690}"/>
              </a:ext>
            </a:extLst>
          </p:cNvPr>
          <p:cNvSpPr>
            <a:spLocks xmlns:a="http://schemas.openxmlformats.org/drawingml/2006/main" noGrp="1"/>
          </p:cNvSpPr>
          <p:nvPr>
            <p:ph type="title" idx="0"/>
          </p:nvPr>
        </p:nvSpPr>
        <p:spPr>
          <a:xfrm xmlns:a="http://schemas.openxmlformats.org/drawingml/2006/main">
            <a:off x="1028700" y="4286250"/>
            <a:ext cx="82296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43513-A5E7-4A6C-BB52-522CA9886B4B}"/>
              </a:ext>
            </a:extLst>
          </p:cNvPr>
          <p:cNvSpPr>
            <a:spLocks xmlns:a="http://schemas.openxmlformats.org/drawingml/2006/main" noGrp="1"/>
          </p:cNvSpPr>
          <p:nvPr>
            <p:ph type="title" idx="0"/>
          </p:nvPr>
        </p:nvSpPr>
        <p:spPr>
          <a:xfrm xmlns:a="http://schemas.openxmlformats.org/drawingml/2006/main">
            <a:off x="578644" y="800100"/>
            <a:ext cx="9129713"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E930CF-6530-4B0F-9D2D-C560D8F55B91}"/>
              </a:ext>
            </a:extLst>
          </p:cNvPr>
          <p:cNvSpPr>
            <a:spLocks xmlns:a="http://schemas.openxmlformats.org/drawingml/2006/main" noGrp="1"/>
          </p:cNvSpPr>
          <p:nvPr>
            <p:ph type="body" idx="1"/>
          </p:nvPr>
        </p:nvSpPr>
        <p:spPr>
          <a:xfrm xmlns:a="http://schemas.openxmlformats.org/drawingml/2006/main">
            <a:off x="578644" y="2857500"/>
            <a:ext cx="9129713"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nSpc>
                <a:spcPct val="110000"/>
              </a:lnSpc>
              <a:spcBef>
                <a:spcPts val="0"/>
              </a:spcBef>
              <a:spcAft>
                <a:spcPts val="1013"/>
              </a:spcAft>
              <a:buChar char="•"/>
            </a:lvl1pPr>
            <a:lvl2pPr marL="450056" indent="-192881">
              <a:lnSpc>
                <a:spcPct val="110000"/>
              </a:lnSpc>
              <a:spcBef>
                <a:spcPts val="0"/>
              </a:spcBef>
              <a:spcAft>
                <a:spcPts val="1013"/>
              </a:spcAft>
              <a:buChar char="•"/>
            </a:lvl2pPr>
            <a:lvl3pPr marL="707231" indent="-192881">
              <a:lnSpc>
                <a:spcPct val="110000"/>
              </a:lnSpc>
              <a:spcBef>
                <a:spcPts val="0"/>
              </a:spcBef>
              <a:spcAft>
                <a:spcPts val="1013"/>
              </a:spcAft>
              <a:buChar char="•"/>
            </a:lvl3pPr>
            <a:lvl4pPr marL="964406" indent="-192881">
              <a:lnSpc>
                <a:spcPct val="110000"/>
              </a:lnSpc>
              <a:spcBef>
                <a:spcPts val="0"/>
              </a:spcBef>
              <a:spcAft>
                <a:spcPts val="1013"/>
              </a:spcAft>
              <a:buChar char="•"/>
            </a:lvl4pPr>
            <a:lvl5pPr marL="1221581" indent="-192881">
              <a:lnSpc>
                <a:spcPct val="110000"/>
              </a:lnSpc>
              <a:spcBef>
                <a:spcPts val="0"/>
              </a:spcBef>
              <a:spcAft>
                <a:spcPts val="1013"/>
              </a:spcAft>
              <a:buChar char="•"/>
            </a:lvl5pPr>
            <a:lvl6pPr marL="1478756" indent="-192881">
              <a:lnSpc>
                <a:spcPct val="110000"/>
              </a:lnSpc>
              <a:spcBef>
                <a:spcPts val="0"/>
              </a:spcBef>
              <a:spcAft>
                <a:spcPts val="1013"/>
              </a:spcAft>
              <a:buChar char="•"/>
            </a:lvl6pPr>
            <a:lvl7pPr marL="1735931" indent="-192881">
              <a:lnSpc>
                <a:spcPct val="110000"/>
              </a:lnSpc>
              <a:spcBef>
                <a:spcPts val="0"/>
              </a:spcBef>
              <a:spcAft>
                <a:spcPts val="1013"/>
              </a:spcAft>
              <a:buChar char="•"/>
            </a:lvl7pPr>
            <a:lvl8pPr marL="1993106" indent="-192881">
              <a:lnSpc>
                <a:spcPct val="110000"/>
              </a:lnSpc>
              <a:spcBef>
                <a:spcPts val="0"/>
              </a:spcBef>
              <a:spcAft>
                <a:spcPts val="1013"/>
              </a:spcAft>
              <a:buChar char="•"/>
            </a:lvl8pPr>
            <a:lvl9pPr marL="2250281" indent="-192881">
              <a:lnSpc>
                <a:spcPct val="110000"/>
              </a:lnSpc>
              <a:spcBef>
                <a:spcPts val="0"/>
              </a:spcBef>
              <a:spcAft>
                <a:spcPts val="1013"/>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89F6A7-3A31-4EF7-8CE1-9A30B56A7706}"/>
              </a:ext>
            </a:extLst>
          </p:cNvPr>
          <p:cNvSpPr>
            <a:spLocks xmlns:a="http://schemas.openxmlformats.org/drawingml/2006/main" noGrp="1"/>
          </p:cNvSpPr>
          <p:nvPr>
            <p:ph type="title" idx="0"/>
          </p:nvPr>
        </p:nvSpPr>
        <p:spPr>
          <a:xfrm xmlns:a="http://schemas.openxmlformats.org/drawingml/2006/main">
            <a:off x="578644" y="800100"/>
            <a:ext cx="9129713"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F968F1-4395-45A9-928A-DC0F7E57A84E}"/>
              </a:ext>
            </a:extLst>
          </p:cNvPr>
          <p:cNvSpPr>
            <a:spLocks xmlns:a="http://schemas.openxmlformats.org/drawingml/2006/main" noGrp="1"/>
          </p:cNvSpPr>
          <p:nvPr>
            <p:ph type="body" idx="1"/>
          </p:nvPr>
        </p:nvSpPr>
        <p:spPr>
          <a:xfrm xmlns:a="http://schemas.openxmlformats.org/drawingml/2006/main">
            <a:off x="578644" y="2857500"/>
            <a:ext cx="4243388"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nSpc>
                <a:spcPct val="110000"/>
              </a:lnSpc>
              <a:spcBef>
                <a:spcPts val="0"/>
              </a:spcBef>
              <a:spcAft>
                <a:spcPts val="1013"/>
              </a:spcAft>
              <a:buChar char="•"/>
            </a:lvl1pPr>
            <a:lvl2pPr marL="450056" indent="-192881">
              <a:lnSpc>
                <a:spcPct val="110000"/>
              </a:lnSpc>
              <a:spcBef>
                <a:spcPts val="0"/>
              </a:spcBef>
              <a:spcAft>
                <a:spcPts val="1013"/>
              </a:spcAft>
              <a:buChar char="•"/>
            </a:lvl2pPr>
            <a:lvl3pPr marL="707231" indent="-192881">
              <a:lnSpc>
                <a:spcPct val="110000"/>
              </a:lnSpc>
              <a:spcBef>
                <a:spcPts val="0"/>
              </a:spcBef>
              <a:spcAft>
                <a:spcPts val="1013"/>
              </a:spcAft>
              <a:buChar char="•"/>
            </a:lvl3pPr>
            <a:lvl4pPr marL="964406" indent="-192881">
              <a:lnSpc>
                <a:spcPct val="110000"/>
              </a:lnSpc>
              <a:spcBef>
                <a:spcPts val="0"/>
              </a:spcBef>
              <a:spcAft>
                <a:spcPts val="1013"/>
              </a:spcAft>
              <a:buChar char="•"/>
            </a:lvl4pPr>
            <a:lvl5pPr marL="1221581" indent="-192881">
              <a:lnSpc>
                <a:spcPct val="110000"/>
              </a:lnSpc>
              <a:spcBef>
                <a:spcPts val="0"/>
              </a:spcBef>
              <a:spcAft>
                <a:spcPts val="1013"/>
              </a:spcAft>
              <a:buChar char="•"/>
            </a:lvl5pPr>
            <a:lvl6pPr marL="1478756" indent="-192881">
              <a:lnSpc>
                <a:spcPct val="110000"/>
              </a:lnSpc>
              <a:spcBef>
                <a:spcPts val="0"/>
              </a:spcBef>
              <a:spcAft>
                <a:spcPts val="1013"/>
              </a:spcAft>
              <a:buChar char="•"/>
            </a:lvl6pPr>
            <a:lvl7pPr marL="1735931" indent="-192881">
              <a:lnSpc>
                <a:spcPct val="110000"/>
              </a:lnSpc>
              <a:spcBef>
                <a:spcPts val="0"/>
              </a:spcBef>
              <a:spcAft>
                <a:spcPts val="1013"/>
              </a:spcAft>
              <a:buChar char="•"/>
            </a:lvl7pPr>
            <a:lvl8pPr marL="1993106" indent="-192881">
              <a:lnSpc>
                <a:spcPct val="110000"/>
              </a:lnSpc>
              <a:spcBef>
                <a:spcPts val="0"/>
              </a:spcBef>
              <a:spcAft>
                <a:spcPts val="1013"/>
              </a:spcAft>
              <a:buChar char="•"/>
            </a:lvl8pPr>
            <a:lvl9pPr marL="2250281" indent="-192881">
              <a:lnSpc>
                <a:spcPct val="110000"/>
              </a:lnSpc>
              <a:spcBef>
                <a:spcPts val="0"/>
              </a:spcBef>
              <a:spcAft>
                <a:spcPts val="1013"/>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AEB1EE-E89E-4C18-B76A-9641DAA08D06}"/>
              </a:ext>
            </a:extLst>
          </p:cNvPr>
          <p:cNvSpPr>
            <a:spLocks xmlns:a="http://schemas.openxmlformats.org/drawingml/2006/main" noGrp="1"/>
          </p:cNvSpPr>
          <p:nvPr>
            <p:ph type="body" idx="2"/>
          </p:nvPr>
        </p:nvSpPr>
        <p:spPr>
          <a:xfrm xmlns:a="http://schemas.openxmlformats.org/drawingml/2006/main">
            <a:off x="5464969" y="2857500"/>
            <a:ext cx="4243388"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nSpc>
                <a:spcPct val="110000"/>
              </a:lnSpc>
              <a:spcBef>
                <a:spcPts val="0"/>
              </a:spcBef>
              <a:spcAft>
                <a:spcPts val="1013"/>
              </a:spcAft>
              <a:buChar char="•"/>
            </a:lvl1pPr>
            <a:lvl2pPr marL="450056" indent="-192881">
              <a:lnSpc>
                <a:spcPct val="110000"/>
              </a:lnSpc>
              <a:spcBef>
                <a:spcPts val="0"/>
              </a:spcBef>
              <a:spcAft>
                <a:spcPts val="1013"/>
              </a:spcAft>
              <a:buChar char="•"/>
            </a:lvl2pPr>
            <a:lvl3pPr marL="707231" indent="-192881">
              <a:lnSpc>
                <a:spcPct val="110000"/>
              </a:lnSpc>
              <a:spcBef>
                <a:spcPts val="0"/>
              </a:spcBef>
              <a:spcAft>
                <a:spcPts val="1013"/>
              </a:spcAft>
              <a:buChar char="•"/>
            </a:lvl3pPr>
            <a:lvl4pPr marL="964406" indent="-192881">
              <a:lnSpc>
                <a:spcPct val="110000"/>
              </a:lnSpc>
              <a:spcBef>
                <a:spcPts val="0"/>
              </a:spcBef>
              <a:spcAft>
                <a:spcPts val="1013"/>
              </a:spcAft>
              <a:buChar char="•"/>
            </a:lvl4pPr>
            <a:lvl5pPr marL="1221581" indent="-192881">
              <a:lnSpc>
                <a:spcPct val="110000"/>
              </a:lnSpc>
              <a:spcBef>
                <a:spcPts val="0"/>
              </a:spcBef>
              <a:spcAft>
                <a:spcPts val="1013"/>
              </a:spcAft>
              <a:buChar char="•"/>
            </a:lvl5pPr>
            <a:lvl6pPr marL="1478756" indent="-192881">
              <a:lnSpc>
                <a:spcPct val="110000"/>
              </a:lnSpc>
              <a:spcBef>
                <a:spcPts val="0"/>
              </a:spcBef>
              <a:spcAft>
                <a:spcPts val="1013"/>
              </a:spcAft>
              <a:buChar char="•"/>
            </a:lvl6pPr>
            <a:lvl7pPr marL="1735931" indent="-192881">
              <a:lnSpc>
                <a:spcPct val="110000"/>
              </a:lnSpc>
              <a:spcBef>
                <a:spcPts val="0"/>
              </a:spcBef>
              <a:spcAft>
                <a:spcPts val="1013"/>
              </a:spcAft>
              <a:buChar char="•"/>
            </a:lvl7pPr>
            <a:lvl8pPr marL="1993106" indent="-192881">
              <a:lnSpc>
                <a:spcPct val="110000"/>
              </a:lnSpc>
              <a:spcBef>
                <a:spcPts val="0"/>
              </a:spcBef>
              <a:spcAft>
                <a:spcPts val="1013"/>
              </a:spcAft>
              <a:buChar char="•"/>
            </a:lvl8pPr>
            <a:lvl9pPr marL="2250281" indent="-192881">
              <a:lnSpc>
                <a:spcPct val="110000"/>
              </a:lnSpc>
              <a:spcBef>
                <a:spcPts val="0"/>
              </a:spcBef>
              <a:spcAft>
                <a:spcPts val="1013"/>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9F60E8-3B60-4464-ABCD-4FE35D564F00}"/>
              </a:ext>
            </a:extLst>
          </p:cNvPr>
          <p:cNvSpPr>
            <a:spLocks xmlns:a="http://schemas.openxmlformats.org/drawingml/2006/main" noGrp="1"/>
          </p:cNvSpPr>
          <p:nvPr>
            <p:ph type="title" idx="0"/>
          </p:nvPr>
        </p:nvSpPr>
        <p:spPr>
          <a:xfrm xmlns:a="http://schemas.openxmlformats.org/drawingml/2006/main">
            <a:off x="578644" y="800100"/>
            <a:ext cx="9129713"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E9AE46-7C3B-4E89-9F94-5991C593B52B}"/>
              </a:ext>
            </a:extLst>
          </p:cNvPr>
          <p:cNvSpPr>
            <a:spLocks xmlns:a="http://schemas.openxmlformats.org/drawingml/2006/main" noGrp="1"/>
          </p:cNvSpPr>
          <p:nvPr>
            <p:ph type="body" idx="1"/>
          </p:nvPr>
        </p:nvSpPr>
        <p:spPr>
          <a:xfrm xmlns:a="http://schemas.openxmlformats.org/drawingml/2006/main">
            <a:off x="578644" y="2857500"/>
            <a:ext cx="4243388"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nSpc>
                <a:spcPct val="110000"/>
              </a:lnSpc>
              <a:spcBef>
                <a:spcPts val="0"/>
              </a:spcBef>
              <a:spcAft>
                <a:spcPts val="1013"/>
              </a:spcAft>
              <a:buChar char="•"/>
            </a:lvl1pPr>
            <a:lvl2pPr marL="450056" indent="-192881">
              <a:lnSpc>
                <a:spcPct val="110000"/>
              </a:lnSpc>
              <a:spcBef>
                <a:spcPts val="0"/>
              </a:spcBef>
              <a:spcAft>
                <a:spcPts val="1013"/>
              </a:spcAft>
              <a:buChar char="•"/>
            </a:lvl2pPr>
            <a:lvl3pPr marL="707231" indent="-192881">
              <a:lnSpc>
                <a:spcPct val="110000"/>
              </a:lnSpc>
              <a:spcBef>
                <a:spcPts val="0"/>
              </a:spcBef>
              <a:spcAft>
                <a:spcPts val="1013"/>
              </a:spcAft>
              <a:buChar char="•"/>
            </a:lvl3pPr>
            <a:lvl4pPr marL="964406" indent="-192881">
              <a:lnSpc>
                <a:spcPct val="110000"/>
              </a:lnSpc>
              <a:spcBef>
                <a:spcPts val="0"/>
              </a:spcBef>
              <a:spcAft>
                <a:spcPts val="1013"/>
              </a:spcAft>
              <a:buChar char="•"/>
            </a:lvl4pPr>
            <a:lvl5pPr marL="1221581" indent="-192881">
              <a:lnSpc>
                <a:spcPct val="110000"/>
              </a:lnSpc>
              <a:spcBef>
                <a:spcPts val="0"/>
              </a:spcBef>
              <a:spcAft>
                <a:spcPts val="1013"/>
              </a:spcAft>
              <a:buChar char="•"/>
            </a:lvl5pPr>
            <a:lvl6pPr marL="1478756" indent="-192881">
              <a:lnSpc>
                <a:spcPct val="110000"/>
              </a:lnSpc>
              <a:spcBef>
                <a:spcPts val="0"/>
              </a:spcBef>
              <a:spcAft>
                <a:spcPts val="1013"/>
              </a:spcAft>
              <a:buChar char="•"/>
            </a:lvl6pPr>
            <a:lvl7pPr marL="1735931" indent="-192881">
              <a:lnSpc>
                <a:spcPct val="110000"/>
              </a:lnSpc>
              <a:spcBef>
                <a:spcPts val="0"/>
              </a:spcBef>
              <a:spcAft>
                <a:spcPts val="1013"/>
              </a:spcAft>
              <a:buChar char="•"/>
            </a:lvl7pPr>
            <a:lvl8pPr marL="1993106" indent="-192881">
              <a:lnSpc>
                <a:spcPct val="110000"/>
              </a:lnSpc>
              <a:spcBef>
                <a:spcPts val="0"/>
              </a:spcBef>
              <a:spcAft>
                <a:spcPts val="1013"/>
              </a:spcAft>
              <a:buChar char="•"/>
            </a:lvl8pPr>
            <a:lvl9pPr marL="2250281" indent="-192881">
              <a:lnSpc>
                <a:spcPct val="110000"/>
              </a:lnSpc>
              <a:spcBef>
                <a:spcPts val="0"/>
              </a:spcBef>
              <a:spcAft>
                <a:spcPts val="1013"/>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debeff09c04175" /><Relationship Type="http://schemas.openxmlformats.org/officeDocument/2006/relationships/slideLayout" Target="/ppt/slideLayouts/slideLayout1.xml" Id="R4d082447bf3b41ea" /><Relationship Type="http://schemas.openxmlformats.org/officeDocument/2006/relationships/slideLayout" Target="/ppt/slideLayouts/slideLayout2.xml" Id="R6af3882444c14d73" /><Relationship Type="http://schemas.openxmlformats.org/officeDocument/2006/relationships/slideLayout" Target="/ppt/slideLayouts/slideLayout3.xml" Id="R460c447e46964a22" /><Relationship Type="http://schemas.openxmlformats.org/officeDocument/2006/relationships/slideLayout" Target="/ppt/slideLayouts/slideLayout4.xml" Id="Rc306fd0015194243" /><Relationship Type="http://schemas.openxmlformats.org/officeDocument/2006/relationships/slideLayout" Target="/ppt/slideLayouts/slideLayout5.xml" Id="R9122142cf8e14da0" /><Relationship Type="http://schemas.openxmlformats.org/officeDocument/2006/relationships/slideLayout" Target="/ppt/slideLayouts/slideLayout6.xml" Id="Rd85266f1dd6f42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082447bf3b41ea"/>
    <p:sldLayoutId xmlns:r="http://schemas.openxmlformats.org/officeDocument/2006/relationships" id="2147483650" r:id="R6af3882444c14d73"/>
    <p:sldLayoutId xmlns:r="http://schemas.openxmlformats.org/officeDocument/2006/relationships" id="2147483651" r:id="R460c447e46964a22"/>
    <p:sldLayoutId xmlns:r="http://schemas.openxmlformats.org/officeDocument/2006/relationships" id="2147483652" r:id="Rc306fd0015194243"/>
    <p:sldLayoutId xmlns:r="http://schemas.openxmlformats.org/officeDocument/2006/relationships" id="2147483653" r:id="R9122142cf8e14da0"/>
    <p:sldLayoutId xmlns:r="http://schemas.openxmlformats.org/officeDocument/2006/relationships" id="2147483654" r:id="Rd85266f1dd6f42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97b8f627af4de2" /><Relationship Type="http://schemas.openxmlformats.org/officeDocument/2006/relationships/notesSlide" Target="/ppt/notesSlides/notesSlide1.xml" Id="R06ad1fc78aa148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63cf44224940b2" /><Relationship Type="http://schemas.openxmlformats.org/officeDocument/2006/relationships/notesSlide" Target="/ppt/notesSlides/notesSlide2.xml" Id="R76f78c43116541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fd116c5914446a" /><Relationship Type="http://schemas.openxmlformats.org/officeDocument/2006/relationships/notesSlide" Target="/ppt/notesSlides/notesSlide3.xml" Id="Rdd62a300370b49e5" /></Relationships>
</file>

<file path=ppt/slides/slide1.xml><?xml version="1.0" encoding="utf-8"?>
<p:sld xmlns:p="http://schemas.openxmlformats.org/presentationml/2006/main">
  <p:cSld>
    <p:bg>
      <p:bgPr>
        <a:solidFill xmlns:a="http://schemas.openxmlformats.org/drawingml/2006/main">
          <a:srgbClr val="12375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5F1CFBC-D644-45CC-A1DF-AAD95B83CF7A}"/>
              </a:ext>
            </a:extLst>
          </p:cNvPr>
          <p:cNvSpPr>
            <a:spLocks xmlns:a="http://schemas.openxmlformats.org/drawingml/2006/main" noGrp="1"/>
          </p:cNvSpPr>
          <p:nvPr/>
        </p:nvSpPr>
        <p:spPr>
          <a:xfrm xmlns:a="http://schemas.openxmlformats.org/drawingml/2006/main">
            <a:off x="723900" y="1123950"/>
            <a:ext cx="885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025" b="1">
                <a:solidFill>
                  <a:srgbClr val="FFFFFF"/>
                </a:solidFill>
                <a:latin typeface="DejaVu Sans"/>
                <a:ea typeface="DejaVu Sans"/>
                <a:cs typeface="DejaVu Sans"/>
              </a:defRPr>
            </a:defPPr>
          </a:lstStyle>
          <a:p xmlns:a="http://schemas.openxmlformats.org/drawingml/2006/main">
            <a:pPr>
              <a:defRPr sz="5025" b="1">
                <a:solidFill>
                  <a:srgbClr val="FFFFFF"/>
                </a:solidFill>
                <a:latin typeface="DejaVu Sans"/>
                <a:ea typeface="DejaVu Sans"/>
                <a:cs typeface="DejaVu Sans"/>
              </a:defRPr>
            </a:pPr>
            <a:r>
              <a:rPr sz="5025" b="1">
                <a:solidFill>
                  <a:srgbClr val="FFFFFF"/>
                </a:solidFill>
                <a:latin typeface="DejaVu Sans"/>
                <a:ea typeface="DejaVu Sans"/>
                <a:cs typeface="DejaVu Sans"/>
              </a:rPr>
              <a:t>Is the right information</a:t>
            </a:r>
          </a:p>
          <a:p xmlns:a="http://schemas.openxmlformats.org/drawingml/2006/main">
            <a:pPr>
              <a:defRPr sz="5025" b="1">
                <a:solidFill>
                  <a:srgbClr val="FFFFFF"/>
                </a:solidFill>
                <a:latin typeface="DejaVu Sans"/>
                <a:ea typeface="DejaVu Sans"/>
                <a:cs typeface="DejaVu Sans"/>
              </a:defRPr>
            </a:pPr>
            <a:r>
              <a:rPr sz="5025" b="1">
                <a:solidFill>
                  <a:srgbClr val="FFFFFF"/>
                </a:solidFill>
                <a:latin typeface="DejaVu Sans"/>
                <a:ea typeface="DejaVu Sans"/>
                <a:cs typeface="DejaVu Sans"/>
              </a:rPr>
              <a:t>available before</a:t>
            </a:r>
          </a:p>
          <a:p xmlns:a="http://schemas.openxmlformats.org/drawingml/2006/main">
            <a:pPr>
              <a:defRPr sz="5025" b="1">
                <a:solidFill>
                  <a:srgbClr val="FFFFFF"/>
                </a:solidFill>
                <a:latin typeface="DejaVu Sans"/>
                <a:ea typeface="DejaVu Sans"/>
                <a:cs typeface="DejaVu Sans"/>
              </a:defRPr>
            </a:pPr>
            <a:r>
              <a:rPr sz="5025" b="1">
                <a:solidFill>
                  <a:srgbClr val="FFFFFF"/>
                </a:solidFill>
                <a:latin typeface="DejaVu Sans"/>
                <a:ea typeface="DejaVu Sans"/>
                <a:cs typeface="DejaVu Sans"/>
              </a:rPr>
              <a:t>a visit?</a:t>
            </a:r>
          </a:p>
        </p:txBody>
      </p:sp>
      <p:sp>
        <p:nvSpPr>
          <p:cNvPr id="2" name="">
            <a:extLst xmlns:a="http://schemas.openxmlformats.org/drawingml/2006/main">
              <a:ext uri="{FF2B5EF4-FFF2-40B4-BE49-F238E27FC236}">
                <a16:creationId xmlns:a16="http://schemas.microsoft.com/office/drawing/2014/main" id="{BAACF7DA-94ED-43A1-99BD-FDF7E3DA9008}"/>
              </a:ext>
            </a:extLst>
          </p:cNvPr>
          <p:cNvSpPr>
            <a:spLocks xmlns:a="http://schemas.openxmlformats.org/drawingml/2006/main" noGrp="1"/>
          </p:cNvSpPr>
          <p:nvPr/>
        </p:nvSpPr>
        <p:spPr>
          <a:xfrm xmlns:a="http://schemas.openxmlformats.org/drawingml/2006/main">
            <a:off x="762000" y="5000625"/>
            <a:ext cx="8705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0">
                <a:solidFill>
                  <a:srgbClr val="D8E7F5"/>
                </a:solidFill>
                <a:latin typeface="DejaVu Sans"/>
                <a:ea typeface="DejaVu Sans"/>
                <a:cs typeface="DejaVu Sans"/>
              </a:defRPr>
            </a:defPPr>
          </a:lstStyle>
          <a:p xmlns:a="http://schemas.openxmlformats.org/drawingml/2006/main">
            <a:pPr>
              <a:defRPr sz="2925" b="0">
                <a:solidFill>
                  <a:srgbClr val="D8E7F5"/>
                </a:solidFill>
                <a:latin typeface="DejaVu Sans"/>
                <a:ea typeface="DejaVu Sans"/>
                <a:cs typeface="DejaVu Sans"/>
              </a:defRPr>
            </a:pPr>
            <a:r>
              <a:rPr sz="2925" b="0">
                <a:solidFill>
                  <a:srgbClr val="D8E7F5"/>
                </a:solidFill>
                <a:latin typeface="DejaVu Sans"/>
                <a:ea typeface="DejaVu Sans"/>
                <a:cs typeface="DejaVu Sans"/>
              </a:rPr>
              <a:t>Lab results and appointments can sit in</a:t>
            </a:r>
          </a:p>
          <a:p xmlns:a="http://schemas.openxmlformats.org/drawingml/2006/main">
            <a:pPr>
              <a:defRPr sz="2925" b="0">
                <a:solidFill>
                  <a:srgbClr val="D8E7F5"/>
                </a:solidFill>
                <a:latin typeface="DejaVu Sans"/>
                <a:ea typeface="DejaVu Sans"/>
                <a:cs typeface="DejaVu Sans"/>
              </a:defRPr>
            </a:pPr>
            <a:r>
              <a:rPr sz="2925" b="0">
                <a:solidFill>
                  <a:srgbClr val="D8E7F5"/>
                </a:solidFill>
                <a:latin typeface="DejaVu Sans"/>
                <a:ea typeface="DejaVu Sans"/>
                <a:cs typeface="DejaVu Sans"/>
              </a:rPr>
              <a:t>separate records. I built a workflow to</a:t>
            </a:r>
          </a:p>
          <a:p xmlns:a="http://schemas.openxmlformats.org/drawingml/2006/main">
            <a:pPr>
              <a:defRPr sz="2925" b="0">
                <a:solidFill>
                  <a:srgbClr val="D8E7F5"/>
                </a:solidFill>
                <a:latin typeface="DejaVu Sans"/>
                <a:ea typeface="DejaVu Sans"/>
                <a:cs typeface="DejaVu Sans"/>
              </a:defRPr>
            </a:pPr>
            <a:r>
              <a:rPr sz="2925" b="0">
                <a:solidFill>
                  <a:srgbClr val="D8E7F5"/>
                </a:solidFill>
                <a:latin typeface="DejaVu Sans"/>
                <a:ea typeface="DejaVu Sans"/>
                <a:cs typeface="DejaVu Sans"/>
              </a:rPr>
              <a:t>connect them and check what is available.</a:t>
            </a:r>
          </a:p>
        </p:txBody>
      </p:sp>
      <p:sp>
        <p:nvSpPr>
          <p:cNvPr id="3" name="">
            <a:extLst xmlns:a="http://schemas.openxmlformats.org/drawingml/2006/main">
              <a:ext uri="{FF2B5EF4-FFF2-40B4-BE49-F238E27FC236}">
                <a16:creationId xmlns:a16="http://schemas.microsoft.com/office/drawing/2014/main" id="{7FB91B3A-B2D2-4F55-94C6-90EDBF35C909}"/>
              </a:ext>
            </a:extLst>
          </p:cNvPr>
          <p:cNvSpPr>
            <a:spLocks xmlns:a="http://schemas.openxmlformats.org/drawingml/2006/main" noGrp="1"/>
          </p:cNvSpPr>
          <p:nvPr/>
        </p:nvSpPr>
        <p:spPr>
          <a:xfrm xmlns:a="http://schemas.openxmlformats.org/drawingml/2006/main">
            <a:off x="762000" y="8220075"/>
            <a:ext cx="8705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78D8CF"/>
                </a:solidFill>
                <a:latin typeface="DejaVu Sans"/>
                <a:ea typeface="DejaVu Sans"/>
                <a:cs typeface="DejaVu Sans"/>
              </a:defRPr>
            </a:defPPr>
          </a:lstStyle>
          <a:p xmlns:a="http://schemas.openxmlformats.org/drawingml/2006/main">
            <a:pPr>
              <a:defRPr sz="2250" b="0">
                <a:solidFill>
                  <a:srgbClr val="78D8CF"/>
                </a:solidFill>
                <a:latin typeface="DejaVu Sans"/>
                <a:ea typeface="DejaVu Sans"/>
                <a:cs typeface="DejaVu Sans"/>
              </a:defRPr>
            </a:pPr>
            <a:r>
              <a:rPr sz="2250" b="0">
                <a:solidFill>
                  <a:srgbClr val="78D8CF"/>
                </a:solidFill>
                <a:latin typeface="DejaVu Sans"/>
                <a:ea typeface="DejaVu Sans"/>
                <a:cs typeface="DejaVu Sans"/>
              </a:rPr>
              <a:t>933 native FHIR resources across 11 types</a:t>
            </a:r>
          </a:p>
          <a:p xmlns:a="http://schemas.openxmlformats.org/drawingml/2006/main">
            <a:pPr>
              <a:defRPr sz="2250" b="0">
                <a:solidFill>
                  <a:srgbClr val="78D8CF"/>
                </a:solidFill>
                <a:latin typeface="DejaVu Sans"/>
                <a:ea typeface="DejaVu Sans"/>
                <a:cs typeface="DejaVu Sans"/>
              </a:defRPr>
            </a:pPr>
            <a:r>
              <a:rPr sz="2250" b="0">
                <a:solidFill>
                  <a:srgbClr val="78D8CF"/>
                </a:solidFill>
                <a:latin typeface="DejaVu Sans"/>
                <a:ea typeface="DejaVu Sans"/>
                <a:cs typeface="DejaVu Sans"/>
              </a:rPr>
              <a:t>Expanded dataset for downstream analytics</a:t>
            </a:r>
          </a:p>
        </p:txBody>
      </p:sp>
    </p:spTree>
    <p:extLst>
      <p:ext uri="{BB962C8B-B14F-4D97-AF65-F5344CB8AC3E}">
        <p14:creationId xmlns:p14="http://schemas.microsoft.com/office/powerpoint/2010/main" val="600462984"/>
      </p:ext>
    </p:extLst>
  </p:cSld>
</p:sld>
</file>

<file path=ppt/slides/slide2.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235680-7603-460F-AF81-851896614626}"/>
              </a:ext>
            </a:extLst>
          </p:cNvPr>
          <p:cNvSpPr>
            <a:spLocks xmlns:a="http://schemas.openxmlformats.org/drawingml/2006/main" noGrp="1"/>
          </p:cNvSpPr>
          <p:nvPr/>
        </p:nvSpPr>
        <p:spPr>
          <a:xfrm xmlns:a="http://schemas.openxmlformats.org/drawingml/2006/main">
            <a:off x="723900" y="819150"/>
            <a:ext cx="8858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12375F"/>
                </a:solidFill>
                <a:latin typeface="DejaVu Sans"/>
                <a:ea typeface="DejaVu Sans"/>
                <a:cs typeface="DejaVu Sans"/>
              </a:defRPr>
            </a:defPPr>
          </a:lstStyle>
          <a:p xmlns:a="http://schemas.openxmlformats.org/drawingml/2006/main">
            <a:pPr>
              <a:defRPr sz="4500" b="1">
                <a:solidFill>
                  <a:srgbClr val="12375F"/>
                </a:solidFill>
                <a:latin typeface="DejaVu Sans"/>
                <a:ea typeface="DejaVu Sans"/>
                <a:cs typeface="DejaVu Sans"/>
              </a:defRPr>
            </a:pPr>
            <a:r>
              <a:rPr sz="4500" b="1">
                <a:solidFill>
                  <a:srgbClr val="12375F"/>
                </a:solidFill>
                <a:latin typeface="DejaVu Sans"/>
                <a:ea typeface="DejaVu Sans"/>
                <a:cs typeface="DejaVu Sans"/>
              </a:rPr>
              <a:t>Connecting records</a:t>
            </a:r>
          </a:p>
          <a:p xmlns:a="http://schemas.openxmlformats.org/drawingml/2006/main">
            <a:pPr>
              <a:defRPr sz="4500" b="1">
                <a:solidFill>
                  <a:srgbClr val="12375F"/>
                </a:solidFill>
                <a:latin typeface="DejaVu Sans"/>
                <a:ea typeface="DejaVu Sans"/>
                <a:cs typeface="DejaVu Sans"/>
              </a:defRPr>
            </a:pPr>
            <a:r>
              <a:rPr sz="4500" b="1">
                <a:solidFill>
                  <a:srgbClr val="12375F"/>
                </a:solidFill>
                <a:latin typeface="DejaVu Sans"/>
                <a:ea typeface="DejaVu Sans"/>
                <a:cs typeface="DejaVu Sans"/>
              </a:rPr>
              <a:t>makes them reviewable</a:t>
            </a:r>
          </a:p>
        </p:txBody>
      </p:sp>
      <p:sp>
        <p:nvSpPr>
          <p:cNvPr id="2" name="">
            <a:extLst xmlns:a="http://schemas.openxmlformats.org/drawingml/2006/main">
              <a:ext uri="{FF2B5EF4-FFF2-40B4-BE49-F238E27FC236}">
                <a16:creationId xmlns:a16="http://schemas.microsoft.com/office/drawing/2014/main" id="{89901920-B260-41A2-9940-33367613BED3}"/>
              </a:ext>
            </a:extLst>
          </p:cNvPr>
          <p:cNvSpPr>
            <a:spLocks xmlns:a="http://schemas.openxmlformats.org/drawingml/2006/main" noGrp="1"/>
          </p:cNvSpPr>
          <p:nvPr/>
        </p:nvSpPr>
        <p:spPr>
          <a:xfrm xmlns:a="http://schemas.openxmlformats.org/drawingml/2006/main">
            <a:off x="762000" y="2857500"/>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6867F"/>
                </a:solidFill>
                <a:latin typeface="DejaVu Sans"/>
                <a:ea typeface="DejaVu Sans"/>
                <a:cs typeface="DejaVu Sans"/>
              </a:defRPr>
            </a:defPPr>
          </a:lstStyle>
          <a:p xmlns:a="http://schemas.openxmlformats.org/drawingml/2006/main">
            <a:pPr>
              <a:defRPr sz="2850" b="1">
                <a:solidFill>
                  <a:srgbClr val="16867F"/>
                </a:solidFill>
                <a:latin typeface="DejaVu Sans"/>
                <a:ea typeface="DejaVu Sans"/>
                <a:cs typeface="DejaVu Sans"/>
              </a:defRPr>
            </a:pPr>
            <a:r>
              <a:rPr sz="2850" b="1">
                <a:solidFill>
                  <a:srgbClr val="16867F"/>
                </a:solidFill>
                <a:latin typeface="DejaVu Sans"/>
                <a:ea typeface="DejaVu Sans"/>
                <a:cs typeface="DejaVu Sans"/>
              </a:rPr>
              <a:t>Interoperability Foundation</a:t>
            </a:r>
          </a:p>
        </p:txBody>
      </p:sp>
      <p:sp>
        <p:nvSpPr>
          <p:cNvPr id="3" name="">
            <a:extLst xmlns:a="http://schemas.openxmlformats.org/drawingml/2006/main">
              <a:ext uri="{FF2B5EF4-FFF2-40B4-BE49-F238E27FC236}">
                <a16:creationId xmlns:a16="http://schemas.microsoft.com/office/drawing/2014/main" id="{FBA51E69-5A8E-4867-85D3-CDF9D4A2FB20}"/>
              </a:ext>
            </a:extLst>
          </p:cNvPr>
          <p:cNvSpPr>
            <a:spLocks xmlns:a="http://schemas.openxmlformats.org/drawingml/2006/main" noGrp="1"/>
          </p:cNvSpPr>
          <p:nvPr/>
        </p:nvSpPr>
        <p:spPr>
          <a:xfrm xmlns:a="http://schemas.openxmlformats.org/drawingml/2006/main">
            <a:off x="762000" y="3467100"/>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2375F"/>
                </a:solidFill>
                <a:latin typeface="DejaVu Sans"/>
                <a:ea typeface="DejaVu Sans"/>
                <a:cs typeface="DejaVu Sans"/>
              </a:defRPr>
            </a:defPPr>
          </a:lstStyle>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HL7-to-FHIR transformation with linked patient,</a:t>
            </a:r>
          </a:p>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laboratory and appointment records.</a:t>
            </a:r>
          </a:p>
        </p:txBody>
      </p:sp>
      <p:sp>
        <p:nvSpPr>
          <p:cNvPr id="4" name="">
            <a:extLst xmlns:a="http://schemas.openxmlformats.org/drawingml/2006/main">
              <a:ext uri="{FF2B5EF4-FFF2-40B4-BE49-F238E27FC236}">
                <a16:creationId xmlns:a16="http://schemas.microsoft.com/office/drawing/2014/main" id="{6B0741BC-620C-4C84-B03E-AEAFD90B7C91}"/>
              </a:ext>
            </a:extLst>
          </p:cNvPr>
          <p:cNvSpPr>
            <a:spLocks xmlns:a="http://schemas.openxmlformats.org/drawingml/2006/main" noGrp="1"/>
          </p:cNvSpPr>
          <p:nvPr/>
        </p:nvSpPr>
        <p:spPr>
          <a:xfrm xmlns:a="http://schemas.openxmlformats.org/drawingml/2006/main">
            <a:off x="762000" y="4772025"/>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6867F"/>
                </a:solidFill>
                <a:latin typeface="DejaVu Sans"/>
                <a:ea typeface="DejaVu Sans"/>
                <a:cs typeface="DejaVu Sans"/>
              </a:defRPr>
            </a:defPPr>
          </a:lstStyle>
          <a:p xmlns:a="http://schemas.openxmlformats.org/drawingml/2006/main">
            <a:pPr>
              <a:defRPr sz="2850" b="1">
                <a:solidFill>
                  <a:srgbClr val="16867F"/>
                </a:solidFill>
                <a:latin typeface="DejaVu Sans"/>
                <a:ea typeface="DejaVu Sans"/>
                <a:cs typeface="DejaVu Sans"/>
              </a:defRPr>
            </a:pPr>
            <a:r>
              <a:rPr sz="2850" b="1">
                <a:solidFill>
                  <a:srgbClr val="16867F"/>
                </a:solidFill>
                <a:latin typeface="DejaVu Sans"/>
                <a:ea typeface="DejaVu Sans"/>
                <a:cs typeface="DejaVu Sans"/>
              </a:rPr>
              <a:t>Cloud Analytics Platform</a:t>
            </a:r>
          </a:p>
        </p:txBody>
      </p:sp>
      <p:sp>
        <p:nvSpPr>
          <p:cNvPr id="5" name="">
            <a:extLst xmlns:a="http://schemas.openxmlformats.org/drawingml/2006/main">
              <a:ext uri="{FF2B5EF4-FFF2-40B4-BE49-F238E27FC236}">
                <a16:creationId xmlns:a16="http://schemas.microsoft.com/office/drawing/2014/main" id="{E341634D-6FC9-416B-84BA-6294644F2CD7}"/>
              </a:ext>
            </a:extLst>
          </p:cNvPr>
          <p:cNvSpPr>
            <a:spLocks xmlns:a="http://schemas.openxmlformats.org/drawingml/2006/main" noGrp="1"/>
          </p:cNvSpPr>
          <p:nvPr/>
        </p:nvSpPr>
        <p:spPr>
          <a:xfrm xmlns:a="http://schemas.openxmlformats.org/drawingml/2006/main">
            <a:off x="762000" y="5381625"/>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2375F"/>
                </a:solidFill>
                <a:latin typeface="DejaVu Sans"/>
                <a:ea typeface="DejaVu Sans"/>
                <a:cs typeface="DejaVu Sans"/>
              </a:defRPr>
            </a:defPPr>
          </a:lstStyle>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An AWS S3–Snowflake pipeline with traceable batch</a:t>
            </a:r>
          </a:p>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ingestion and structured clinical data.</a:t>
            </a:r>
          </a:p>
        </p:txBody>
      </p:sp>
      <p:sp>
        <p:nvSpPr>
          <p:cNvPr id="6" name="">
            <a:extLst xmlns:a="http://schemas.openxmlformats.org/drawingml/2006/main">
              <a:ext uri="{FF2B5EF4-FFF2-40B4-BE49-F238E27FC236}">
                <a16:creationId xmlns:a16="http://schemas.microsoft.com/office/drawing/2014/main" id="{D16A2362-F68A-442F-B8C1-17788A79AD8B}"/>
              </a:ext>
            </a:extLst>
          </p:cNvPr>
          <p:cNvSpPr>
            <a:spLocks xmlns:a="http://schemas.openxmlformats.org/drawingml/2006/main" noGrp="1"/>
          </p:cNvSpPr>
          <p:nvPr/>
        </p:nvSpPr>
        <p:spPr>
          <a:xfrm xmlns:a="http://schemas.openxmlformats.org/drawingml/2006/main">
            <a:off x="762000" y="6686550"/>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6867F"/>
                </a:solidFill>
                <a:latin typeface="DejaVu Sans"/>
                <a:ea typeface="DejaVu Sans"/>
                <a:cs typeface="DejaVu Sans"/>
              </a:defRPr>
            </a:defPPr>
          </a:lstStyle>
          <a:p xmlns:a="http://schemas.openxmlformats.org/drawingml/2006/main">
            <a:pPr>
              <a:defRPr sz="2850" b="1">
                <a:solidFill>
                  <a:srgbClr val="16867F"/>
                </a:solidFill>
                <a:latin typeface="DejaVu Sans"/>
                <a:ea typeface="DejaVu Sans"/>
                <a:cs typeface="DejaVu Sans"/>
              </a:defRPr>
            </a:pPr>
            <a:r>
              <a:rPr sz="2850" b="1">
                <a:solidFill>
                  <a:srgbClr val="16867F"/>
                </a:solidFill>
                <a:latin typeface="DejaVu Sans"/>
                <a:ea typeface="DejaVu Sans"/>
                <a:cs typeface="DejaVu Sans"/>
              </a:rPr>
              <a:t>Connected Care Insights</a:t>
            </a:r>
          </a:p>
        </p:txBody>
      </p:sp>
      <p:sp>
        <p:nvSpPr>
          <p:cNvPr id="7" name="">
            <a:extLst xmlns:a="http://schemas.openxmlformats.org/drawingml/2006/main">
              <a:ext uri="{FF2B5EF4-FFF2-40B4-BE49-F238E27FC236}">
                <a16:creationId xmlns:a16="http://schemas.microsoft.com/office/drawing/2014/main" id="{743C8B53-8B3D-448C-9006-6D58A92EF3BA}"/>
              </a:ext>
            </a:extLst>
          </p:cNvPr>
          <p:cNvSpPr>
            <a:spLocks xmlns:a="http://schemas.openxmlformats.org/drawingml/2006/main" noGrp="1"/>
          </p:cNvSpPr>
          <p:nvPr/>
        </p:nvSpPr>
        <p:spPr>
          <a:xfrm xmlns:a="http://schemas.openxmlformats.org/drawingml/2006/main">
            <a:off x="762000" y="7296150"/>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2375F"/>
                </a:solidFill>
                <a:latin typeface="DejaVu Sans"/>
                <a:ea typeface="DejaVu Sans"/>
                <a:cs typeface="DejaVu Sans"/>
              </a:defRPr>
            </a:defPPr>
          </a:lstStyle>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Visibility into patient information coverage and</a:t>
            </a:r>
          </a:p>
          <a:p xmlns:a="http://schemas.openxmlformats.org/drawingml/2006/main">
            <a:pPr>
              <a:defRPr sz="2325" b="0">
                <a:solidFill>
                  <a:srgbClr val="12375F"/>
                </a:solidFill>
                <a:latin typeface="DejaVu Sans"/>
                <a:ea typeface="DejaVu Sans"/>
                <a:cs typeface="DejaVu Sans"/>
              </a:defRPr>
            </a:pPr>
            <a:r>
              <a:rPr sz="2325" b="0">
                <a:solidFill>
                  <a:srgbClr val="12375F"/>
                </a:solidFill>
                <a:latin typeface="DejaVu Sans"/>
                <a:ea typeface="DejaVu Sans"/>
                <a:cs typeface="DejaVu Sans"/>
              </a:rPr>
              <a:t>qualifying results ahead of scheduled visits.</a:t>
            </a:r>
          </a:p>
        </p:txBody>
      </p:sp>
    </p:spTree>
    <p:extLst>
      <p:ext uri="{BB962C8B-B14F-4D97-AF65-F5344CB8AC3E}">
        <p14:creationId xmlns:p14="http://schemas.microsoft.com/office/powerpoint/2010/main" val="2014445117"/>
      </p:ext>
    </p:extLst>
  </p:cSld>
</p:sld>
</file>

<file path=ppt/slides/slide3.xml><?xml version="1.0" encoding="utf-8"?>
<p:sld xmlns:p="http://schemas.openxmlformats.org/presentationml/2006/main">
  <p:cSld>
    <p:bg>
      <p:bgPr>
        <a:solidFill xmlns:a="http://schemas.openxmlformats.org/drawingml/2006/main">
          <a:srgbClr val="12375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DD7471-75DA-49C5-B380-13A71EB58791}"/>
              </a:ext>
            </a:extLst>
          </p:cNvPr>
          <p:cNvSpPr>
            <a:spLocks xmlns:a="http://schemas.openxmlformats.org/drawingml/2006/main" noGrp="1"/>
          </p:cNvSpPr>
          <p:nvPr/>
        </p:nvSpPr>
        <p:spPr>
          <a:xfrm xmlns:a="http://schemas.openxmlformats.org/drawingml/2006/main">
            <a:off x="723900" y="952500"/>
            <a:ext cx="88582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a:solidFill>
                  <a:srgbClr val="FFFFFF"/>
                </a:solidFill>
                <a:latin typeface="DejaVu Sans"/>
                <a:ea typeface="DejaVu Sans"/>
                <a:cs typeface="DejaVu Sans"/>
              </a:defRPr>
            </a:defPPr>
          </a:lstStyle>
          <a:p xmlns:a="http://schemas.openxmlformats.org/drawingml/2006/main">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Reviewers can see</a:t>
            </a:r>
          </a:p>
          <a:p xmlns:a="http://schemas.openxmlformats.org/drawingml/2006/main">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what is available</a:t>
            </a:r>
          </a:p>
        </p:txBody>
      </p:sp>
      <p:sp>
        <p:nvSpPr>
          <p:cNvPr id="2" name="">
            <a:extLst xmlns:a="http://schemas.openxmlformats.org/drawingml/2006/main">
              <a:ext uri="{FF2B5EF4-FFF2-40B4-BE49-F238E27FC236}">
                <a16:creationId xmlns:a16="http://schemas.microsoft.com/office/drawing/2014/main" id="{8D6A1AFC-69C0-49F1-9267-15F735598692}"/>
              </a:ext>
            </a:extLst>
          </p:cNvPr>
          <p:cNvSpPr>
            <a:spLocks xmlns:a="http://schemas.openxmlformats.org/drawingml/2006/main" noGrp="1"/>
          </p:cNvSpPr>
          <p:nvPr/>
        </p:nvSpPr>
        <p:spPr>
          <a:xfrm xmlns:a="http://schemas.openxmlformats.org/drawingml/2006/main">
            <a:off x="762000" y="3914775"/>
            <a:ext cx="87820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75" b="0">
                <a:solidFill>
                  <a:srgbClr val="D8E7F5"/>
                </a:solidFill>
                <a:latin typeface="DejaVu Sans"/>
                <a:ea typeface="DejaVu Sans"/>
                <a:cs typeface="DejaVu Sans"/>
              </a:defRPr>
            </a:defPPr>
          </a:lstStyle>
          <a:p xmlns:a="http://schemas.openxmlformats.org/drawingml/2006/main">
            <a:pPr>
              <a:defRPr sz="2775" b="0">
                <a:solidFill>
                  <a:srgbClr val="D8E7F5"/>
                </a:solidFill>
                <a:latin typeface="DejaVu Sans"/>
                <a:ea typeface="DejaVu Sans"/>
                <a:cs typeface="DejaVu Sans"/>
              </a:defRPr>
            </a:pPr>
            <a:r>
              <a:rPr sz="2775" b="0">
                <a:solidFill>
                  <a:srgbClr val="D8E7F5"/>
                </a:solidFill>
                <a:latin typeface="DejaVu Sans"/>
                <a:ea typeface="DejaVu Sans"/>
                <a:cs typeface="DejaVu Sans"/>
              </a:rPr>
              <a:t>Coverage analytics show linked patient records.</a:t>
            </a:r>
          </a:p>
          <a:p xmlns:a="http://schemas.openxmlformats.org/drawingml/2006/main">
            <a:pPr>
              <a:defRPr sz="2775" b="0">
                <a:solidFill>
                  <a:srgbClr val="D8E7F5"/>
                </a:solidFill>
                <a:latin typeface="DejaVu Sans"/>
                <a:ea typeface="DejaVu Sans"/>
                <a:cs typeface="DejaVu Sans"/>
              </a:defRPr>
            </a:pPr>
            <a:r>
              <a:rPr sz="2775" b="0">
                <a:solidFill>
                  <a:srgbClr val="D8E7F5"/>
                </a:solidFill>
                <a:latin typeface="DejaVu Sans"/>
                <a:ea typeface="DejaVu Sans"/>
                <a:cs typeface="DejaVu Sans"/>
              </a:rPr>
              <a:t>Visit checks explain which results qualify</a:t>
            </a:r>
          </a:p>
          <a:p xmlns:a="http://schemas.openxmlformats.org/drawingml/2006/main">
            <a:pPr>
              <a:defRPr sz="2775" b="0">
                <a:solidFill>
                  <a:srgbClr val="D8E7F5"/>
                </a:solidFill>
                <a:latin typeface="DejaVu Sans"/>
                <a:ea typeface="DejaVu Sans"/>
                <a:cs typeface="DejaVu Sans"/>
              </a:defRPr>
            </a:pPr>
            <a:r>
              <a:rPr sz="2775" b="0">
                <a:solidFill>
                  <a:srgbClr val="D8E7F5"/>
                </a:solidFill>
                <a:latin typeface="DejaVu Sans"/>
                <a:ea typeface="DejaVu Sans"/>
                <a:cs typeface="DejaVu Sans"/>
              </a:rPr>
              <a:t>before an appointment.</a:t>
            </a:r>
          </a:p>
        </p:txBody>
      </p:sp>
      <p:sp>
        <p:nvSpPr>
          <p:cNvPr id="3" name="">
            <a:extLst xmlns:a="http://schemas.openxmlformats.org/drawingml/2006/main">
              <a:ext uri="{FF2B5EF4-FFF2-40B4-BE49-F238E27FC236}">
                <a16:creationId xmlns:a16="http://schemas.microsoft.com/office/drawing/2014/main" id="{0E9C1A8A-39EF-42B9-8529-8D67E05C3A11}"/>
              </a:ext>
            </a:extLst>
          </p:cNvPr>
          <p:cNvSpPr>
            <a:spLocks xmlns:a="http://schemas.openxmlformats.org/drawingml/2006/main" noGrp="1"/>
          </p:cNvSpPr>
          <p:nvPr/>
        </p:nvSpPr>
        <p:spPr>
          <a:xfrm xmlns:a="http://schemas.openxmlformats.org/drawingml/2006/main">
            <a:off x="762000" y="7515225"/>
            <a:ext cx="87820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a:solidFill>
                  <a:srgbClr val="78D8CF"/>
                </a:solidFill>
                <a:latin typeface="DejaVu Sans"/>
                <a:ea typeface="DejaVu Sans"/>
                <a:cs typeface="DejaVu Sans"/>
              </a:defRPr>
            </a:defPPr>
          </a:lstStyle>
          <a:p xmlns:a="http://schemas.openxmlformats.org/drawingml/2006/main">
            <a:pPr>
              <a:defRPr sz="2625" b="0">
                <a:solidFill>
                  <a:srgbClr val="78D8CF"/>
                </a:solidFill>
                <a:latin typeface="DejaVu Sans"/>
                <a:ea typeface="DejaVu Sans"/>
                <a:cs typeface="DejaVu Sans"/>
              </a:defRPr>
            </a:pPr>
            <a:r>
              <a:rPr sz="2625" b="0">
                <a:solidFill>
                  <a:srgbClr val="78D8CF"/>
                </a:solidFill>
                <a:latin typeface="DejaVu Sans"/>
                <a:ea typeface="DejaVu Sans"/>
                <a:cs typeface="DejaVu Sans"/>
              </a:rPr>
              <a:t>Building similar platforms?</a:t>
            </a:r>
          </a:p>
          <a:p xmlns:a="http://schemas.openxmlformats.org/drawingml/2006/main">
            <a:pPr>
              <a:defRPr sz="2625" b="0">
                <a:solidFill>
                  <a:srgbClr val="78D8CF"/>
                </a:solidFill>
                <a:latin typeface="DejaVu Sans"/>
                <a:ea typeface="DejaVu Sans"/>
                <a:cs typeface="DejaVu Sans"/>
              </a:defRPr>
            </a:pPr>
            <a:r>
              <a:rPr sz="2625" b="0">
                <a:solidFill>
                  <a:srgbClr val="78D8CF"/>
                </a:solidFill>
                <a:latin typeface="DejaVu Sans"/>
                <a:ea typeface="DejaVu Sans"/>
                <a:cs typeface="DejaVu Sans"/>
              </a:rPr>
              <a:t>I’d welcome your perspective, or a conversation</a:t>
            </a:r>
          </a:p>
          <a:p xmlns:a="http://schemas.openxmlformats.org/drawingml/2006/main">
            <a:pPr>
              <a:defRPr sz="2625" b="0">
                <a:solidFill>
                  <a:srgbClr val="78D8CF"/>
                </a:solidFill>
                <a:latin typeface="DejaVu Sans"/>
                <a:ea typeface="DejaVu Sans"/>
                <a:cs typeface="DejaVu Sans"/>
              </a:defRPr>
            </a:pPr>
            <a:r>
              <a:rPr sz="2625" b="0">
                <a:solidFill>
                  <a:srgbClr val="78D8CF"/>
                </a:solidFill>
                <a:latin typeface="DejaVu Sans"/>
                <a:ea typeface="DejaVu Sans"/>
                <a:cs typeface="DejaVu Sans"/>
              </a:rPr>
              <a:t>about where I could contribute.</a:t>
            </a:r>
          </a:p>
        </p:txBody>
      </p:sp>
    </p:spTree>
    <p:extLst>
      <p:ext uri="{BB962C8B-B14F-4D97-AF65-F5344CB8AC3E}">
        <p14:creationId xmlns:p14="http://schemas.microsoft.com/office/powerpoint/2010/main" val="176709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2026-10-11T04:03:22.8720000Z</dcterms:created>
  <dcterms:modified xsi:type="dcterms:W3CDTF">2026-10-11T04:03:22.8720000Z</dcterms:modified>
</coreProperties>
</file>